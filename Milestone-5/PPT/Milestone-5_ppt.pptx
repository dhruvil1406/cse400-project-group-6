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Helvetica World Bold" charset="1" panose="020B0800040000020004"/>
      <p:regular r:id="rId21"/>
    </p:embeddedFont>
    <p:embeddedFont>
      <p:font typeface="Helvetica World" charset="1" panose="020B0500040000020004"/>
      <p:regular r:id="rId22"/>
    </p:embeddedFont>
    <p:embeddedFont>
      <p:font typeface="Helvetica World Italics" charset="1" panose="020B0500040000090004"/>
      <p:regular r:id="rId23"/>
    </p:embeddedFont>
    <p:embeddedFont>
      <p:font typeface="Inter Bold" charset="1" panose="02000503000000020004"/>
      <p:regular r:id="rId24"/>
    </p:embeddedFont>
    <p:embeddedFont>
      <p:font typeface="Canva Sans Bold" charset="1" panose="020B0803030501040103"/>
      <p:regular r:id="rId25"/>
    </p:embeddedFont>
    <p:embeddedFont>
      <p:font typeface="Canva Sans" charset="1" panose="020B0503030501040103"/>
      <p:regular r:id="rId26"/>
    </p:embeddedFont>
    <p:embeddedFont>
      <p:font typeface="Inter Extra-Light" charset="1" panose="02000503000000020004"/>
      <p:regular r:id="rId27"/>
    </p:embeddedFont>
    <p:embeddedFont>
      <p:font typeface="Arimo Bold" charset="1" panose="020B0704020202020204"/>
      <p:regular r:id="rId28"/>
    </p:embeddedFont>
    <p:embeddedFont>
      <p:font typeface="Arimo" charset="1" panose="020B0604020202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8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jpe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12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jpeg" Type="http://schemas.openxmlformats.org/officeDocument/2006/relationships/image"/><Relationship Id="rId8" Target="../media/VAHFUb7B8RA.mp4" Type="http://schemas.openxmlformats.org/officeDocument/2006/relationships/video"/><Relationship Id="rId9" Target="../media/VAHFUb7B8RA.mp4" Type="http://schemas.microsoft.com/office/2007/relationships/media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3.jpeg" Type="http://schemas.openxmlformats.org/officeDocument/2006/relationships/image"/><Relationship Id="rId4" Target="../media/image23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3.jpe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3.jpeg" Type="http://schemas.openxmlformats.org/officeDocument/2006/relationships/image"/><Relationship Id="rId4" Target="https://www.youtube.com/watch?v=OdWLP8umw3Ahttps://medium.com/data-science/monte-carlo-simulation-a-practical-guide-85da45597f0e" TargetMode="External" Type="http://schemas.openxmlformats.org/officeDocument/2006/relationships/hyperlink"/><Relationship Id="rId5" Target="https://www.youtube.com/watch?v=OdWLP8umw3Ahttps://medium.com/data-science/monte-carlo-simulation-a-practical-guide-85da45597f0e" TargetMode="External" Type="http://schemas.openxmlformats.org/officeDocument/2006/relationships/hyperlink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146422" y="1127274"/>
            <a:ext cx="5893203" cy="1999859"/>
            <a:chOff x="0" y="0"/>
            <a:chExt cx="7857604" cy="2666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57617" cy="2666492"/>
            </a:xfrm>
            <a:custGeom>
              <a:avLst/>
              <a:gdLst/>
              <a:ahLst/>
              <a:cxnLst/>
              <a:rect r="r" b="b" t="t" l="l"/>
              <a:pathLst>
                <a:path h="2666492" w="7857617">
                  <a:moveTo>
                    <a:pt x="0" y="0"/>
                  </a:moveTo>
                  <a:lnTo>
                    <a:pt x="7857617" y="0"/>
                  </a:lnTo>
                  <a:lnTo>
                    <a:pt x="7857617" y="2666492"/>
                  </a:lnTo>
                  <a:lnTo>
                    <a:pt x="0" y="2666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8935" t="-264896" r="-89066" b="-26541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6073" y="5143500"/>
            <a:ext cx="15774000" cy="1757488"/>
            <a:chOff x="0" y="0"/>
            <a:chExt cx="21032000" cy="23433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2000" cy="2343317"/>
            </a:xfrm>
            <a:custGeom>
              <a:avLst/>
              <a:gdLst/>
              <a:ahLst/>
              <a:cxnLst/>
              <a:rect r="r" b="b" t="t" l="l"/>
              <a:pathLst>
                <a:path h="2343317" w="21032000">
                  <a:moveTo>
                    <a:pt x="0" y="0"/>
                  </a:moveTo>
                  <a:lnTo>
                    <a:pt x="21032000" y="0"/>
                  </a:lnTo>
                  <a:lnTo>
                    <a:pt x="21032000" y="2343317"/>
                  </a:lnTo>
                  <a:lnTo>
                    <a:pt x="0" y="2343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6404" r="0" b="-11336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76200"/>
              <a:ext cx="21032000" cy="226711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Intelligent Transportation Systems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7876" y="9027832"/>
            <a:ext cx="2821103" cy="957342"/>
            <a:chOff x="0" y="0"/>
            <a:chExt cx="7857604" cy="2666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57617" cy="2666492"/>
            </a:xfrm>
            <a:custGeom>
              <a:avLst/>
              <a:gdLst/>
              <a:ahLst/>
              <a:cxnLst/>
              <a:rect r="r" b="b" t="t" l="l"/>
              <a:pathLst>
                <a:path h="2666492" w="7857617">
                  <a:moveTo>
                    <a:pt x="0" y="0"/>
                  </a:moveTo>
                  <a:lnTo>
                    <a:pt x="7857617" y="0"/>
                  </a:lnTo>
                  <a:lnTo>
                    <a:pt x="7857617" y="2666492"/>
                  </a:lnTo>
                  <a:lnTo>
                    <a:pt x="0" y="2666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8935" t="-264896" r="-89066" b="-26541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7876" y="310161"/>
            <a:ext cx="9850184" cy="1437078"/>
            <a:chOff x="0" y="0"/>
            <a:chExt cx="39750112" cy="57992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750113" cy="5799284"/>
            </a:xfrm>
            <a:custGeom>
              <a:avLst/>
              <a:gdLst/>
              <a:ahLst/>
              <a:cxnLst/>
              <a:rect r="r" b="b" t="t" l="l"/>
              <a:pathLst>
                <a:path h="5799284" w="39750113">
                  <a:moveTo>
                    <a:pt x="0" y="0"/>
                  </a:moveTo>
                  <a:lnTo>
                    <a:pt x="39750113" y="0"/>
                  </a:lnTo>
                  <a:lnTo>
                    <a:pt x="39750113" y="5799284"/>
                  </a:lnTo>
                  <a:lnTo>
                    <a:pt x="0" y="57992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71" r="47091" b="-1985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39750112" cy="574213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Background and Motivation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88597" y="1397087"/>
            <a:ext cx="16470703" cy="786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</a:p>
          <a:p>
            <a:pPr algn="l" marL="774264" indent="-387132" lvl="1">
              <a:lnSpc>
                <a:spcPts val="4590"/>
              </a:lnSpc>
              <a:buFont typeface="Arial"/>
              <a:buChar char="•"/>
            </a:pPr>
            <a:r>
              <a:rPr lang="en-US" b="true" sz="3586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</a:t>
            </a:r>
            <a:r>
              <a:rPr lang="en-US" b="true" sz="3586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ackground </a:t>
            </a:r>
            <a:r>
              <a:rPr lang="en-US" sz="3586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Based on the research paper “A New Formulation of The Shortest Path Problem with On-Time Arrival Reliability”, the project focuses on stochastic routing using the PACE (Path Centric) model.</a:t>
            </a:r>
            <a:r>
              <a:rPr lang="en-US" sz="3586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Unlike traditional edge-based models that assume independent travel times, PACE considers dependencies by assigning travel time distributions to entire paths, improving accuracy and making the model more realistic.</a:t>
            </a:r>
          </a:p>
          <a:p>
            <a:pPr algn="l">
              <a:lnSpc>
                <a:spcPts val="3178"/>
              </a:lnSpc>
            </a:pPr>
          </a:p>
          <a:p>
            <a:pPr algn="l" marL="795186" indent="-397593" lvl="1">
              <a:lnSpc>
                <a:spcPts val="4714"/>
              </a:lnSpc>
              <a:buFont typeface="Arial"/>
              <a:buChar char="•"/>
            </a:pPr>
            <a:r>
              <a:rPr lang="en-US" b="true" sz="3683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</a:t>
            </a:r>
            <a:r>
              <a:rPr lang="en-US" b="true" sz="3683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tivation </a:t>
            </a:r>
            <a:r>
              <a:rPr lang="en-US" sz="3683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The key motivation is to address the unpredictability of real-world traffic caused by congestion, weather, and random delays. Deterministic approaches, such as standard A*, rely on fixed average travel times and often fail</a:t>
            </a:r>
            <a:r>
              <a:rPr lang="en-US" sz="3683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in dynamic conditions, sometimes selecting routes that appear optimal but are prone to delays.</a:t>
            </a:r>
          </a:p>
          <a:p>
            <a:pPr algn="l">
              <a:lnSpc>
                <a:spcPts val="465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2187" y="191388"/>
            <a:ext cx="7240034" cy="1437078"/>
            <a:chOff x="0" y="0"/>
            <a:chExt cx="29216935" cy="57992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16936" cy="5799284"/>
            </a:xfrm>
            <a:custGeom>
              <a:avLst/>
              <a:gdLst/>
              <a:ahLst/>
              <a:cxnLst/>
              <a:rect r="r" b="b" t="t" l="l"/>
              <a:pathLst>
                <a:path h="5799284" w="29216936">
                  <a:moveTo>
                    <a:pt x="0" y="0"/>
                  </a:moveTo>
                  <a:lnTo>
                    <a:pt x="29216936" y="0"/>
                  </a:lnTo>
                  <a:lnTo>
                    <a:pt x="29216936" y="5799284"/>
                  </a:lnTo>
                  <a:lnTo>
                    <a:pt x="0" y="57992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71" r="28017" b="-198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29216935" cy="574213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Base Paper Overview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39" y="9058418"/>
            <a:ext cx="2048723" cy="898484"/>
            <a:chOff x="0" y="0"/>
            <a:chExt cx="2731630" cy="1197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2472848" y="5343442"/>
            <a:ext cx="5204781" cy="3142151"/>
          </a:xfrm>
          <a:custGeom>
            <a:avLst/>
            <a:gdLst/>
            <a:ahLst/>
            <a:cxnLst/>
            <a:rect r="r" b="b" t="t" l="l"/>
            <a:pathLst>
              <a:path h="3142151" w="5204781">
                <a:moveTo>
                  <a:pt x="0" y="0"/>
                </a:moveTo>
                <a:lnTo>
                  <a:pt x="5204781" y="0"/>
                </a:lnTo>
                <a:lnTo>
                  <a:pt x="5204781" y="3142151"/>
                </a:lnTo>
                <a:lnTo>
                  <a:pt x="0" y="31421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2187" y="4502194"/>
            <a:ext cx="11890662" cy="172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400" b="true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■ Key Contributions</a:t>
            </a:r>
          </a:p>
          <a:p>
            <a:pPr algn="l">
              <a:lnSpc>
                <a:spcPts val="2592"/>
              </a:lnSpc>
            </a:pPr>
            <a:r>
              <a:rPr lang="en-US" sz="24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1. First SPOTAR formulation under PACE model</a:t>
            </a:r>
          </a:p>
          <a:p>
            <a:pPr algn="l">
              <a:lnSpc>
                <a:spcPts val="2592"/>
              </a:lnSpc>
            </a:pPr>
            <a:r>
              <a:rPr lang="en-US" sz="24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2. A* -inspired algorithm with heuristic speed-ups</a:t>
            </a:r>
          </a:p>
          <a:p>
            <a:pPr algn="l">
              <a:lnSpc>
                <a:spcPts val="2592"/>
              </a:lnSpc>
            </a:pPr>
            <a:r>
              <a:rPr lang="en-US" sz="24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3. Validated on 37M real GPS trajectories (Aalborg, Denmark)</a:t>
            </a:r>
          </a:p>
          <a:p>
            <a:pPr algn="l">
              <a:lnSpc>
                <a:spcPts val="2592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963039" y="8866593"/>
            <a:ext cx="8324961" cy="836970"/>
          </a:xfrm>
          <a:custGeom>
            <a:avLst/>
            <a:gdLst/>
            <a:ahLst/>
            <a:cxnLst/>
            <a:rect r="r" b="b" t="t" l="l"/>
            <a:pathLst>
              <a:path h="836970" w="8324961">
                <a:moveTo>
                  <a:pt x="0" y="0"/>
                </a:moveTo>
                <a:lnTo>
                  <a:pt x="8324961" y="0"/>
                </a:lnTo>
                <a:lnTo>
                  <a:pt x="8324961" y="836969"/>
                </a:lnTo>
                <a:lnTo>
                  <a:pt x="0" y="836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239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472848" y="909927"/>
            <a:ext cx="5204789" cy="3213958"/>
          </a:xfrm>
          <a:custGeom>
            <a:avLst/>
            <a:gdLst/>
            <a:ahLst/>
            <a:cxnLst/>
            <a:rect r="r" b="b" t="t" l="l"/>
            <a:pathLst>
              <a:path h="3213958" w="5204789">
                <a:moveTo>
                  <a:pt x="0" y="0"/>
                </a:moveTo>
                <a:lnTo>
                  <a:pt x="5204790" y="0"/>
                </a:lnTo>
                <a:lnTo>
                  <a:pt x="5204790" y="3213957"/>
                </a:lnTo>
                <a:lnTo>
                  <a:pt x="0" y="32139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-466894" y="1647516"/>
            <a:ext cx="9031119" cy="636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7"/>
              </a:lnSpc>
              <a:spcBef>
                <a:spcPct val="0"/>
              </a:spcBef>
            </a:pPr>
            <a:r>
              <a:rPr lang="en-US" b="true" sz="2183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CATEGORY: Stochastic Routing / Graph Algorithms </a:t>
            </a:r>
          </a:p>
          <a:p>
            <a:pPr algn="ctr">
              <a:lnSpc>
                <a:spcPts val="2357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82187" y="2322103"/>
            <a:ext cx="11890662" cy="207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400" b="true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■ Main Idea</a:t>
            </a:r>
          </a:p>
          <a:p>
            <a:pPr algn="l">
              <a:lnSpc>
                <a:spcPts val="2592"/>
              </a:lnSpc>
            </a:pPr>
            <a:r>
              <a:rPr lang="en-US" sz="24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Find the path that maximises on-time arrival probability within a given travel time budget.</a:t>
            </a:r>
          </a:p>
          <a:p>
            <a:pPr algn="l">
              <a:lnSpc>
                <a:spcPts val="2592"/>
              </a:lnSpc>
            </a:pPr>
            <a:r>
              <a:rPr lang="en-US" sz="24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Uses the PACE model to assign travel time distributions to both edges AND paths, capturing dependencies.</a:t>
            </a:r>
          </a:p>
          <a:p>
            <a:pPr algn="l">
              <a:lnSpc>
                <a:spcPts val="2592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82187" y="6633804"/>
            <a:ext cx="11628583" cy="140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2364" b="true">
                <a:solidFill>
                  <a:srgbClr val="7D19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■ Why PACE over Edge-Centric</a:t>
            </a:r>
            <a:r>
              <a:rPr lang="en-US" sz="2364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?</a:t>
            </a:r>
          </a:p>
          <a:p>
            <a:pPr algn="l">
              <a:lnSpc>
                <a:spcPts val="2553"/>
              </a:lnSpc>
            </a:pPr>
            <a:r>
              <a:rPr lang="en-US" sz="2364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Assume independent travel times are inaccurate for real roads.</a:t>
            </a:r>
          </a:p>
          <a:p>
            <a:pPr algn="l">
              <a:lnSpc>
                <a:spcPts val="2553"/>
              </a:lnSpc>
            </a:pPr>
            <a:r>
              <a:rPr lang="en-US" sz="2364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PACE captures correlated edge travel times with more accurate distributions.</a:t>
            </a:r>
          </a:p>
          <a:p>
            <a:pPr algn="l">
              <a:lnSpc>
                <a:spcPts val="2553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495245" y="9277350"/>
            <a:ext cx="5508665" cy="267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4"/>
              </a:lnSpc>
              <a:spcBef>
                <a:spcPct val="0"/>
              </a:spcBef>
            </a:pPr>
            <a:r>
              <a:rPr lang="en-US" sz="1800" i="true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Andonov &amp; Yang | Aalborg University | IEEE MDM 2018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04016" y="8977774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82187" y="191388"/>
            <a:ext cx="7240034" cy="1437078"/>
            <a:chOff x="0" y="0"/>
            <a:chExt cx="29216935" cy="57992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216936" cy="5799284"/>
            </a:xfrm>
            <a:custGeom>
              <a:avLst/>
              <a:gdLst/>
              <a:ahLst/>
              <a:cxnLst/>
              <a:rect r="r" b="b" t="t" l="l"/>
              <a:pathLst>
                <a:path h="5799284" w="29216936">
                  <a:moveTo>
                    <a:pt x="0" y="0"/>
                  </a:moveTo>
                  <a:lnTo>
                    <a:pt x="29216936" y="0"/>
                  </a:lnTo>
                  <a:lnTo>
                    <a:pt x="29216936" y="5799284"/>
                  </a:lnTo>
                  <a:lnTo>
                    <a:pt x="0" y="57992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71" r="28017" b="-1985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9216935" cy="574213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Problem Formulation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476668" y="2508576"/>
            <a:ext cx="7452890" cy="3465112"/>
          </a:xfrm>
          <a:custGeom>
            <a:avLst/>
            <a:gdLst/>
            <a:ahLst/>
            <a:cxnLst/>
            <a:rect r="r" b="b" t="t" l="l"/>
            <a:pathLst>
              <a:path h="3465112" w="7452890">
                <a:moveTo>
                  <a:pt x="0" y="0"/>
                </a:moveTo>
                <a:lnTo>
                  <a:pt x="7452890" y="0"/>
                </a:lnTo>
                <a:lnTo>
                  <a:pt x="7452890" y="3465112"/>
                </a:lnTo>
                <a:lnTo>
                  <a:pt x="0" y="34651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39" t="-1224" r="-4154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82187" y="1666566"/>
            <a:ext cx="15756775" cy="1722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30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To maximise the probability of arriving at a destination before the calculated time by selecting routes based on traffic congestion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68391" y="3028423"/>
            <a:ext cx="9764900" cy="246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CC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From base paper:-</a:t>
            </a:r>
          </a:p>
          <a:p>
            <a:pPr algn="l" marL="458149" indent="-229074" lvl="1">
              <a:lnSpc>
                <a:spcPts val="2546"/>
              </a:lnSpc>
              <a:buFont typeface="Arial"/>
              <a:buChar char="•"/>
            </a:pPr>
            <a:r>
              <a:rPr lang="en-US" b="true" sz="2122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Network model G=(V,E)</a:t>
            </a:r>
          </a:p>
          <a:p>
            <a:pPr algn="l">
              <a:lnSpc>
                <a:spcPts val="2546"/>
              </a:lnSpc>
            </a:pPr>
            <a:r>
              <a:rPr lang="en-US" sz="2122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     </a:t>
            </a:r>
            <a:r>
              <a:rPr lang="en-US" sz="2122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 = (V, E): nodes (intersections), edges (roads)</a:t>
            </a:r>
          </a:p>
          <a:p>
            <a:pPr algn="l" marL="458149" indent="-229074" lvl="1">
              <a:lnSpc>
                <a:spcPts val="2546"/>
              </a:lnSpc>
              <a:buFont typeface="Arial"/>
              <a:buChar char="•"/>
            </a:pPr>
            <a:r>
              <a:rPr lang="en-US" b="true" sz="2122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Each edge has a fixed travel time T_e</a:t>
            </a:r>
          </a:p>
          <a:p>
            <a:pPr algn="l" marL="458149" indent="-229074" lvl="1">
              <a:lnSpc>
                <a:spcPts val="2546"/>
              </a:lnSpc>
              <a:buFont typeface="Arial"/>
              <a:buChar char="•"/>
            </a:pPr>
            <a:r>
              <a:rPr lang="en-US" b="true" sz="2122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Objective: select a route from source to destination</a:t>
            </a:r>
          </a:p>
          <a:p>
            <a:pPr algn="l" marL="458149" indent="-229074" lvl="1">
              <a:lnSpc>
                <a:spcPts val="2546"/>
              </a:lnSpc>
              <a:buFont typeface="Arial"/>
              <a:buChar char="•"/>
            </a:pPr>
            <a:r>
              <a:rPr lang="en-US" b="true" sz="2122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Limitation: ignores traffic variability (deterministic model)</a:t>
            </a:r>
          </a:p>
          <a:p>
            <a:pPr algn="ctr">
              <a:lnSpc>
                <a:spcPts val="2546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517617" y="5317737"/>
            <a:ext cx="8626383" cy="137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Assumptions</a:t>
            </a:r>
          </a:p>
          <a:p>
            <a:pPr algn="l" marL="453390" indent="-226695" lvl="1">
              <a:lnSpc>
                <a:spcPts val="2268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Travel time varies due to traffic congestion</a:t>
            </a:r>
          </a:p>
          <a:p>
            <a:pPr algn="l" marL="453390" indent="-226695" lvl="1">
              <a:lnSpc>
                <a:spcPts val="2268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Travel time on each edge is uncertain</a:t>
            </a:r>
          </a:p>
          <a:p>
            <a:pPr algn="l" marL="453390" indent="-226695" lvl="1">
              <a:lnSpc>
                <a:spcPts val="2268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Route travel time is the sum of edge travel times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68391" y="7225469"/>
            <a:ext cx="10512706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Milestone Progression</a:t>
            </a:r>
          </a:p>
          <a:p>
            <a:pPr algn="l" marL="453390" indent="-226695" lvl="1">
              <a:lnSpc>
                <a:spcPts val="2268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M1: Incorporated traffic congestion → travel time depends on traffic</a:t>
            </a:r>
          </a:p>
          <a:p>
            <a:pPr algn="l" marL="453390" indent="-226695" lvl="1">
              <a:lnSpc>
                <a:spcPts val="2268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M2: Modelled travel time T_e​ as a random variable</a:t>
            </a:r>
          </a:p>
          <a:p>
            <a:pPr algn="l" marL="453390" indent="-226695" lvl="1">
              <a:lnSpc>
                <a:spcPts val="2268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M3: Formulated probability of on-time arrival </a:t>
            </a:r>
          </a:p>
          <a:p>
            <a:pPr algn="l" marL="453390" indent="-226695" lvl="1">
              <a:lnSpc>
                <a:spcPts val="2268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M4: Selected route with maximum probability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133292" y="6490986"/>
            <a:ext cx="5295954" cy="2486789"/>
          </a:xfrm>
          <a:custGeom>
            <a:avLst/>
            <a:gdLst/>
            <a:ahLst/>
            <a:cxnLst/>
            <a:rect r="r" b="b" t="t" l="l"/>
            <a:pathLst>
              <a:path h="2486789" w="5295954">
                <a:moveTo>
                  <a:pt x="0" y="0"/>
                </a:moveTo>
                <a:lnTo>
                  <a:pt x="5295953" y="0"/>
                </a:lnTo>
                <a:lnTo>
                  <a:pt x="5295953" y="2486788"/>
                </a:lnTo>
                <a:lnTo>
                  <a:pt x="0" y="2486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227" r="0" b="-14227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82187" y="191388"/>
            <a:ext cx="7240034" cy="1437078"/>
            <a:chOff x="0" y="0"/>
            <a:chExt cx="29216935" cy="57992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216936" cy="5799284"/>
            </a:xfrm>
            <a:custGeom>
              <a:avLst/>
              <a:gdLst/>
              <a:ahLst/>
              <a:cxnLst/>
              <a:rect r="r" b="b" t="t" l="l"/>
              <a:pathLst>
                <a:path h="5799284" w="29216936">
                  <a:moveTo>
                    <a:pt x="0" y="0"/>
                  </a:moveTo>
                  <a:lnTo>
                    <a:pt x="29216936" y="0"/>
                  </a:lnTo>
                  <a:lnTo>
                    <a:pt x="29216936" y="5799284"/>
                  </a:lnTo>
                  <a:lnTo>
                    <a:pt x="0" y="57992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71" r="28017" b="-1985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9216935" cy="574213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Mathematical Model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3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586942" y="7655356"/>
            <a:ext cx="5039992" cy="1981600"/>
          </a:xfrm>
          <a:custGeom>
            <a:avLst/>
            <a:gdLst/>
            <a:ahLst/>
            <a:cxnLst/>
            <a:rect r="r" b="b" t="t" l="l"/>
            <a:pathLst>
              <a:path h="1981600" w="5039992">
                <a:moveTo>
                  <a:pt x="0" y="0"/>
                </a:moveTo>
                <a:lnTo>
                  <a:pt x="5039993" y="0"/>
                </a:lnTo>
                <a:lnTo>
                  <a:pt x="5039993" y="1981601"/>
                </a:lnTo>
                <a:lnTo>
                  <a:pt x="0" y="1981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007" r="0" b="-8007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622976" y="1310437"/>
            <a:ext cx="3515681" cy="2307166"/>
          </a:xfrm>
          <a:custGeom>
            <a:avLst/>
            <a:gdLst/>
            <a:ahLst/>
            <a:cxnLst/>
            <a:rect r="r" b="b" t="t" l="l"/>
            <a:pathLst>
              <a:path h="2307166" w="3515681">
                <a:moveTo>
                  <a:pt x="0" y="0"/>
                </a:moveTo>
                <a:lnTo>
                  <a:pt x="3515682" y="0"/>
                </a:lnTo>
                <a:lnTo>
                  <a:pt x="3515682" y="2307166"/>
                </a:lnTo>
                <a:lnTo>
                  <a:pt x="0" y="23071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449408" y="1310437"/>
            <a:ext cx="3825038" cy="2307166"/>
          </a:xfrm>
          <a:custGeom>
            <a:avLst/>
            <a:gdLst/>
            <a:ahLst/>
            <a:cxnLst/>
            <a:rect r="r" b="b" t="t" l="l"/>
            <a:pathLst>
              <a:path h="2307166" w="3825038">
                <a:moveTo>
                  <a:pt x="0" y="0"/>
                </a:moveTo>
                <a:lnTo>
                  <a:pt x="3825038" y="0"/>
                </a:lnTo>
                <a:lnTo>
                  <a:pt x="3825038" y="2307166"/>
                </a:lnTo>
                <a:lnTo>
                  <a:pt x="0" y="23071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771836" y="3805947"/>
            <a:ext cx="9450393" cy="4051856"/>
          </a:xfrm>
          <a:custGeom>
            <a:avLst/>
            <a:gdLst/>
            <a:ahLst/>
            <a:cxnLst/>
            <a:rect r="r" b="b" t="t" l="l"/>
            <a:pathLst>
              <a:path h="4051856" w="9450393">
                <a:moveTo>
                  <a:pt x="0" y="0"/>
                </a:moveTo>
                <a:lnTo>
                  <a:pt x="9450394" y="0"/>
                </a:lnTo>
                <a:lnTo>
                  <a:pt x="9450394" y="4051856"/>
                </a:lnTo>
                <a:lnTo>
                  <a:pt x="0" y="40518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69184" y="1628466"/>
            <a:ext cx="7453037" cy="3128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876" b="true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Random Variables</a:t>
            </a:r>
          </a:p>
          <a:p>
            <a:pPr algn="l" marL="549449" indent="-274724" lvl="1">
              <a:lnSpc>
                <a:spcPts val="3053"/>
              </a:lnSpc>
              <a:buFont typeface="Arial"/>
              <a:buChar char="•"/>
            </a:pPr>
            <a:r>
              <a:rPr lang="en-US" sz="25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Travel time on each edge is not fixed</a:t>
            </a:r>
          </a:p>
          <a:p>
            <a:pPr algn="l" marL="549449" indent="-274724" lvl="1">
              <a:lnSpc>
                <a:spcPts val="3053"/>
              </a:lnSpc>
              <a:buFont typeface="Arial"/>
              <a:buChar char="•"/>
            </a:pPr>
            <a:r>
              <a:rPr lang="en-US" sz="25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It varies due to traffic congestion</a:t>
            </a:r>
          </a:p>
          <a:p>
            <a:pPr algn="l" marL="549449" indent="-274724" lvl="1">
              <a:lnSpc>
                <a:spcPts val="3053"/>
              </a:lnSpc>
              <a:buFont typeface="Arial"/>
              <a:buChar char="•"/>
            </a:pPr>
            <a:r>
              <a:rPr lang="en-US" sz="25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T_e​: travel time on edge e(random variable)</a:t>
            </a:r>
          </a:p>
          <a:p>
            <a:pPr algn="l" marL="549449" indent="-274724" lvl="1">
              <a:lnSpc>
                <a:spcPts val="3053"/>
              </a:lnSpc>
              <a:buFont typeface="Arial"/>
              <a:buChar char="•"/>
            </a:pPr>
            <a:r>
              <a:rPr lang="en-US" sz="25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Total route travel time:</a:t>
            </a:r>
          </a:p>
          <a:p>
            <a:pPr algn="l" marL="549449" indent="-274724" lvl="1">
              <a:lnSpc>
                <a:spcPts val="3053"/>
              </a:lnSpc>
              <a:buFont typeface="Arial"/>
              <a:buChar char="•"/>
            </a:pPr>
            <a:r>
              <a:rPr lang="en-US" sz="25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T_P=∑T_e where e∈P  </a:t>
            </a:r>
          </a:p>
          <a:p>
            <a:pPr algn="l" marL="549449" indent="-274724" lvl="1">
              <a:lnSpc>
                <a:spcPts val="3053"/>
              </a:lnSpc>
              <a:buFont typeface="Arial"/>
              <a:buChar char="•"/>
            </a:pPr>
            <a:r>
              <a:rPr lang="en-US" sz="25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T_P </a:t>
            </a:r>
            <a:r>
              <a:rPr lang="en-US" sz="25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​: total travel time of route P(random variable)</a:t>
            </a:r>
          </a:p>
          <a:p>
            <a:pPr algn="l">
              <a:lnSpc>
                <a:spcPts val="3053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582187" y="4488553"/>
            <a:ext cx="5343605" cy="2794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8"/>
              </a:lnSpc>
            </a:pPr>
            <a:r>
              <a:rPr lang="en-US" sz="2631" b="true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Uncertainty in Travel Time</a:t>
            </a:r>
          </a:p>
          <a:p>
            <a:pPr algn="ctr" marL="505057" indent="-252529" lvl="1">
              <a:lnSpc>
                <a:spcPts val="2807"/>
              </a:lnSpc>
              <a:buFont typeface="Arial"/>
              <a:buChar char="•"/>
            </a:pPr>
            <a:r>
              <a:rPr lang="en-US" sz="233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Travel time varies due to traffic </a:t>
            </a:r>
          </a:p>
          <a:p>
            <a:pPr algn="ctr" marL="505057" indent="-252529" lvl="1">
              <a:lnSpc>
                <a:spcPts val="2807"/>
              </a:lnSpc>
              <a:buFont typeface="Arial"/>
              <a:buChar char="•"/>
            </a:pPr>
            <a:r>
              <a:rPr lang="en-US" sz="233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random delayss, weather conditions ,</a:t>
            </a:r>
          </a:p>
          <a:p>
            <a:pPr algn="ctr" marL="505057" indent="-252529" lvl="1">
              <a:lnSpc>
                <a:spcPts val="2807"/>
              </a:lnSpc>
              <a:buFont typeface="Arial"/>
              <a:buChar char="•"/>
            </a:pPr>
            <a:r>
              <a:rPr lang="en-US" sz="233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Cannot be modelled as a fixed value</a:t>
            </a:r>
          </a:p>
          <a:p>
            <a:pPr algn="ctr" marL="505057" indent="-252529" lvl="1">
              <a:lnSpc>
                <a:spcPts val="2807"/>
              </a:lnSpc>
              <a:buFont typeface="Arial"/>
              <a:buChar char="•"/>
            </a:pPr>
            <a:r>
              <a:rPr lang="en-US" sz="233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Introduced using random variables:-</a:t>
            </a:r>
          </a:p>
          <a:p>
            <a:pPr algn="ctr">
              <a:lnSpc>
                <a:spcPts val="2807"/>
              </a:lnSpc>
            </a:pPr>
            <a:r>
              <a:rPr lang="en-US" sz="233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T_e: edge travel time</a:t>
            </a:r>
          </a:p>
          <a:p>
            <a:pPr algn="ctr">
              <a:lnSpc>
                <a:spcPts val="2807"/>
              </a:lnSpc>
            </a:pPr>
            <a:r>
              <a:rPr lang="en-US" sz="233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T_p​: route travel time</a:t>
            </a:r>
          </a:p>
          <a:p>
            <a:pPr algn="ctr">
              <a:lnSpc>
                <a:spcPts val="2105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8922952" y="8242496"/>
            <a:ext cx="9036625" cy="134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b="true" sz="2799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PDF → models variability in travel time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CDF → gives probability of arriving within time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4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14030" y="976128"/>
            <a:ext cx="7027545" cy="41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b="true" sz="4825">
                <a:solidFill>
                  <a:srgbClr val="7B0C0F"/>
                </a:solidFill>
                <a:latin typeface="Inter Bold"/>
                <a:ea typeface="Inter Bold"/>
                <a:cs typeface="Inter Bold"/>
                <a:sym typeface="Inter Bold"/>
              </a:rPr>
              <a:t>Deterministic Approach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4030" y="1669220"/>
            <a:ext cx="16445270" cy="778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9" indent="-313054" lvl="1">
              <a:lnSpc>
                <a:spcPts val="3711"/>
              </a:lnSpc>
              <a:buFont typeface="Arial"/>
              <a:buChar char="•"/>
            </a:pPr>
            <a:r>
              <a:rPr lang="en-US" b="true" sz="2899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Route Selection using A* Algorithm </a:t>
            </a:r>
            <a:r>
              <a:rPr lang="en-US" sz="2899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The system uses the A* Algorithm to compute the optimal route (shortest path) across the road network using the cost function f(n)  = g(n)+h(n), where g(n) is the accumulated travel time and h(n) is the estimated remaining travel time.</a:t>
            </a:r>
          </a:p>
          <a:p>
            <a:pPr algn="l">
              <a:lnSpc>
                <a:spcPts val="1664"/>
              </a:lnSpc>
            </a:pPr>
          </a:p>
          <a:p>
            <a:pPr algn="l" marL="626109" indent="-313054" lvl="1">
              <a:lnSpc>
                <a:spcPts val="3711"/>
              </a:lnSpc>
              <a:buFont typeface="Arial"/>
              <a:buChar char="•"/>
            </a:pPr>
            <a:r>
              <a:rPr lang="en-US" b="true" sz="2899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Fixed Travel Time Calculation</a:t>
            </a:r>
            <a:r>
              <a:rPr lang="en-US" sz="2899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: Travel time for each road segment is calculated using a fixed formula (length ÷ speed limit), assuming constant speed and no external variation.</a:t>
            </a:r>
          </a:p>
          <a:p>
            <a:pPr algn="l">
              <a:lnSpc>
                <a:spcPts val="1663"/>
              </a:lnSpc>
            </a:pPr>
          </a:p>
          <a:p>
            <a:pPr algn="l" marL="626109" indent="-313054" lvl="1">
              <a:lnSpc>
                <a:spcPts val="3711"/>
              </a:lnSpc>
              <a:buFont typeface="Arial"/>
              <a:buChar char="•"/>
            </a:pPr>
            <a:r>
              <a:rPr lang="en-US" b="true" sz="2899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</a:t>
            </a:r>
            <a:r>
              <a:rPr lang="en-US" b="true" sz="2899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atic Edge Weights and Route Execution</a:t>
            </a:r>
            <a:r>
              <a:rPr lang="en-US" sz="2899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: Each edge in the road network has a predefined, constant cost, which does not change during the simulation. Also, once the shortest path is computed, the same route is followed throughout the simulation without any updates.</a:t>
            </a:r>
          </a:p>
          <a:p>
            <a:pPr algn="l">
              <a:lnSpc>
                <a:spcPts val="1663"/>
              </a:lnSpc>
            </a:pPr>
          </a:p>
          <a:p>
            <a:pPr algn="l" marL="626109" indent="-313054" lvl="1">
              <a:lnSpc>
                <a:spcPts val="3711"/>
              </a:lnSpc>
              <a:buFont typeface="Arial"/>
              <a:buChar char="•"/>
            </a:pPr>
            <a:r>
              <a:rPr lang="en-US" b="true" sz="2899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</a:t>
            </a:r>
            <a:r>
              <a:rPr lang="en-US" b="true" sz="2899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Variability Consideration</a:t>
            </a:r>
            <a:r>
              <a:rPr lang="en-US" sz="2899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: The model assumes all travel conditions are fixed and does not incorporate any uncertainty such as traffic congestion or delays. </a:t>
            </a:r>
          </a:p>
          <a:p>
            <a:pPr algn="l">
              <a:lnSpc>
                <a:spcPts val="1663"/>
              </a:lnSpc>
            </a:pPr>
          </a:p>
          <a:p>
            <a:pPr algn="l" marL="626109" indent="-313054" lvl="1">
              <a:lnSpc>
                <a:spcPts val="3711"/>
              </a:lnSpc>
              <a:buFont typeface="Arial"/>
              <a:buChar char="•"/>
            </a:pPr>
            <a:r>
              <a:rPr lang="en-US" b="true" sz="2899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Deterministic Output </a:t>
            </a:r>
            <a:r>
              <a:rPr lang="en-US" sz="2899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The system produces a single estimated travel time for the route, rather than a range of possible outcomes.</a:t>
            </a:r>
          </a:p>
          <a:p>
            <a:pPr algn="l">
              <a:lnSpc>
                <a:spcPts val="1663"/>
              </a:lnSpc>
            </a:pPr>
          </a:p>
          <a:p>
            <a:pPr algn="l" marL="604519" indent="-302260" lvl="1">
              <a:lnSpc>
                <a:spcPts val="3583"/>
              </a:lnSpc>
              <a:buFont typeface="Arial"/>
              <a:buChar char="•"/>
            </a:pPr>
            <a:r>
              <a:rPr lang="en-US" b="true" sz="2799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Objective </a:t>
            </a:r>
            <a:r>
              <a:rPr lang="en-US" sz="2799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To minimize total travel time based on fixed inputs, focusing on shortest path computation</a:t>
            </a:r>
          </a:p>
          <a:p>
            <a:pPr algn="l">
              <a:lnSpc>
                <a:spcPts val="364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4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14030" y="976128"/>
            <a:ext cx="6888480" cy="41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b="true" sz="4825">
                <a:solidFill>
                  <a:srgbClr val="7B0C0F"/>
                </a:solidFill>
                <a:latin typeface="Inter Bold"/>
                <a:ea typeface="Inter Bold"/>
                <a:cs typeface="Inter Bold"/>
                <a:sym typeface="Inter Bold"/>
              </a:rPr>
              <a:t>Randomized Approach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5862" y="1698049"/>
            <a:ext cx="16756275" cy="7809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9" indent="-313054" lvl="1">
              <a:lnSpc>
                <a:spcPts val="3711"/>
              </a:lnSpc>
              <a:buFont typeface="Arial"/>
              <a:buChar char="•"/>
            </a:pPr>
            <a:r>
              <a:rPr lang="en-US" b="true" sz="2899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Hybrid Approach (A* + Monte Carlo) : </a:t>
            </a:r>
            <a:r>
              <a:rPr lang="en-US" sz="2899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system uses hybrid approach (A* + Monte Carlo Simulation) to compute fixed route using the A* Algorithm, and then evaluate this route using Monte Carlo Simulation to account for uncertainty through repeated simulations.</a:t>
            </a:r>
          </a:p>
          <a:p>
            <a:pPr algn="l">
              <a:lnSpc>
                <a:spcPts val="1664"/>
              </a:lnSpc>
            </a:pPr>
          </a:p>
          <a:p>
            <a:pPr algn="l" marL="626109" indent="-313054" lvl="1">
              <a:lnSpc>
                <a:spcPts val="3711"/>
              </a:lnSpc>
              <a:buFont typeface="Arial"/>
              <a:buChar char="•"/>
            </a:pPr>
            <a:r>
              <a:rPr lang="en-US" b="true" sz="2899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Stochast</a:t>
            </a:r>
            <a:r>
              <a:rPr lang="en-US" b="true" sz="2899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ic Travel Time Modeling :</a:t>
            </a:r>
            <a:r>
              <a:rPr lang="en-US" sz="2899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Each road segment travel time is modeled as random variable (lognormal distribution), capturing variability and ensuring non-negative and realistic travel times. </a:t>
            </a:r>
          </a:p>
          <a:p>
            <a:pPr algn="l">
              <a:lnSpc>
                <a:spcPts val="1663"/>
              </a:lnSpc>
            </a:pPr>
          </a:p>
          <a:p>
            <a:pPr algn="l" marL="626109" indent="-313054" lvl="1">
              <a:lnSpc>
                <a:spcPts val="3711"/>
              </a:lnSpc>
              <a:buFont typeface="Arial"/>
              <a:buChar char="•"/>
            </a:pPr>
            <a:r>
              <a:rPr lang="en-US" b="true" sz="2899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</a:t>
            </a:r>
            <a:r>
              <a:rPr lang="en-US" b="true" sz="2899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andomized Deadline :</a:t>
            </a:r>
            <a:r>
              <a:rPr lang="en-US" sz="2899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Instead of a fixed constraint, the deadline is treated as random variable (normal distribution), allowing the system to reflect variability in external conditions.</a:t>
            </a:r>
          </a:p>
          <a:p>
            <a:pPr algn="l">
              <a:lnSpc>
                <a:spcPts val="1663"/>
              </a:lnSpc>
            </a:pPr>
          </a:p>
          <a:p>
            <a:pPr algn="l" marL="626109" indent="-313054" lvl="1">
              <a:lnSpc>
                <a:spcPts val="3711"/>
              </a:lnSpc>
              <a:buFont typeface="Arial"/>
              <a:buChar char="•"/>
            </a:pPr>
            <a:r>
              <a:rPr lang="en-US" b="true" sz="2899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</a:t>
            </a:r>
            <a:r>
              <a:rPr lang="en-US" b="true" sz="2899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onte</a:t>
            </a:r>
            <a:r>
              <a:rPr lang="en-US" b="true" sz="2899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Carlo Sampling Process :</a:t>
            </a:r>
            <a:r>
              <a:rPr lang="en-US" sz="2899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It involves multiple simulation runs where travel times for all segments are randomly sampled and aggregated to compute total route travel time</a:t>
            </a:r>
          </a:p>
          <a:p>
            <a:pPr algn="l">
              <a:lnSpc>
                <a:spcPts val="1663"/>
              </a:lnSpc>
            </a:pPr>
          </a:p>
          <a:p>
            <a:pPr algn="l" marL="626109" indent="-313054" lvl="1">
              <a:lnSpc>
                <a:spcPts val="3711"/>
              </a:lnSpc>
              <a:buFont typeface="Arial"/>
              <a:buChar char="•"/>
            </a:pPr>
            <a:r>
              <a:rPr lang="en-US" b="true" sz="2899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Distribution-Based Output :</a:t>
            </a:r>
            <a:r>
              <a:rPr lang="en-US" sz="2899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Instead of a single value, the system outputs statistical measures such as mean travel time, variance, confidence intervals, and probability of meeting the deadline.</a:t>
            </a:r>
          </a:p>
          <a:p>
            <a:pPr algn="l">
              <a:lnSpc>
                <a:spcPts val="1663"/>
              </a:lnSpc>
            </a:pPr>
          </a:p>
          <a:p>
            <a:pPr algn="l" marL="626109" indent="-313054" lvl="1">
              <a:lnSpc>
                <a:spcPts val="3711"/>
              </a:lnSpc>
              <a:buFont typeface="Arial"/>
              <a:buChar char="•"/>
            </a:pPr>
            <a:r>
              <a:rPr lang="en-US" b="true" sz="2899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Objective </a:t>
            </a:r>
            <a:r>
              <a:rPr lang="en-US" sz="2899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The objective shifts from minimizing travel time to maximizing the probability of successfully reaching the destination within the deadline under uncertainty.</a:t>
            </a:r>
          </a:p>
          <a:p>
            <a:pPr algn="l">
              <a:lnSpc>
                <a:spcPts val="3711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4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14030" y="976128"/>
            <a:ext cx="6888480" cy="41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b="true" sz="4825">
                <a:solidFill>
                  <a:srgbClr val="7B0C0F"/>
                </a:solidFill>
                <a:latin typeface="Inter Bold"/>
                <a:ea typeface="Inter Bold"/>
                <a:cs typeface="Inter Bold"/>
                <a:sym typeface="Inter Bold"/>
              </a:rPr>
              <a:t>Randomized Approach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2932" y="1779854"/>
            <a:ext cx="16397768" cy="732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3304" indent="-326652" lvl="1">
              <a:lnSpc>
                <a:spcPts val="3873"/>
              </a:lnSpc>
              <a:buFont typeface="Arial"/>
              <a:buChar char="•"/>
            </a:pPr>
            <a:r>
              <a:rPr lang="en-US" b="true" sz="3025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Reason for implementing Randomized Approach</a:t>
            </a:r>
            <a:r>
              <a:rPr lang="en-US" sz="3025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: Real-world traffic is not easily predictable, and deterministic approaches based on fixed average travel times fail to capture this variability. To address this, the system uses a hybrid approach (A* + Monte Carlo), where A* computes a fixed route and Monte Carlo simulation evaluates it. In the PACE-based model, uncertainty is incorporated through correlated edge travel times, capturing dependencies between adjacent road segments via a covariance structure</a:t>
            </a:r>
          </a:p>
          <a:p>
            <a:pPr algn="l">
              <a:lnSpc>
                <a:spcPts val="3480"/>
              </a:lnSpc>
            </a:pPr>
          </a:p>
          <a:p>
            <a:pPr algn="l" marL="653304" indent="-326652" lvl="1">
              <a:lnSpc>
                <a:spcPts val="3873"/>
              </a:lnSpc>
              <a:buFont typeface="Arial"/>
              <a:buChar char="•"/>
            </a:pPr>
            <a:r>
              <a:rPr lang="en-US" b="true" sz="3025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Randomized Approach vs Deterministic Approach</a:t>
            </a:r>
            <a:r>
              <a:rPr lang="en-US" sz="3025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: The deterministic model uses fixed edge travel times and ignores variability. The randomized approach models each segment as a random variable (lognormal distribution) and treats the deadline as a random variable (normal distribution). Through Monte Carlo sampling, it simulates multiple scenarios by aggregating sampled travel times, producing a distribution of outcomes. This enables calculation of mean, variance, confidence intervals, and probability of meeting the deadline, resulting in more reliable, risk-aware routing decisions.</a:t>
            </a:r>
          </a:p>
          <a:p>
            <a:pPr algn="l">
              <a:lnSpc>
                <a:spcPts val="3873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073454"/>
            <a:ext cx="18288000" cy="1213546"/>
          </a:xfrm>
          <a:custGeom>
            <a:avLst/>
            <a:gdLst/>
            <a:ahLst/>
            <a:cxnLst/>
            <a:rect r="r" b="b" t="t" l="l"/>
            <a:pathLst>
              <a:path h="1213546" w="18288000">
                <a:moveTo>
                  <a:pt x="0" y="0"/>
                </a:moveTo>
                <a:lnTo>
                  <a:pt x="18288000" y="0"/>
                </a:lnTo>
                <a:lnTo>
                  <a:pt x="18288000" y="1213546"/>
                </a:lnTo>
                <a:lnTo>
                  <a:pt x="0" y="1213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288" r="0" b="-596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7355" y="1234560"/>
            <a:ext cx="5440097" cy="3867382"/>
          </a:xfrm>
          <a:custGeom>
            <a:avLst/>
            <a:gdLst/>
            <a:ahLst/>
            <a:cxnLst/>
            <a:rect r="r" b="b" t="t" l="l"/>
            <a:pathLst>
              <a:path h="3867382" w="5440097">
                <a:moveTo>
                  <a:pt x="0" y="0"/>
                </a:moveTo>
                <a:lnTo>
                  <a:pt x="5440097" y="0"/>
                </a:lnTo>
                <a:lnTo>
                  <a:pt x="5440097" y="3867382"/>
                </a:lnTo>
                <a:lnTo>
                  <a:pt x="0" y="38673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231" r="-8362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7355" y="5278042"/>
            <a:ext cx="5440097" cy="3746300"/>
          </a:xfrm>
          <a:custGeom>
            <a:avLst/>
            <a:gdLst/>
            <a:ahLst/>
            <a:cxnLst/>
            <a:rect r="r" b="b" t="t" l="l"/>
            <a:pathLst>
              <a:path h="3746300" w="5440097">
                <a:moveTo>
                  <a:pt x="0" y="0"/>
                </a:moveTo>
                <a:lnTo>
                  <a:pt x="5440097" y="0"/>
                </a:lnTo>
                <a:lnTo>
                  <a:pt x="5440097" y="3746300"/>
                </a:lnTo>
                <a:lnTo>
                  <a:pt x="0" y="3746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5446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733372" y="4639944"/>
            <a:ext cx="4576030" cy="3927441"/>
          </a:xfrm>
          <a:custGeom>
            <a:avLst/>
            <a:gdLst/>
            <a:ahLst/>
            <a:cxnLst/>
            <a:rect r="r" b="b" t="t" l="l"/>
            <a:pathLst>
              <a:path h="3927441" w="4576030">
                <a:moveTo>
                  <a:pt x="0" y="0"/>
                </a:moveTo>
                <a:lnTo>
                  <a:pt x="4576030" y="0"/>
                </a:lnTo>
                <a:lnTo>
                  <a:pt x="4576030" y="3927441"/>
                </a:lnTo>
                <a:lnTo>
                  <a:pt x="0" y="3927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71" t="0" r="-637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56903" y="1395184"/>
            <a:ext cx="4094614" cy="3217692"/>
          </a:xfrm>
          <a:custGeom>
            <a:avLst/>
            <a:gdLst/>
            <a:ahLst/>
            <a:cxnLst/>
            <a:rect r="r" b="b" t="t" l="l"/>
            <a:pathLst>
              <a:path h="3217692" w="4094614">
                <a:moveTo>
                  <a:pt x="0" y="0"/>
                </a:moveTo>
                <a:lnTo>
                  <a:pt x="4094614" y="0"/>
                </a:lnTo>
                <a:lnTo>
                  <a:pt x="4094614" y="3217692"/>
                </a:lnTo>
                <a:lnTo>
                  <a:pt x="0" y="32176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37" r="-29529" b="-337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0800000">
            <a:off x="12500217" y="2814967"/>
            <a:ext cx="1117645" cy="600075"/>
            <a:chOff x="0" y="0"/>
            <a:chExt cx="787337" cy="4227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7337" cy="422730"/>
            </a:xfrm>
            <a:custGeom>
              <a:avLst/>
              <a:gdLst/>
              <a:ahLst/>
              <a:cxnLst/>
              <a:rect r="r" b="b" t="t" l="l"/>
              <a:pathLst>
                <a:path h="422730" w="787337">
                  <a:moveTo>
                    <a:pt x="239386" y="165700"/>
                  </a:moveTo>
                  <a:lnTo>
                    <a:pt x="787337" y="165700"/>
                  </a:lnTo>
                  <a:lnTo>
                    <a:pt x="787337" y="257011"/>
                  </a:lnTo>
                  <a:lnTo>
                    <a:pt x="239373" y="257011"/>
                  </a:lnTo>
                  <a:lnTo>
                    <a:pt x="302255" y="422730"/>
                  </a:lnTo>
                  <a:lnTo>
                    <a:pt x="0" y="211365"/>
                  </a:lnTo>
                  <a:lnTo>
                    <a:pt x="302255" y="0"/>
                  </a:lnTo>
                  <a:lnTo>
                    <a:pt x="239386" y="1657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0650" y="98425"/>
              <a:ext cx="666687" cy="159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500217" y="6804860"/>
            <a:ext cx="1117645" cy="600075"/>
            <a:chOff x="0" y="0"/>
            <a:chExt cx="787337" cy="4227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7337" cy="422730"/>
            </a:xfrm>
            <a:custGeom>
              <a:avLst/>
              <a:gdLst/>
              <a:ahLst/>
              <a:cxnLst/>
              <a:rect r="r" b="b" t="t" l="l"/>
              <a:pathLst>
                <a:path h="422730" w="787337">
                  <a:moveTo>
                    <a:pt x="239386" y="165700"/>
                  </a:moveTo>
                  <a:lnTo>
                    <a:pt x="787337" y="165700"/>
                  </a:lnTo>
                  <a:lnTo>
                    <a:pt x="787337" y="257011"/>
                  </a:lnTo>
                  <a:lnTo>
                    <a:pt x="239373" y="257011"/>
                  </a:lnTo>
                  <a:lnTo>
                    <a:pt x="302255" y="422730"/>
                  </a:lnTo>
                  <a:lnTo>
                    <a:pt x="0" y="211365"/>
                  </a:lnTo>
                  <a:lnTo>
                    <a:pt x="302255" y="0"/>
                  </a:lnTo>
                  <a:lnTo>
                    <a:pt x="239386" y="1657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0650" y="98425"/>
              <a:ext cx="666687" cy="159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343559" y="9271658"/>
            <a:ext cx="3090818" cy="817139"/>
            <a:chOff x="0" y="0"/>
            <a:chExt cx="812800" cy="21488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214885"/>
            </a:xfrm>
            <a:custGeom>
              <a:avLst/>
              <a:gdLst/>
              <a:ahLst/>
              <a:cxnLst/>
              <a:rect r="r" b="b" t="t" l="l"/>
              <a:pathLst>
                <a:path h="21488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14885"/>
                  </a:lnTo>
                  <a:lnTo>
                    <a:pt x="0" y="214885"/>
                  </a:lnTo>
                  <a:close/>
                </a:path>
              </a:pathLst>
            </a:custGeom>
            <a:solidFill>
              <a:srgbClr val="F2F1E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812800" cy="281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280669" y="2248434"/>
            <a:ext cx="344783" cy="407471"/>
          </a:xfrm>
          <a:custGeom>
            <a:avLst/>
            <a:gdLst/>
            <a:ahLst/>
            <a:cxnLst/>
            <a:rect r="r" b="b" t="t" l="l"/>
            <a:pathLst>
              <a:path h="407471" w="344783">
                <a:moveTo>
                  <a:pt x="0" y="0"/>
                </a:moveTo>
                <a:lnTo>
                  <a:pt x="344783" y="0"/>
                </a:lnTo>
                <a:lnTo>
                  <a:pt x="344783" y="407472"/>
                </a:lnTo>
                <a:lnTo>
                  <a:pt x="0" y="4074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280669" y="1848151"/>
            <a:ext cx="3321811" cy="216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0"/>
              </a:lnSpc>
            </a:pPr>
            <a:r>
              <a:rPr lang="en-US" sz="240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A* Routing Algorithm</a:t>
            </a:r>
          </a:p>
          <a:p>
            <a:pPr algn="l">
              <a:lnSpc>
                <a:spcPts val="2865"/>
              </a:lnSpc>
            </a:pPr>
            <a:r>
              <a:rPr lang="en-US" sz="20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Priority based search </a:t>
            </a:r>
          </a:p>
          <a:p>
            <a:pPr algn="l">
              <a:lnSpc>
                <a:spcPts val="2865"/>
              </a:lnSpc>
            </a:pPr>
            <a:r>
              <a:rPr lang="en-US" sz="20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Cost = Distance/ speed</a:t>
            </a:r>
          </a:p>
          <a:p>
            <a:pPr algn="l">
              <a:lnSpc>
                <a:spcPts val="2865"/>
              </a:lnSpc>
            </a:pPr>
            <a:r>
              <a:rPr lang="en-US" sz="20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Heuristic-guided</a:t>
            </a:r>
          </a:p>
          <a:p>
            <a:pPr algn="l">
              <a:lnSpc>
                <a:spcPts val="2865"/>
              </a:lnSpc>
            </a:pPr>
            <a:r>
              <a:rPr lang="en-US" sz="20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Optimal path</a:t>
            </a:r>
          </a:p>
          <a:p>
            <a:pPr algn="l">
              <a:lnSpc>
                <a:spcPts val="2865"/>
              </a:lnSpc>
            </a:pPr>
            <a:r>
              <a:rPr lang="en-US" sz="20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Deterministic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956903" y="5815009"/>
            <a:ext cx="3881817" cy="2538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0"/>
              </a:lnSpc>
            </a:pPr>
            <a:r>
              <a:rPr lang="en-US" sz="240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Monte Carlo Algorithm</a:t>
            </a:r>
          </a:p>
          <a:p>
            <a:pPr algn="l">
              <a:lnSpc>
                <a:spcPts val="2865"/>
              </a:lnSpc>
            </a:pPr>
            <a:r>
              <a:rPr lang="en-US" sz="20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Lognormal Sampling</a:t>
            </a:r>
          </a:p>
          <a:p>
            <a:pPr algn="l">
              <a:lnSpc>
                <a:spcPts val="2865"/>
              </a:lnSpc>
            </a:pPr>
            <a:r>
              <a:rPr lang="en-US" sz="20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0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Traffic Variability modelling</a:t>
            </a:r>
          </a:p>
          <a:p>
            <a:pPr algn="l">
              <a:lnSpc>
                <a:spcPts val="2865"/>
              </a:lnSpc>
            </a:pPr>
            <a:r>
              <a:rPr lang="en-US" sz="20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0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Repeated simulations</a:t>
            </a:r>
          </a:p>
          <a:p>
            <a:pPr algn="l">
              <a:lnSpc>
                <a:spcPts val="2865"/>
              </a:lnSpc>
            </a:pPr>
            <a:r>
              <a:rPr lang="en-US" sz="20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0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Aggregate T_route</a:t>
            </a:r>
          </a:p>
          <a:p>
            <a:pPr algn="l">
              <a:lnSpc>
                <a:spcPts val="2865"/>
              </a:lnSpc>
            </a:pPr>
            <a:r>
              <a:rPr lang="en-US" sz="20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0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Compare with T_d</a:t>
            </a:r>
          </a:p>
          <a:p>
            <a:pPr algn="l">
              <a:lnSpc>
                <a:spcPts val="2865"/>
              </a:lnSpc>
            </a:pPr>
            <a:r>
              <a:rPr lang="en-US" sz="20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0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Reliability estimation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280669" y="2611231"/>
            <a:ext cx="344783" cy="407471"/>
          </a:xfrm>
          <a:custGeom>
            <a:avLst/>
            <a:gdLst/>
            <a:ahLst/>
            <a:cxnLst/>
            <a:rect r="r" b="b" t="t" l="l"/>
            <a:pathLst>
              <a:path h="407471" w="344783">
                <a:moveTo>
                  <a:pt x="0" y="0"/>
                </a:moveTo>
                <a:lnTo>
                  <a:pt x="344783" y="0"/>
                </a:lnTo>
                <a:lnTo>
                  <a:pt x="344783" y="407471"/>
                </a:lnTo>
                <a:lnTo>
                  <a:pt x="0" y="4074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280669" y="2951929"/>
            <a:ext cx="344783" cy="407471"/>
          </a:xfrm>
          <a:custGeom>
            <a:avLst/>
            <a:gdLst/>
            <a:ahLst/>
            <a:cxnLst/>
            <a:rect r="r" b="b" t="t" l="l"/>
            <a:pathLst>
              <a:path h="407471" w="344783">
                <a:moveTo>
                  <a:pt x="0" y="0"/>
                </a:moveTo>
                <a:lnTo>
                  <a:pt x="344783" y="0"/>
                </a:lnTo>
                <a:lnTo>
                  <a:pt x="344783" y="407471"/>
                </a:lnTo>
                <a:lnTo>
                  <a:pt x="0" y="4074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280669" y="3318740"/>
            <a:ext cx="344783" cy="407471"/>
          </a:xfrm>
          <a:custGeom>
            <a:avLst/>
            <a:gdLst/>
            <a:ahLst/>
            <a:cxnLst/>
            <a:rect r="r" b="b" t="t" l="l"/>
            <a:pathLst>
              <a:path h="407471" w="344783">
                <a:moveTo>
                  <a:pt x="0" y="0"/>
                </a:moveTo>
                <a:lnTo>
                  <a:pt x="344783" y="0"/>
                </a:lnTo>
                <a:lnTo>
                  <a:pt x="344783" y="407472"/>
                </a:lnTo>
                <a:lnTo>
                  <a:pt x="0" y="4074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280669" y="3658372"/>
            <a:ext cx="344783" cy="407471"/>
          </a:xfrm>
          <a:custGeom>
            <a:avLst/>
            <a:gdLst/>
            <a:ahLst/>
            <a:cxnLst/>
            <a:rect r="r" b="b" t="t" l="l"/>
            <a:pathLst>
              <a:path h="407471" w="344783">
                <a:moveTo>
                  <a:pt x="0" y="0"/>
                </a:moveTo>
                <a:lnTo>
                  <a:pt x="344783" y="0"/>
                </a:lnTo>
                <a:lnTo>
                  <a:pt x="344783" y="407471"/>
                </a:lnTo>
                <a:lnTo>
                  <a:pt x="0" y="4074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956903" y="6196193"/>
            <a:ext cx="344783" cy="407471"/>
          </a:xfrm>
          <a:custGeom>
            <a:avLst/>
            <a:gdLst/>
            <a:ahLst/>
            <a:cxnLst/>
            <a:rect r="r" b="b" t="t" l="l"/>
            <a:pathLst>
              <a:path h="407471" w="344783">
                <a:moveTo>
                  <a:pt x="0" y="0"/>
                </a:moveTo>
                <a:lnTo>
                  <a:pt x="344784" y="0"/>
                </a:lnTo>
                <a:lnTo>
                  <a:pt x="344784" y="407472"/>
                </a:lnTo>
                <a:lnTo>
                  <a:pt x="0" y="4074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956903" y="6558990"/>
            <a:ext cx="344783" cy="407471"/>
          </a:xfrm>
          <a:custGeom>
            <a:avLst/>
            <a:gdLst/>
            <a:ahLst/>
            <a:cxnLst/>
            <a:rect r="r" b="b" t="t" l="l"/>
            <a:pathLst>
              <a:path h="407471" w="344783">
                <a:moveTo>
                  <a:pt x="0" y="0"/>
                </a:moveTo>
                <a:lnTo>
                  <a:pt x="344784" y="0"/>
                </a:lnTo>
                <a:lnTo>
                  <a:pt x="344784" y="407472"/>
                </a:lnTo>
                <a:lnTo>
                  <a:pt x="0" y="4074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956903" y="6899688"/>
            <a:ext cx="344783" cy="407471"/>
          </a:xfrm>
          <a:custGeom>
            <a:avLst/>
            <a:gdLst/>
            <a:ahLst/>
            <a:cxnLst/>
            <a:rect r="r" b="b" t="t" l="l"/>
            <a:pathLst>
              <a:path h="407471" w="344783">
                <a:moveTo>
                  <a:pt x="0" y="0"/>
                </a:moveTo>
                <a:lnTo>
                  <a:pt x="344784" y="0"/>
                </a:lnTo>
                <a:lnTo>
                  <a:pt x="344784" y="407472"/>
                </a:lnTo>
                <a:lnTo>
                  <a:pt x="0" y="4074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956903" y="7266499"/>
            <a:ext cx="344783" cy="407471"/>
          </a:xfrm>
          <a:custGeom>
            <a:avLst/>
            <a:gdLst/>
            <a:ahLst/>
            <a:cxnLst/>
            <a:rect r="r" b="b" t="t" l="l"/>
            <a:pathLst>
              <a:path h="407471" w="344783">
                <a:moveTo>
                  <a:pt x="0" y="0"/>
                </a:moveTo>
                <a:lnTo>
                  <a:pt x="344784" y="0"/>
                </a:lnTo>
                <a:lnTo>
                  <a:pt x="344784" y="407472"/>
                </a:lnTo>
                <a:lnTo>
                  <a:pt x="0" y="4074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956903" y="7606131"/>
            <a:ext cx="344783" cy="407471"/>
          </a:xfrm>
          <a:custGeom>
            <a:avLst/>
            <a:gdLst/>
            <a:ahLst/>
            <a:cxnLst/>
            <a:rect r="r" b="b" t="t" l="l"/>
            <a:pathLst>
              <a:path h="407471" w="344783">
                <a:moveTo>
                  <a:pt x="0" y="0"/>
                </a:moveTo>
                <a:lnTo>
                  <a:pt x="344784" y="0"/>
                </a:lnTo>
                <a:lnTo>
                  <a:pt x="344784" y="407471"/>
                </a:lnTo>
                <a:lnTo>
                  <a:pt x="0" y="4074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956903" y="7978771"/>
            <a:ext cx="386656" cy="456957"/>
          </a:xfrm>
          <a:custGeom>
            <a:avLst/>
            <a:gdLst/>
            <a:ahLst/>
            <a:cxnLst/>
            <a:rect r="r" b="b" t="t" l="l"/>
            <a:pathLst>
              <a:path h="456957" w="386656">
                <a:moveTo>
                  <a:pt x="0" y="0"/>
                </a:moveTo>
                <a:lnTo>
                  <a:pt x="386656" y="0"/>
                </a:lnTo>
                <a:lnTo>
                  <a:pt x="386656" y="456956"/>
                </a:lnTo>
                <a:lnTo>
                  <a:pt x="0" y="4569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6356416" y="9579416"/>
            <a:ext cx="826684" cy="566139"/>
            <a:chOff x="0" y="0"/>
            <a:chExt cx="1102246" cy="7548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5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407331" y="654467"/>
            <a:ext cx="9461421" cy="41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b="true" sz="4825">
                <a:solidFill>
                  <a:srgbClr val="7B0C0F"/>
                </a:solidFill>
                <a:latin typeface="Inter Bold"/>
                <a:ea typeface="Inter Bold"/>
                <a:cs typeface="Inter Bold"/>
                <a:sym typeface="Inter Bold"/>
              </a:rPr>
              <a:t>Coding &amp; Simulation Framework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35289" y="1920468"/>
            <a:ext cx="60990" cy="455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4"/>
              </a:lnSpc>
            </a:pPr>
            <a:r>
              <a:rPr lang="en-US" sz="1673">
                <a:solidFill>
                  <a:srgbClr val="000000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0185" y="-68281"/>
            <a:ext cx="18596339" cy="10565171"/>
          </a:xfrm>
          <a:custGeom>
            <a:avLst/>
            <a:gdLst/>
            <a:ahLst/>
            <a:cxnLst/>
            <a:rect r="r" b="b" t="t" l="l"/>
            <a:pathLst>
              <a:path h="10565171" w="18596339">
                <a:moveTo>
                  <a:pt x="0" y="0"/>
                </a:moveTo>
                <a:lnTo>
                  <a:pt x="18596339" y="0"/>
                </a:lnTo>
                <a:lnTo>
                  <a:pt x="18596339" y="10565171"/>
                </a:lnTo>
                <a:lnTo>
                  <a:pt x="0" y="10565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078673"/>
            <a:ext cx="18288000" cy="1208327"/>
          </a:xfrm>
          <a:custGeom>
            <a:avLst/>
            <a:gdLst/>
            <a:ahLst/>
            <a:cxnLst/>
            <a:rect r="r" b="b" t="t" l="l"/>
            <a:pathLst>
              <a:path h="1208327" w="18288000">
                <a:moveTo>
                  <a:pt x="0" y="0"/>
                </a:moveTo>
                <a:lnTo>
                  <a:pt x="18288000" y="0"/>
                </a:lnTo>
                <a:lnTo>
                  <a:pt x="18288000" y="1208327"/>
                </a:lnTo>
                <a:lnTo>
                  <a:pt x="0" y="12083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069" r="-1028" b="-6788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30803" y="2325161"/>
            <a:ext cx="17511586" cy="6862735"/>
            <a:chOff x="0" y="0"/>
            <a:chExt cx="4624955" cy="18125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24955" cy="1812505"/>
            </a:xfrm>
            <a:custGeom>
              <a:avLst/>
              <a:gdLst/>
              <a:ahLst/>
              <a:cxnLst/>
              <a:rect r="r" b="b" t="t" l="l"/>
              <a:pathLst>
                <a:path h="1812505" w="4624955">
                  <a:moveTo>
                    <a:pt x="0" y="0"/>
                  </a:moveTo>
                  <a:lnTo>
                    <a:pt x="4624955" y="0"/>
                  </a:lnTo>
                  <a:lnTo>
                    <a:pt x="4624955" y="1812505"/>
                  </a:lnTo>
                  <a:lnTo>
                    <a:pt x="0" y="1812505"/>
                  </a:lnTo>
                  <a:close/>
                </a:path>
              </a:pathLst>
            </a:custGeom>
            <a:solidFill>
              <a:srgbClr val="F2F1E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4624955" cy="1841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104050" y="1975167"/>
            <a:ext cx="5938339" cy="6683944"/>
          </a:xfrm>
          <a:custGeom>
            <a:avLst/>
            <a:gdLst/>
            <a:ahLst/>
            <a:cxnLst/>
            <a:rect r="r" b="b" t="t" l="l"/>
            <a:pathLst>
              <a:path h="6683944" w="5938339">
                <a:moveTo>
                  <a:pt x="0" y="0"/>
                </a:moveTo>
                <a:lnTo>
                  <a:pt x="5938339" y="0"/>
                </a:lnTo>
                <a:lnTo>
                  <a:pt x="5938339" y="6683944"/>
                </a:lnTo>
                <a:lnTo>
                  <a:pt x="0" y="66839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7" r="-54423" b="-77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5653" y="6397198"/>
            <a:ext cx="5750507" cy="2664359"/>
          </a:xfrm>
          <a:custGeom>
            <a:avLst/>
            <a:gdLst/>
            <a:ahLst/>
            <a:cxnLst/>
            <a:rect r="r" b="b" t="t" l="l"/>
            <a:pathLst>
              <a:path h="2664359" w="5750507">
                <a:moveTo>
                  <a:pt x="0" y="0"/>
                </a:moveTo>
                <a:lnTo>
                  <a:pt x="5750507" y="0"/>
                </a:lnTo>
                <a:lnTo>
                  <a:pt x="5750507" y="2664359"/>
                </a:lnTo>
                <a:lnTo>
                  <a:pt x="0" y="26643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7954" b="0"/>
            </a:stretch>
          </a:blipFill>
        </p:spPr>
      </p:sp>
      <p:pic>
        <p:nvPicPr>
          <p:cNvPr name="Picture 9" id="9">
            <a:hlinkClick action="ppaction://media"/>
          </p:cNvPr>
          <p:cNvPicPr>
            <a:picLocks noChangeAspect="true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7"/>
          <a:srcRect l="0" t="0" r="0" b="0"/>
          <a:stretch>
            <a:fillRect/>
          </a:stretch>
        </p:blipFill>
        <p:spPr>
          <a:xfrm flipH="false" flipV="false" rot="0">
            <a:off x="2000875" y="1975167"/>
            <a:ext cx="7638822" cy="4103367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147729" y="831775"/>
            <a:ext cx="9104437" cy="820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5"/>
              </a:lnSpc>
            </a:pPr>
            <a:r>
              <a:rPr lang="en-US" b="true" sz="4461">
                <a:solidFill>
                  <a:srgbClr val="7B0C0F"/>
                </a:solidFill>
                <a:latin typeface="Inter Bold"/>
                <a:ea typeface="Inter Bold"/>
                <a:cs typeface="Inter Bold"/>
                <a:sym typeface="Inter Bold"/>
              </a:rPr>
              <a:t>Simulation Results &amp; Key Insights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916160" y="6397198"/>
            <a:ext cx="5750507" cy="2664359"/>
          </a:xfrm>
          <a:custGeom>
            <a:avLst/>
            <a:gdLst/>
            <a:ahLst/>
            <a:cxnLst/>
            <a:rect r="r" b="b" t="t" l="l"/>
            <a:pathLst>
              <a:path h="2664359" w="5750507">
                <a:moveTo>
                  <a:pt x="0" y="0"/>
                </a:moveTo>
                <a:lnTo>
                  <a:pt x="5750508" y="0"/>
                </a:lnTo>
                <a:lnTo>
                  <a:pt x="5750508" y="2664359"/>
                </a:lnTo>
                <a:lnTo>
                  <a:pt x="0" y="26643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7954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30803" y="6546585"/>
            <a:ext cx="5289484" cy="1077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1"/>
              </a:lnSpc>
            </a:pPr>
            <a:r>
              <a:rPr lang="en-US" sz="2051" spc="88" b="true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Expected performance:</a:t>
            </a:r>
          </a:p>
          <a:p>
            <a:pPr algn="l" marL="379661" indent="-189831" lvl="1">
              <a:lnSpc>
                <a:spcPts val="2110"/>
              </a:lnSpc>
              <a:buFont typeface="Arial"/>
              <a:buChar char="•"/>
            </a:pPr>
            <a:r>
              <a:rPr lang="en-US" sz="1758" spc="75">
                <a:solidFill>
                  <a:srgbClr val="7B0C0F"/>
                </a:solidFill>
                <a:latin typeface="Canva Sans"/>
                <a:ea typeface="Canva Sans"/>
                <a:cs typeface="Canva Sans"/>
                <a:sym typeface="Canva Sans"/>
              </a:rPr>
              <a:t>Mean travel time: 53.68 s</a:t>
            </a:r>
          </a:p>
          <a:p>
            <a:pPr algn="l" marL="379661" indent="-189831" lvl="1">
              <a:lnSpc>
                <a:spcPts val="2110"/>
              </a:lnSpc>
              <a:buFont typeface="Arial"/>
              <a:buChar char="•"/>
            </a:pPr>
            <a:r>
              <a:rPr lang="en-US" sz="1758" spc="75">
                <a:solidFill>
                  <a:srgbClr val="7B0C0F"/>
                </a:solidFill>
                <a:latin typeface="Canva Sans"/>
                <a:ea typeface="Canva Sans"/>
                <a:cs typeface="Canva Sans"/>
                <a:sym typeface="Canva Sans"/>
              </a:rPr>
              <a:t>A* Travel time: 155.10s</a:t>
            </a:r>
          </a:p>
          <a:p>
            <a:pPr algn="l" marL="379661" indent="-189831" lvl="1">
              <a:lnSpc>
                <a:spcPts val="2110"/>
              </a:lnSpc>
              <a:buFont typeface="Arial"/>
              <a:buChar char="•"/>
            </a:pPr>
            <a:r>
              <a:rPr lang="en-US" sz="1758" spc="75">
                <a:solidFill>
                  <a:srgbClr val="7B0C0F"/>
                </a:solidFill>
                <a:latin typeface="Canva Sans"/>
                <a:ea typeface="Canva Sans"/>
                <a:cs typeface="Canva Sans"/>
                <a:sym typeface="Canva Sans"/>
              </a:rPr>
              <a:t>~3 x improvement in MC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17426" y="6546585"/>
            <a:ext cx="5660111" cy="1077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1"/>
              </a:lnSpc>
            </a:pPr>
            <a:r>
              <a:rPr lang="en-US" sz="2051" spc="88" b="true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Reliability(On-time Arrival):</a:t>
            </a:r>
          </a:p>
          <a:p>
            <a:pPr algn="l" marL="379661" indent="-189831" lvl="1">
              <a:lnSpc>
                <a:spcPts val="2110"/>
              </a:lnSpc>
              <a:buFont typeface="Arial"/>
              <a:buChar char="•"/>
            </a:pPr>
            <a:r>
              <a:rPr lang="en-US" sz="1758" spc="75">
                <a:solidFill>
                  <a:srgbClr val="7B0C0F"/>
                </a:solidFill>
                <a:latin typeface="Canva Sans"/>
                <a:ea typeface="Canva Sans"/>
                <a:cs typeface="Canva Sans"/>
                <a:sym typeface="Canva Sans"/>
              </a:rPr>
              <a:t>P(T &lt; T_d) = 73.4%</a:t>
            </a:r>
          </a:p>
          <a:p>
            <a:pPr algn="l" marL="379661" indent="-189831" lvl="1">
              <a:lnSpc>
                <a:spcPts val="2110"/>
              </a:lnSpc>
              <a:buFont typeface="Arial"/>
              <a:buChar char="•"/>
            </a:pPr>
            <a:r>
              <a:rPr lang="en-US" sz="1758" spc="75">
                <a:solidFill>
                  <a:srgbClr val="7B0C0F"/>
                </a:solidFill>
                <a:latin typeface="Canva Sans"/>
                <a:ea typeface="Canva Sans"/>
                <a:cs typeface="Canva Sans"/>
                <a:sym typeface="Canva Sans"/>
              </a:rPr>
              <a:t>Majority of trip meet deadline.</a:t>
            </a:r>
          </a:p>
          <a:p>
            <a:pPr algn="l" marL="379661" indent="-189831" lvl="1">
              <a:lnSpc>
                <a:spcPts val="2110"/>
              </a:lnSpc>
              <a:buFont typeface="Arial"/>
              <a:buChar char="•"/>
            </a:pPr>
            <a:r>
              <a:rPr lang="en-US" sz="1758" spc="75">
                <a:solidFill>
                  <a:srgbClr val="7B0C0F"/>
                </a:solidFill>
                <a:latin typeface="Canva Sans"/>
                <a:ea typeface="Canva Sans"/>
                <a:cs typeface="Canva Sans"/>
                <a:sym typeface="Canva Sans"/>
              </a:rPr>
              <a:t>Consistent performance under uncertainty</a:t>
            </a:r>
            <a:r>
              <a:rPr lang="en-US" b="true" sz="1758" spc="75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5281" y="7867240"/>
            <a:ext cx="5289484" cy="1077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1"/>
              </a:lnSpc>
            </a:pPr>
            <a:r>
              <a:rPr lang="en-US" sz="2051" spc="88" b="true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Variability and Stability:</a:t>
            </a:r>
          </a:p>
          <a:p>
            <a:pPr algn="l" marL="379661" indent="-189831" lvl="1">
              <a:lnSpc>
                <a:spcPts val="2110"/>
              </a:lnSpc>
              <a:buFont typeface="Arial"/>
              <a:buChar char="•"/>
            </a:pPr>
            <a:r>
              <a:rPr lang="en-US" sz="1758" spc="75">
                <a:solidFill>
                  <a:srgbClr val="7B0C0F"/>
                </a:solidFill>
                <a:latin typeface="Canva Sans"/>
                <a:ea typeface="Canva Sans"/>
                <a:cs typeface="Canva Sans"/>
                <a:sym typeface="Canva Sans"/>
              </a:rPr>
              <a:t>STD Deviation: 9.67s</a:t>
            </a:r>
          </a:p>
          <a:p>
            <a:pPr algn="l" marL="379661" indent="-189831" lvl="1">
              <a:lnSpc>
                <a:spcPts val="2110"/>
              </a:lnSpc>
              <a:buFont typeface="Arial"/>
              <a:buChar char="•"/>
            </a:pPr>
            <a:r>
              <a:rPr lang="en-US" sz="1758" spc="75">
                <a:solidFill>
                  <a:srgbClr val="7B0C0F"/>
                </a:solidFill>
                <a:latin typeface="Canva Sans"/>
                <a:ea typeface="Canva Sans"/>
                <a:cs typeface="Canva Sans"/>
                <a:sym typeface="Canva Sans"/>
              </a:rPr>
              <a:t>95% CI (38.14, 76.48)s</a:t>
            </a:r>
          </a:p>
          <a:p>
            <a:pPr algn="l" marL="379661" indent="-189831" lvl="1">
              <a:lnSpc>
                <a:spcPts val="2110"/>
              </a:lnSpc>
              <a:buFont typeface="Arial"/>
              <a:buChar char="•"/>
            </a:pPr>
            <a:r>
              <a:rPr lang="en-US" sz="1758" spc="75">
                <a:solidFill>
                  <a:srgbClr val="7B0C0F"/>
                </a:solidFill>
                <a:latin typeface="Canva Sans"/>
                <a:ea typeface="Canva Sans"/>
                <a:cs typeface="Canva Sans"/>
                <a:sym typeface="Canva Sans"/>
              </a:rPr>
              <a:t>Controlled Spread: predicted travel time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17426" y="7867240"/>
            <a:ext cx="5660111" cy="1077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1"/>
              </a:lnSpc>
            </a:pPr>
            <a:r>
              <a:rPr lang="en-US" sz="2051" spc="88" b="true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Insights:</a:t>
            </a:r>
          </a:p>
          <a:p>
            <a:pPr algn="l" marL="379661" indent="-189831" lvl="1">
              <a:lnSpc>
                <a:spcPts val="2110"/>
              </a:lnSpc>
              <a:buFont typeface="Arial"/>
              <a:buChar char="•"/>
            </a:pPr>
            <a:r>
              <a:rPr lang="en-US" sz="1758" spc="75">
                <a:solidFill>
                  <a:srgbClr val="7B0C0F"/>
                </a:solidFill>
                <a:latin typeface="Canva Sans"/>
                <a:ea typeface="Canva Sans"/>
                <a:cs typeface="Canva Sans"/>
                <a:sym typeface="Canva Sans"/>
              </a:rPr>
              <a:t>A*: Fixed route → Congestion failure</a:t>
            </a:r>
          </a:p>
          <a:p>
            <a:pPr algn="l" marL="379661" indent="-189831" lvl="1">
              <a:lnSpc>
                <a:spcPts val="2110"/>
              </a:lnSpc>
              <a:buFont typeface="Arial"/>
              <a:buChar char="•"/>
            </a:pPr>
            <a:r>
              <a:rPr lang="en-US" sz="1758" spc="75">
                <a:solidFill>
                  <a:srgbClr val="7B0C0F"/>
                </a:solidFill>
                <a:latin typeface="Canva Sans"/>
                <a:ea typeface="Canva Sans"/>
                <a:cs typeface="Canva Sans"/>
                <a:sym typeface="Canva Sans"/>
              </a:rPr>
              <a:t>MC: Adaptive simulation → optimized routing</a:t>
            </a:r>
          </a:p>
          <a:p>
            <a:pPr algn="l" marL="379661" indent="-189831" lvl="1">
              <a:lnSpc>
                <a:spcPts val="2110"/>
              </a:lnSpc>
              <a:buFont typeface="Arial"/>
              <a:buChar char="•"/>
            </a:pPr>
            <a:r>
              <a:rPr lang="en-US" sz="1758" spc="75">
                <a:solidFill>
                  <a:srgbClr val="7B0C0F"/>
                </a:solidFill>
                <a:latin typeface="Canva Sans"/>
                <a:ea typeface="Canva Sans"/>
                <a:cs typeface="Canva Sans"/>
                <a:sym typeface="Canva Sans"/>
              </a:rPr>
              <a:t>Lower time + higher reliability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4787980" y="9184544"/>
            <a:ext cx="3090818" cy="817139"/>
            <a:chOff x="0" y="0"/>
            <a:chExt cx="812800" cy="2148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214885"/>
            </a:xfrm>
            <a:custGeom>
              <a:avLst/>
              <a:gdLst/>
              <a:ahLst/>
              <a:cxnLst/>
              <a:rect r="r" b="b" t="t" l="l"/>
              <a:pathLst>
                <a:path h="21488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14885"/>
                  </a:lnTo>
                  <a:lnTo>
                    <a:pt x="0" y="214885"/>
                  </a:lnTo>
                  <a:close/>
                </a:path>
              </a:pathLst>
            </a:custGeom>
            <a:solidFill>
              <a:srgbClr val="F2F1E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812800" cy="281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420866" y="9435546"/>
            <a:ext cx="826684" cy="566139"/>
            <a:chOff x="0" y="0"/>
            <a:chExt cx="1102246" cy="7548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6</a:t>
              </a:r>
            </a:p>
          </p:txBody>
        </p:sp>
      </p:grp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073454"/>
            <a:ext cx="18288000" cy="1213546"/>
          </a:xfrm>
          <a:custGeom>
            <a:avLst/>
            <a:gdLst/>
            <a:ahLst/>
            <a:cxnLst/>
            <a:rect r="r" b="b" t="t" l="l"/>
            <a:pathLst>
              <a:path h="1213546" w="18288000">
                <a:moveTo>
                  <a:pt x="0" y="0"/>
                </a:moveTo>
                <a:lnTo>
                  <a:pt x="18288000" y="0"/>
                </a:lnTo>
                <a:lnTo>
                  <a:pt x="18288000" y="1213546"/>
                </a:lnTo>
                <a:lnTo>
                  <a:pt x="0" y="1213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288" r="0" b="-5968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4781466" y="3185577"/>
            <a:ext cx="936296" cy="502707"/>
            <a:chOff x="0" y="0"/>
            <a:chExt cx="787337" cy="4227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7337" cy="422730"/>
            </a:xfrm>
            <a:custGeom>
              <a:avLst/>
              <a:gdLst/>
              <a:ahLst/>
              <a:cxnLst/>
              <a:rect r="r" b="b" t="t" l="l"/>
              <a:pathLst>
                <a:path h="422730" w="787337">
                  <a:moveTo>
                    <a:pt x="239386" y="165700"/>
                  </a:moveTo>
                  <a:lnTo>
                    <a:pt x="787337" y="165700"/>
                  </a:lnTo>
                  <a:lnTo>
                    <a:pt x="787337" y="257011"/>
                  </a:lnTo>
                  <a:lnTo>
                    <a:pt x="239373" y="257011"/>
                  </a:lnTo>
                  <a:lnTo>
                    <a:pt x="302255" y="422730"/>
                  </a:lnTo>
                  <a:lnTo>
                    <a:pt x="0" y="211365"/>
                  </a:lnTo>
                  <a:lnTo>
                    <a:pt x="302255" y="0"/>
                  </a:lnTo>
                  <a:lnTo>
                    <a:pt x="239386" y="1657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20650" y="98425"/>
              <a:ext cx="666687" cy="159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343559" y="9271658"/>
            <a:ext cx="3090818" cy="817139"/>
            <a:chOff x="0" y="0"/>
            <a:chExt cx="812800" cy="2148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214885"/>
            </a:xfrm>
            <a:custGeom>
              <a:avLst/>
              <a:gdLst/>
              <a:ahLst/>
              <a:cxnLst/>
              <a:rect r="r" b="b" t="t" l="l"/>
              <a:pathLst>
                <a:path h="21488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14885"/>
                  </a:lnTo>
                  <a:lnTo>
                    <a:pt x="0" y="214885"/>
                  </a:lnTo>
                  <a:close/>
                </a:path>
              </a:pathLst>
            </a:custGeom>
            <a:solidFill>
              <a:srgbClr val="F2F1E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812800" cy="281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356416" y="9579416"/>
            <a:ext cx="826684" cy="566139"/>
            <a:chOff x="0" y="0"/>
            <a:chExt cx="1102246" cy="7548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9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789689" y="1993680"/>
            <a:ext cx="5961088" cy="3626955"/>
          </a:xfrm>
          <a:custGeom>
            <a:avLst/>
            <a:gdLst/>
            <a:ahLst/>
            <a:cxnLst/>
            <a:rect r="r" b="b" t="t" l="l"/>
            <a:pathLst>
              <a:path h="3626955" w="5961088">
                <a:moveTo>
                  <a:pt x="0" y="0"/>
                </a:moveTo>
                <a:lnTo>
                  <a:pt x="5961087" y="0"/>
                </a:lnTo>
                <a:lnTo>
                  <a:pt x="5961087" y="3626955"/>
                </a:lnTo>
                <a:lnTo>
                  <a:pt x="0" y="3626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091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07331" y="654467"/>
            <a:ext cx="11193304" cy="41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b="true" sz="4825">
                <a:solidFill>
                  <a:srgbClr val="7B0C0F"/>
                </a:solidFill>
                <a:latin typeface="Inter Bold"/>
                <a:ea typeface="Inter Bold"/>
                <a:cs typeface="Inter Bold"/>
                <a:sym typeface="Inter Bold"/>
              </a:rPr>
              <a:t>PACE-based Correlated Traffic Model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6732" y="2208953"/>
            <a:ext cx="5458176" cy="2443210"/>
            <a:chOff x="0" y="0"/>
            <a:chExt cx="7277568" cy="325761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3408" y="736643"/>
              <a:ext cx="485338" cy="603357"/>
            </a:xfrm>
            <a:custGeom>
              <a:avLst/>
              <a:gdLst/>
              <a:ahLst/>
              <a:cxnLst/>
              <a:rect r="r" b="b" t="t" l="l"/>
              <a:pathLst>
                <a:path h="603357" w="485338">
                  <a:moveTo>
                    <a:pt x="0" y="0"/>
                  </a:moveTo>
                  <a:lnTo>
                    <a:pt x="485338" y="0"/>
                  </a:lnTo>
                  <a:lnTo>
                    <a:pt x="485338" y="603357"/>
                  </a:lnTo>
                  <a:lnTo>
                    <a:pt x="0" y="6033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95" t="0" r="-2595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0" y="152721"/>
              <a:ext cx="7277568" cy="3104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72"/>
                </a:lnSpc>
              </a:pPr>
              <a:r>
                <a:rPr lang="en-US" sz="255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Motivation:</a:t>
              </a:r>
            </a:p>
            <a:p>
              <a:pPr algn="l">
                <a:lnSpc>
                  <a:spcPts val="3011"/>
                </a:lnSpc>
              </a:pPr>
              <a:r>
                <a:rPr lang="en-US" sz="21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Real world traffic not independent</a:t>
              </a:r>
            </a:p>
            <a:p>
              <a:pPr algn="l">
                <a:lnSpc>
                  <a:spcPts val="3011"/>
                </a:lnSpc>
              </a:pPr>
              <a:r>
                <a:rPr lang="en-US" sz="21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Adjacent segment correlated</a:t>
              </a:r>
            </a:p>
            <a:p>
              <a:pPr algn="l">
                <a:lnSpc>
                  <a:spcPts val="3011"/>
                </a:lnSpc>
              </a:pPr>
              <a:r>
                <a:rPr lang="en-US" sz="21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Consider delay risks</a:t>
              </a:r>
            </a:p>
            <a:p>
              <a:pPr algn="l">
                <a:lnSpc>
                  <a:spcPts val="3011"/>
                </a:lnSpc>
              </a:pPr>
              <a:r>
                <a:rPr lang="en-US" sz="21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PACE introduces correlation in edges</a:t>
              </a:r>
            </a:p>
            <a:p>
              <a:pPr algn="l">
                <a:lnSpc>
                  <a:spcPts val="3011"/>
                </a:lnSpc>
              </a:pPr>
              <a:r>
                <a:rPr lang="en-US" sz="21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</p:txBody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273849"/>
              <a:ext cx="485338" cy="603357"/>
            </a:xfrm>
            <a:custGeom>
              <a:avLst/>
              <a:gdLst/>
              <a:ahLst/>
              <a:cxnLst/>
              <a:rect r="r" b="b" t="t" l="l"/>
              <a:pathLst>
                <a:path h="603357" w="485338">
                  <a:moveTo>
                    <a:pt x="0" y="0"/>
                  </a:moveTo>
                  <a:lnTo>
                    <a:pt x="485338" y="0"/>
                  </a:lnTo>
                  <a:lnTo>
                    <a:pt x="485338" y="603357"/>
                  </a:lnTo>
                  <a:lnTo>
                    <a:pt x="0" y="6033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95" t="0" r="-2595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778332"/>
              <a:ext cx="485338" cy="603357"/>
            </a:xfrm>
            <a:custGeom>
              <a:avLst/>
              <a:gdLst/>
              <a:ahLst/>
              <a:cxnLst/>
              <a:rect r="r" b="b" t="t" l="l"/>
              <a:pathLst>
                <a:path h="603357" w="485338">
                  <a:moveTo>
                    <a:pt x="0" y="0"/>
                  </a:moveTo>
                  <a:lnTo>
                    <a:pt x="485338" y="0"/>
                  </a:lnTo>
                  <a:lnTo>
                    <a:pt x="485338" y="603358"/>
                  </a:lnTo>
                  <a:lnTo>
                    <a:pt x="0" y="603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95" t="0" r="-2595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2321482"/>
              <a:ext cx="485338" cy="603357"/>
            </a:xfrm>
            <a:custGeom>
              <a:avLst/>
              <a:gdLst/>
              <a:ahLst/>
              <a:cxnLst/>
              <a:rect r="r" b="b" t="t" l="l"/>
              <a:pathLst>
                <a:path h="603357" w="485338">
                  <a:moveTo>
                    <a:pt x="0" y="0"/>
                  </a:moveTo>
                  <a:lnTo>
                    <a:pt x="485338" y="0"/>
                  </a:lnTo>
                  <a:lnTo>
                    <a:pt x="485338" y="603358"/>
                  </a:lnTo>
                  <a:lnTo>
                    <a:pt x="0" y="603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95" t="0" r="-2595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0" y="-238125"/>
              <a:ext cx="85854" cy="5961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47"/>
                </a:lnSpc>
              </a:pPr>
              <a:r>
                <a:rPr lang="en-US" sz="1859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 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23758" y="6495408"/>
            <a:ext cx="5980445" cy="2443210"/>
            <a:chOff x="0" y="0"/>
            <a:chExt cx="7973927" cy="325761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524637" y="152721"/>
              <a:ext cx="7449290" cy="3104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72"/>
                </a:lnSpc>
              </a:pPr>
              <a:r>
                <a:rPr lang="en-US" sz="255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Core Idea:</a:t>
              </a:r>
            </a:p>
            <a:p>
              <a:pPr algn="l">
                <a:lnSpc>
                  <a:spcPts val="3011"/>
                </a:lnSpc>
              </a:pPr>
              <a:r>
                <a:rPr lang="en-US" sz="21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Model travel times as correlated RVs.</a:t>
              </a:r>
            </a:p>
            <a:p>
              <a:pPr algn="l">
                <a:lnSpc>
                  <a:spcPts val="3011"/>
                </a:lnSpc>
              </a:pPr>
              <a:r>
                <a:rPr lang="en-US" sz="21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Use AR(1) spatial correlation structure</a:t>
              </a:r>
            </a:p>
            <a:p>
              <a:pPr algn="l">
                <a:lnSpc>
                  <a:spcPts val="3011"/>
                </a:lnSpc>
              </a:pPr>
              <a:r>
                <a:rPr lang="en-US" sz="21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Near edges ---&gt; high correlation</a:t>
              </a:r>
            </a:p>
            <a:p>
              <a:pPr algn="l">
                <a:lnSpc>
                  <a:spcPts val="3011"/>
                </a:lnSpc>
              </a:pPr>
              <a:r>
                <a:rPr lang="en-US" sz="21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Distant edges ---&gt; low correlation</a:t>
              </a:r>
            </a:p>
            <a:p>
              <a:pPr algn="l">
                <a:lnSpc>
                  <a:spcPts val="3011"/>
                </a:lnSpc>
              </a:pPr>
              <a:r>
                <a:rPr lang="en-US" sz="21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-238125"/>
              <a:ext cx="90311" cy="6166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47"/>
                </a:lnSpc>
              </a:pPr>
              <a:r>
                <a:rPr lang="en-US" sz="1859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 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574785" y="2273161"/>
              <a:ext cx="510533" cy="603357"/>
            </a:xfrm>
            <a:custGeom>
              <a:avLst/>
              <a:gdLst/>
              <a:ahLst/>
              <a:cxnLst/>
              <a:rect r="r" b="b" t="t" l="l"/>
              <a:pathLst>
                <a:path h="603357" w="510533">
                  <a:moveTo>
                    <a:pt x="0" y="0"/>
                  </a:moveTo>
                  <a:lnTo>
                    <a:pt x="510533" y="0"/>
                  </a:lnTo>
                  <a:lnTo>
                    <a:pt x="510533" y="603358"/>
                  </a:lnTo>
                  <a:lnTo>
                    <a:pt x="0" y="603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574785" y="1730011"/>
              <a:ext cx="510533" cy="603357"/>
            </a:xfrm>
            <a:custGeom>
              <a:avLst/>
              <a:gdLst/>
              <a:ahLst/>
              <a:cxnLst/>
              <a:rect r="r" b="b" t="t" l="l"/>
              <a:pathLst>
                <a:path h="603357" w="510533">
                  <a:moveTo>
                    <a:pt x="0" y="0"/>
                  </a:moveTo>
                  <a:lnTo>
                    <a:pt x="510533" y="0"/>
                  </a:lnTo>
                  <a:lnTo>
                    <a:pt x="510533" y="603358"/>
                  </a:lnTo>
                  <a:lnTo>
                    <a:pt x="0" y="603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588889" y="688322"/>
              <a:ext cx="510533" cy="603357"/>
            </a:xfrm>
            <a:custGeom>
              <a:avLst/>
              <a:gdLst/>
              <a:ahLst/>
              <a:cxnLst/>
              <a:rect r="r" b="b" t="t" l="l"/>
              <a:pathLst>
                <a:path h="603357" w="510533">
                  <a:moveTo>
                    <a:pt x="0" y="0"/>
                  </a:moveTo>
                  <a:lnTo>
                    <a:pt x="510533" y="0"/>
                  </a:lnTo>
                  <a:lnTo>
                    <a:pt x="510533" y="603357"/>
                  </a:lnTo>
                  <a:lnTo>
                    <a:pt x="0" y="6033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574785" y="1200128"/>
              <a:ext cx="510533" cy="603357"/>
            </a:xfrm>
            <a:custGeom>
              <a:avLst/>
              <a:gdLst/>
              <a:ahLst/>
              <a:cxnLst/>
              <a:rect r="r" b="b" t="t" l="l"/>
              <a:pathLst>
                <a:path h="603357" w="510533">
                  <a:moveTo>
                    <a:pt x="0" y="0"/>
                  </a:moveTo>
                  <a:lnTo>
                    <a:pt x="510533" y="0"/>
                  </a:lnTo>
                  <a:lnTo>
                    <a:pt x="510533" y="603357"/>
                  </a:lnTo>
                  <a:lnTo>
                    <a:pt x="0" y="6033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8805769">
            <a:off x="4668977" y="5754939"/>
            <a:ext cx="1017617" cy="502707"/>
            <a:chOff x="0" y="0"/>
            <a:chExt cx="855721" cy="42273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55721" cy="422730"/>
            </a:xfrm>
            <a:custGeom>
              <a:avLst/>
              <a:gdLst/>
              <a:ahLst/>
              <a:cxnLst/>
              <a:rect r="r" b="b" t="t" l="l"/>
              <a:pathLst>
                <a:path h="422730" w="855721">
                  <a:moveTo>
                    <a:pt x="239386" y="165700"/>
                  </a:moveTo>
                  <a:lnTo>
                    <a:pt x="855721" y="165700"/>
                  </a:lnTo>
                  <a:lnTo>
                    <a:pt x="855721" y="257011"/>
                  </a:lnTo>
                  <a:lnTo>
                    <a:pt x="239373" y="257011"/>
                  </a:lnTo>
                  <a:lnTo>
                    <a:pt x="302255" y="422730"/>
                  </a:lnTo>
                  <a:lnTo>
                    <a:pt x="0" y="211365"/>
                  </a:lnTo>
                  <a:lnTo>
                    <a:pt x="302255" y="0"/>
                  </a:lnTo>
                  <a:lnTo>
                    <a:pt x="239386" y="1657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20650" y="98425"/>
              <a:ext cx="735071" cy="159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956688" y="6630244"/>
            <a:ext cx="6352108" cy="2443210"/>
            <a:chOff x="0" y="0"/>
            <a:chExt cx="8469477" cy="3257613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524637" y="152721"/>
              <a:ext cx="7944840" cy="3104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72"/>
                </a:lnSpc>
              </a:pPr>
              <a:r>
                <a:rPr lang="en-US" sz="255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Covariance Matrix Construction:</a:t>
              </a:r>
            </a:p>
            <a:p>
              <a:pPr algn="l">
                <a:lnSpc>
                  <a:spcPts val="3011"/>
                </a:lnSpc>
              </a:pPr>
              <a:r>
                <a:rPr lang="en-US" sz="21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Build covariance matrix using:</a:t>
              </a:r>
            </a:p>
            <a:p>
              <a:pPr algn="l">
                <a:lnSpc>
                  <a:spcPts val="3011"/>
                </a:lnSpc>
              </a:pPr>
              <a:r>
                <a:rPr lang="en-US" sz="21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Correlation Coefficient ρ.</a:t>
              </a:r>
            </a:p>
            <a:p>
              <a:pPr algn="l">
                <a:lnSpc>
                  <a:spcPts val="3011"/>
                </a:lnSpc>
              </a:pPr>
              <a:r>
                <a:rPr lang="en-US" sz="21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Captures dependency structure for route</a:t>
              </a:r>
            </a:p>
            <a:p>
              <a:pPr algn="l">
                <a:lnSpc>
                  <a:spcPts val="3011"/>
                </a:lnSpc>
              </a:pPr>
              <a:r>
                <a:rPr lang="en-US" sz="21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</a:t>
              </a:r>
            </a:p>
            <a:p>
              <a:pPr algn="l">
                <a:lnSpc>
                  <a:spcPts val="3011"/>
                </a:lnSpc>
              </a:pPr>
              <a:r>
                <a:rPr lang="en-US" sz="21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-238125"/>
              <a:ext cx="90311" cy="6166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47"/>
                </a:lnSpc>
              </a:pPr>
              <a:r>
                <a:rPr lang="en-US" sz="1859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 </a:t>
              </a:r>
            </a:p>
          </p:txBody>
        </p:sp>
        <p:sp>
          <p:nvSpPr>
            <p:cNvPr name="Freeform 34" id="34"/>
            <p:cNvSpPr/>
            <p:nvPr/>
          </p:nvSpPr>
          <p:spPr>
            <a:xfrm flipH="false" flipV="false" rot="0">
              <a:off x="574785" y="1730011"/>
              <a:ext cx="510533" cy="603357"/>
            </a:xfrm>
            <a:custGeom>
              <a:avLst/>
              <a:gdLst/>
              <a:ahLst/>
              <a:cxnLst/>
              <a:rect r="r" b="b" t="t" l="l"/>
              <a:pathLst>
                <a:path h="603357" w="510533">
                  <a:moveTo>
                    <a:pt x="0" y="0"/>
                  </a:moveTo>
                  <a:lnTo>
                    <a:pt x="510533" y="0"/>
                  </a:lnTo>
                  <a:lnTo>
                    <a:pt x="510533" y="603358"/>
                  </a:lnTo>
                  <a:lnTo>
                    <a:pt x="0" y="603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588889" y="688322"/>
              <a:ext cx="510533" cy="603357"/>
            </a:xfrm>
            <a:custGeom>
              <a:avLst/>
              <a:gdLst/>
              <a:ahLst/>
              <a:cxnLst/>
              <a:rect r="r" b="b" t="t" l="l"/>
              <a:pathLst>
                <a:path h="603357" w="510533">
                  <a:moveTo>
                    <a:pt x="0" y="0"/>
                  </a:moveTo>
                  <a:lnTo>
                    <a:pt x="510533" y="0"/>
                  </a:lnTo>
                  <a:lnTo>
                    <a:pt x="510533" y="603357"/>
                  </a:lnTo>
                  <a:lnTo>
                    <a:pt x="0" y="6033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574785" y="1200128"/>
              <a:ext cx="510533" cy="603357"/>
            </a:xfrm>
            <a:custGeom>
              <a:avLst/>
              <a:gdLst/>
              <a:ahLst/>
              <a:cxnLst/>
              <a:rect r="r" b="b" t="t" l="l"/>
              <a:pathLst>
                <a:path h="603357" w="510533">
                  <a:moveTo>
                    <a:pt x="0" y="0"/>
                  </a:moveTo>
                  <a:lnTo>
                    <a:pt x="510533" y="0"/>
                  </a:lnTo>
                  <a:lnTo>
                    <a:pt x="510533" y="603357"/>
                  </a:lnTo>
                  <a:lnTo>
                    <a:pt x="0" y="6033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5400000">
            <a:off x="8418066" y="5903361"/>
            <a:ext cx="801459" cy="502707"/>
            <a:chOff x="0" y="0"/>
            <a:chExt cx="673952" cy="42273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73952" cy="422730"/>
            </a:xfrm>
            <a:custGeom>
              <a:avLst/>
              <a:gdLst/>
              <a:ahLst/>
              <a:cxnLst/>
              <a:rect r="r" b="b" t="t" l="l"/>
              <a:pathLst>
                <a:path h="422730" w="673952">
                  <a:moveTo>
                    <a:pt x="239386" y="165700"/>
                  </a:moveTo>
                  <a:lnTo>
                    <a:pt x="673952" y="165700"/>
                  </a:lnTo>
                  <a:lnTo>
                    <a:pt x="673952" y="257011"/>
                  </a:lnTo>
                  <a:lnTo>
                    <a:pt x="239373" y="257011"/>
                  </a:lnTo>
                  <a:lnTo>
                    <a:pt x="302255" y="422730"/>
                  </a:lnTo>
                  <a:lnTo>
                    <a:pt x="0" y="211365"/>
                  </a:lnTo>
                  <a:lnTo>
                    <a:pt x="302255" y="0"/>
                  </a:lnTo>
                  <a:lnTo>
                    <a:pt x="239386" y="1657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120650" y="98425"/>
              <a:ext cx="553302" cy="159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308270" y="6630244"/>
            <a:ext cx="6644129" cy="2443210"/>
            <a:chOff x="0" y="0"/>
            <a:chExt cx="8858838" cy="3257613"/>
          </a:xfrm>
        </p:grpSpPr>
        <p:sp>
          <p:nvSpPr>
            <p:cNvPr name="TextBox 41" id="41"/>
            <p:cNvSpPr txBox="true"/>
            <p:nvPr/>
          </p:nvSpPr>
          <p:spPr>
            <a:xfrm rot="0">
              <a:off x="519448" y="152721"/>
              <a:ext cx="8339390" cy="3104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72"/>
                </a:lnSpc>
              </a:pPr>
              <a:r>
                <a:rPr lang="en-US" b="true" sz="2551" spc="6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Sampling Method:</a:t>
              </a:r>
            </a:p>
            <a:p>
              <a:pPr algn="l">
                <a:lnSpc>
                  <a:spcPts val="3011"/>
                </a:lnSpc>
              </a:pPr>
              <a:r>
                <a:rPr lang="en-US" sz="2150" spc="5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Use Multivariate Normal sampling</a:t>
              </a:r>
            </a:p>
            <a:p>
              <a:pPr algn="l">
                <a:lnSpc>
                  <a:spcPts val="3011"/>
                </a:lnSpc>
              </a:pPr>
              <a:r>
                <a:rPr lang="en-US" sz="2150" spc="-7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Generates correlated travel time samples </a:t>
              </a:r>
            </a:p>
            <a:p>
              <a:pPr algn="l">
                <a:lnSpc>
                  <a:spcPts val="3011"/>
                </a:lnSpc>
              </a:pPr>
              <a:r>
                <a:rPr lang="en-US" sz="2150" spc="5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Entire route sampled as joint system</a:t>
              </a:r>
            </a:p>
            <a:p>
              <a:pPr algn="l">
                <a:lnSpc>
                  <a:spcPts val="3011"/>
                </a:lnSpc>
              </a:pPr>
              <a:r>
                <a:rPr lang="en-US" sz="2150" spc="5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</a:t>
              </a:r>
            </a:p>
            <a:p>
              <a:pPr algn="l">
                <a:lnSpc>
                  <a:spcPts val="3011"/>
                </a:lnSpc>
              </a:pPr>
              <a:r>
                <a:rPr lang="en-US" sz="2150" spc="5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-238125"/>
              <a:ext cx="89418" cy="5961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47"/>
                </a:lnSpc>
              </a:pPr>
              <a:r>
                <a:rPr lang="en-US" sz="1859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 </a:t>
              </a:r>
            </a:p>
          </p:txBody>
        </p:sp>
        <p:sp>
          <p:nvSpPr>
            <p:cNvPr name="Freeform 43" id="43"/>
            <p:cNvSpPr/>
            <p:nvPr/>
          </p:nvSpPr>
          <p:spPr>
            <a:xfrm flipH="false" flipV="false" rot="0">
              <a:off x="569100" y="1730011"/>
              <a:ext cx="505484" cy="603357"/>
            </a:xfrm>
            <a:custGeom>
              <a:avLst/>
              <a:gdLst/>
              <a:ahLst/>
              <a:cxnLst/>
              <a:rect r="r" b="b" t="t" l="l"/>
              <a:pathLst>
                <a:path h="603357" w="505484">
                  <a:moveTo>
                    <a:pt x="0" y="0"/>
                  </a:moveTo>
                  <a:lnTo>
                    <a:pt x="505484" y="0"/>
                  </a:lnTo>
                  <a:lnTo>
                    <a:pt x="505484" y="603358"/>
                  </a:lnTo>
                  <a:lnTo>
                    <a:pt x="0" y="603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99" t="0" r="-499" b="0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583065" y="688322"/>
              <a:ext cx="505484" cy="603357"/>
            </a:xfrm>
            <a:custGeom>
              <a:avLst/>
              <a:gdLst/>
              <a:ahLst/>
              <a:cxnLst/>
              <a:rect r="r" b="b" t="t" l="l"/>
              <a:pathLst>
                <a:path h="603357" w="505484">
                  <a:moveTo>
                    <a:pt x="0" y="0"/>
                  </a:moveTo>
                  <a:lnTo>
                    <a:pt x="505484" y="0"/>
                  </a:lnTo>
                  <a:lnTo>
                    <a:pt x="505484" y="603357"/>
                  </a:lnTo>
                  <a:lnTo>
                    <a:pt x="0" y="6033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99" t="0" r="-499" b="0"/>
              </a:stretch>
            </a:blip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569100" y="1200128"/>
              <a:ext cx="505484" cy="603357"/>
            </a:xfrm>
            <a:custGeom>
              <a:avLst/>
              <a:gdLst/>
              <a:ahLst/>
              <a:cxnLst/>
              <a:rect r="r" b="b" t="t" l="l"/>
              <a:pathLst>
                <a:path h="603357" w="505484">
                  <a:moveTo>
                    <a:pt x="0" y="0"/>
                  </a:moveTo>
                  <a:lnTo>
                    <a:pt x="505484" y="0"/>
                  </a:lnTo>
                  <a:lnTo>
                    <a:pt x="505484" y="603357"/>
                  </a:lnTo>
                  <a:lnTo>
                    <a:pt x="0" y="6033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99" t="0" r="-499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2346834">
            <a:off x="11732066" y="5705631"/>
            <a:ext cx="1088663" cy="502707"/>
            <a:chOff x="0" y="0"/>
            <a:chExt cx="915464" cy="42273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15464" cy="422730"/>
            </a:xfrm>
            <a:custGeom>
              <a:avLst/>
              <a:gdLst/>
              <a:ahLst/>
              <a:cxnLst/>
              <a:rect r="r" b="b" t="t" l="l"/>
              <a:pathLst>
                <a:path h="422730" w="915464">
                  <a:moveTo>
                    <a:pt x="239386" y="165700"/>
                  </a:moveTo>
                  <a:lnTo>
                    <a:pt x="915464" y="165700"/>
                  </a:lnTo>
                  <a:lnTo>
                    <a:pt x="915464" y="257011"/>
                  </a:lnTo>
                  <a:lnTo>
                    <a:pt x="239373" y="257011"/>
                  </a:lnTo>
                  <a:lnTo>
                    <a:pt x="302255" y="422730"/>
                  </a:lnTo>
                  <a:lnTo>
                    <a:pt x="0" y="211365"/>
                  </a:lnTo>
                  <a:lnTo>
                    <a:pt x="302255" y="0"/>
                  </a:lnTo>
                  <a:lnTo>
                    <a:pt x="239386" y="1657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120650" y="98425"/>
              <a:ext cx="794814" cy="159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201365" y="2466679"/>
            <a:ext cx="6086635" cy="2443210"/>
            <a:chOff x="0" y="0"/>
            <a:chExt cx="8115513" cy="3257613"/>
          </a:xfrm>
        </p:grpSpPr>
        <p:sp>
          <p:nvSpPr>
            <p:cNvPr name="TextBox 50" id="50"/>
            <p:cNvSpPr txBox="true"/>
            <p:nvPr/>
          </p:nvSpPr>
          <p:spPr>
            <a:xfrm rot="0">
              <a:off x="533952" y="152721"/>
              <a:ext cx="7581561" cy="3104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72"/>
                </a:lnSpc>
              </a:pPr>
              <a:r>
                <a:rPr lang="en-US" sz="255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Impact on Model:</a:t>
              </a:r>
            </a:p>
            <a:p>
              <a:pPr algn="l">
                <a:lnSpc>
                  <a:spcPts val="3011"/>
                </a:lnSpc>
              </a:pPr>
              <a:r>
                <a:rPr lang="en-US" sz="21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More realistic as congestion can spread</a:t>
              </a:r>
            </a:p>
            <a:p>
              <a:pPr algn="l">
                <a:lnSpc>
                  <a:spcPts val="3011"/>
                </a:lnSpc>
              </a:pPr>
              <a:r>
                <a:rPr lang="en-US" sz="21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Captures burst delay</a:t>
              </a:r>
            </a:p>
            <a:p>
              <a:pPr algn="l">
                <a:lnSpc>
                  <a:spcPts val="3011"/>
                </a:lnSpc>
              </a:pPr>
              <a:r>
                <a:rPr lang="en-US" sz="21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Improves reliability estimation </a:t>
              </a:r>
            </a:p>
            <a:p>
              <a:pPr algn="l">
                <a:lnSpc>
                  <a:spcPts val="3011"/>
                </a:lnSpc>
              </a:pPr>
              <a:r>
                <a:rPr lang="en-US" sz="21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Improves worst-case prediction</a:t>
              </a:r>
            </a:p>
            <a:p>
              <a:pPr algn="l">
                <a:lnSpc>
                  <a:spcPts val="3011"/>
                </a:lnSpc>
              </a:pPr>
              <a:r>
                <a:rPr lang="en-US" sz="21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0" y="-238125"/>
              <a:ext cx="91914" cy="5961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47"/>
                </a:lnSpc>
              </a:pPr>
              <a:r>
                <a:rPr lang="en-US" sz="1859">
                  <a:solidFill>
                    <a:srgbClr val="000000"/>
                  </a:solidFill>
                  <a:latin typeface="Inter Extra-Light"/>
                  <a:ea typeface="Inter Extra-Light"/>
                  <a:cs typeface="Inter Extra-Light"/>
                  <a:sym typeface="Inter Extra-Light"/>
                </a:rPr>
                <a:t> </a:t>
              </a:r>
            </a:p>
          </p:txBody>
        </p:sp>
        <p:sp>
          <p:nvSpPr>
            <p:cNvPr name="Freeform 52" id="52"/>
            <p:cNvSpPr/>
            <p:nvPr/>
          </p:nvSpPr>
          <p:spPr>
            <a:xfrm flipH="false" flipV="false" rot="0">
              <a:off x="584991" y="2273161"/>
              <a:ext cx="519598" cy="603357"/>
            </a:xfrm>
            <a:custGeom>
              <a:avLst/>
              <a:gdLst/>
              <a:ahLst/>
              <a:cxnLst/>
              <a:rect r="r" b="b" t="t" l="l"/>
              <a:pathLst>
                <a:path h="603357" w="519598">
                  <a:moveTo>
                    <a:pt x="0" y="0"/>
                  </a:moveTo>
                  <a:lnTo>
                    <a:pt x="519598" y="0"/>
                  </a:lnTo>
                  <a:lnTo>
                    <a:pt x="519598" y="603358"/>
                  </a:lnTo>
                  <a:lnTo>
                    <a:pt x="0" y="603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87" r="0" b="-887"/>
              </a:stretch>
            </a:blip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584991" y="1730011"/>
              <a:ext cx="519598" cy="603357"/>
            </a:xfrm>
            <a:custGeom>
              <a:avLst/>
              <a:gdLst/>
              <a:ahLst/>
              <a:cxnLst/>
              <a:rect r="r" b="b" t="t" l="l"/>
              <a:pathLst>
                <a:path h="603357" w="519598">
                  <a:moveTo>
                    <a:pt x="0" y="0"/>
                  </a:moveTo>
                  <a:lnTo>
                    <a:pt x="519598" y="0"/>
                  </a:lnTo>
                  <a:lnTo>
                    <a:pt x="519598" y="603358"/>
                  </a:lnTo>
                  <a:lnTo>
                    <a:pt x="0" y="603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87" r="0" b="-887"/>
              </a:stretch>
            </a:blip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599346" y="688322"/>
              <a:ext cx="519598" cy="603357"/>
            </a:xfrm>
            <a:custGeom>
              <a:avLst/>
              <a:gdLst/>
              <a:ahLst/>
              <a:cxnLst/>
              <a:rect r="r" b="b" t="t" l="l"/>
              <a:pathLst>
                <a:path h="603357" w="519598">
                  <a:moveTo>
                    <a:pt x="0" y="0"/>
                  </a:moveTo>
                  <a:lnTo>
                    <a:pt x="519598" y="0"/>
                  </a:lnTo>
                  <a:lnTo>
                    <a:pt x="519598" y="603357"/>
                  </a:lnTo>
                  <a:lnTo>
                    <a:pt x="0" y="6033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87" r="0" b="-887"/>
              </a:stretch>
            </a:blip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584991" y="1200128"/>
              <a:ext cx="519598" cy="603357"/>
            </a:xfrm>
            <a:custGeom>
              <a:avLst/>
              <a:gdLst/>
              <a:ahLst/>
              <a:cxnLst/>
              <a:rect r="r" b="b" t="t" l="l"/>
              <a:pathLst>
                <a:path h="603357" w="519598">
                  <a:moveTo>
                    <a:pt x="0" y="0"/>
                  </a:moveTo>
                  <a:lnTo>
                    <a:pt x="519598" y="0"/>
                  </a:lnTo>
                  <a:lnTo>
                    <a:pt x="519598" y="603357"/>
                  </a:lnTo>
                  <a:lnTo>
                    <a:pt x="0" y="6033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87" r="0" b="-887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799339" y="3179204"/>
            <a:ext cx="801459" cy="502707"/>
            <a:chOff x="0" y="0"/>
            <a:chExt cx="673952" cy="42273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73952" cy="422730"/>
            </a:xfrm>
            <a:custGeom>
              <a:avLst/>
              <a:gdLst/>
              <a:ahLst/>
              <a:cxnLst/>
              <a:rect r="r" b="b" t="t" l="l"/>
              <a:pathLst>
                <a:path h="422730" w="673952">
                  <a:moveTo>
                    <a:pt x="239386" y="165700"/>
                  </a:moveTo>
                  <a:lnTo>
                    <a:pt x="673952" y="165700"/>
                  </a:lnTo>
                  <a:lnTo>
                    <a:pt x="673952" y="257011"/>
                  </a:lnTo>
                  <a:lnTo>
                    <a:pt x="239373" y="257011"/>
                  </a:lnTo>
                  <a:lnTo>
                    <a:pt x="302255" y="422730"/>
                  </a:lnTo>
                  <a:lnTo>
                    <a:pt x="0" y="211365"/>
                  </a:lnTo>
                  <a:lnTo>
                    <a:pt x="302255" y="0"/>
                  </a:lnTo>
                  <a:lnTo>
                    <a:pt x="239386" y="1657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120650" y="98425"/>
              <a:ext cx="553302" cy="159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073454"/>
            <a:ext cx="18288000" cy="1213546"/>
          </a:xfrm>
          <a:custGeom>
            <a:avLst/>
            <a:gdLst/>
            <a:ahLst/>
            <a:cxnLst/>
            <a:rect r="r" b="b" t="t" l="l"/>
            <a:pathLst>
              <a:path h="1213546" w="18288000">
                <a:moveTo>
                  <a:pt x="0" y="0"/>
                </a:moveTo>
                <a:lnTo>
                  <a:pt x="18288000" y="0"/>
                </a:lnTo>
                <a:lnTo>
                  <a:pt x="18288000" y="1213546"/>
                </a:lnTo>
                <a:lnTo>
                  <a:pt x="0" y="1213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288" r="0" b="-596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343559" y="9271658"/>
            <a:ext cx="3090818" cy="817139"/>
            <a:chOff x="0" y="0"/>
            <a:chExt cx="812800" cy="2148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14885"/>
            </a:xfrm>
            <a:custGeom>
              <a:avLst/>
              <a:gdLst/>
              <a:ahLst/>
              <a:cxnLst/>
              <a:rect r="r" b="b" t="t" l="l"/>
              <a:pathLst>
                <a:path h="21488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14885"/>
                  </a:lnTo>
                  <a:lnTo>
                    <a:pt x="0" y="214885"/>
                  </a:lnTo>
                  <a:close/>
                </a:path>
              </a:pathLst>
            </a:custGeom>
            <a:solidFill>
              <a:srgbClr val="F2F1E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812800" cy="281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356416" y="9579416"/>
            <a:ext cx="826684" cy="566139"/>
            <a:chOff x="0" y="0"/>
            <a:chExt cx="1102246" cy="7548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10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0" y="1363947"/>
            <a:ext cx="8978204" cy="774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1271" indent="-235636" lvl="1">
              <a:lnSpc>
                <a:spcPts val="26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82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From Deterministic to Probabilistic: </a:t>
            </a:r>
            <a:r>
              <a:rPr lang="en-US" sz="2182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Moving beyond A*'s single fixed-cost calculation (Distance ÷ Speed Limit) to inferring complete probability distributions under traffic uncertainty.</a:t>
            </a:r>
          </a:p>
          <a:p>
            <a:pPr algn="l" marL="471271" indent="-235636" lvl="1">
              <a:lnSpc>
                <a:spcPts val="26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82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Lognormal Traffic Model: </a:t>
            </a:r>
            <a:r>
              <a:rPr lang="en-US" sz="2182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Modeling individual street segments as lognormal random variables to mathematically capture real-world constraints (no negative travel times; "fat tails" for severe congestion).</a:t>
            </a:r>
          </a:p>
          <a:p>
            <a:pPr algn="l" marL="471271" indent="-235636" lvl="1">
              <a:lnSpc>
                <a:spcPts val="26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82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Pace-Centric Covariance Model:</a:t>
            </a:r>
            <a:r>
              <a:rPr lang="en-US" sz="2182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Moving beyond independent segments by utilizing a Multivariate Lognormal distribution and spatial covariance matrix. This captures correlated travel dependencies across the entire path (e.g. traffic jams propagate).</a:t>
            </a:r>
          </a:p>
          <a:p>
            <a:pPr algn="l" marL="471271" indent="-235636" lvl="1">
              <a:lnSpc>
                <a:spcPts val="26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82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True Optimization Metric: </a:t>
            </a:r>
            <a:r>
              <a:rPr lang="en-US" sz="2182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Shifting the inference goal from minimizing raw distance to maximizing the Probability of On-Time Arrival: P(T &lt; T_d) against a strict deadline (our inference improved safe arrival rates from 0.1% to 75.9%).</a:t>
            </a:r>
          </a:p>
          <a:p>
            <a:pPr algn="l" marL="471271" indent="-235636" lvl="1">
              <a:lnSpc>
                <a:spcPts val="26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82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Risk over Reward Valuation: </a:t>
            </a:r>
            <a:r>
              <a:rPr lang="en-US" sz="2182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A* infers perfectly clear roads (suffering a 3.5x congestion impact and massive 2,542s² Variance), while Monte Carlo infers safe, predictable routes (dropping congestion impact to 1.2x and Variance to just 74s²).</a:t>
            </a:r>
          </a:p>
          <a:p>
            <a:pPr algn="l" marL="471271" indent="-235636" lvl="1">
              <a:lnSpc>
                <a:spcPts val="26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82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Key Statistical Inferences:</a:t>
            </a:r>
            <a:r>
              <a:rPr lang="en-US" sz="2182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Extracting real-world metrics including Expected Value (Mean), standard deviation (volatility risk), and the 95th Percentile "Worst-Case" Time (which Monte Carlo</a:t>
            </a:r>
            <a:r>
              <a:rPr lang="en-US" b="true" sz="2182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2182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slashed from 278s down to 73s) for every potential route.</a:t>
            </a:r>
          </a:p>
          <a:p>
            <a:pPr algn="l">
              <a:lnSpc>
                <a:spcPts val="261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144000" y="1736972"/>
            <a:ext cx="8892705" cy="7336482"/>
          </a:xfrm>
          <a:custGeom>
            <a:avLst/>
            <a:gdLst/>
            <a:ahLst/>
            <a:cxnLst/>
            <a:rect r="r" b="b" t="t" l="l"/>
            <a:pathLst>
              <a:path h="7336482" w="8892705">
                <a:moveTo>
                  <a:pt x="0" y="0"/>
                </a:moveTo>
                <a:lnTo>
                  <a:pt x="8892705" y="0"/>
                </a:lnTo>
                <a:lnTo>
                  <a:pt x="8892705" y="7336482"/>
                </a:lnTo>
                <a:lnTo>
                  <a:pt x="0" y="73364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07331" y="654467"/>
            <a:ext cx="9122474" cy="41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b="true" sz="4825">
                <a:solidFill>
                  <a:srgbClr val="7B0C0F"/>
                </a:solidFill>
                <a:latin typeface="Inter Bold"/>
                <a:ea typeface="Inter Bold"/>
                <a:cs typeface="Inter Bold"/>
                <a:sym typeface="Inter Bold"/>
              </a:rPr>
              <a:t>Inference: Domain Perspective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073454"/>
            <a:ext cx="18288000" cy="1213546"/>
          </a:xfrm>
          <a:custGeom>
            <a:avLst/>
            <a:gdLst/>
            <a:ahLst/>
            <a:cxnLst/>
            <a:rect r="r" b="b" t="t" l="l"/>
            <a:pathLst>
              <a:path h="1213546" w="18288000">
                <a:moveTo>
                  <a:pt x="0" y="0"/>
                </a:moveTo>
                <a:lnTo>
                  <a:pt x="18288000" y="0"/>
                </a:lnTo>
                <a:lnTo>
                  <a:pt x="18288000" y="1213546"/>
                </a:lnTo>
                <a:lnTo>
                  <a:pt x="0" y="1213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288" r="0" b="-596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906305"/>
            <a:ext cx="2525234" cy="252523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56357" y="0"/>
                  </a:moveTo>
                  <a:lnTo>
                    <a:pt x="656443" y="0"/>
                  </a:lnTo>
                  <a:cubicBezTo>
                    <a:pt x="742797" y="0"/>
                    <a:pt x="812800" y="70003"/>
                    <a:pt x="812800" y="156357"/>
                  </a:cubicBezTo>
                  <a:lnTo>
                    <a:pt x="812800" y="656443"/>
                  </a:lnTo>
                  <a:cubicBezTo>
                    <a:pt x="812800" y="742797"/>
                    <a:pt x="742797" y="812800"/>
                    <a:pt x="656443" y="812800"/>
                  </a:cubicBezTo>
                  <a:lnTo>
                    <a:pt x="156357" y="812800"/>
                  </a:lnTo>
                  <a:cubicBezTo>
                    <a:pt x="70003" y="812800"/>
                    <a:pt x="0" y="742797"/>
                    <a:pt x="0" y="656443"/>
                  </a:cubicBezTo>
                  <a:lnTo>
                    <a:pt x="0" y="156357"/>
                  </a:lnTo>
                  <a:cubicBezTo>
                    <a:pt x="0" y="70003"/>
                    <a:pt x="70003" y="0"/>
                    <a:pt x="156357" y="0"/>
                  </a:cubicBezTo>
                  <a:close/>
                </a:path>
              </a:pathLst>
            </a:custGeom>
            <a:solidFill>
              <a:srgbClr val="F9D2D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07331" y="654467"/>
            <a:ext cx="12347344" cy="41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b="true" sz="4825">
                <a:solidFill>
                  <a:srgbClr val="7B0C0F"/>
                </a:solidFill>
                <a:latin typeface="Inter Bold"/>
                <a:ea typeface="Inter Bold"/>
                <a:cs typeface="Inter Bold"/>
                <a:sym typeface="Inter Bold"/>
              </a:rPr>
              <a:t>Inference: Computer Science Perspective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381187" y="1865960"/>
            <a:ext cx="2525234" cy="252523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56357" y="0"/>
                  </a:moveTo>
                  <a:lnTo>
                    <a:pt x="656443" y="0"/>
                  </a:lnTo>
                  <a:cubicBezTo>
                    <a:pt x="742797" y="0"/>
                    <a:pt x="812800" y="70003"/>
                    <a:pt x="812800" y="156357"/>
                  </a:cubicBezTo>
                  <a:lnTo>
                    <a:pt x="812800" y="656443"/>
                  </a:lnTo>
                  <a:cubicBezTo>
                    <a:pt x="812800" y="742797"/>
                    <a:pt x="742797" y="812800"/>
                    <a:pt x="656443" y="812800"/>
                  </a:cubicBezTo>
                  <a:lnTo>
                    <a:pt x="156357" y="812800"/>
                  </a:lnTo>
                  <a:cubicBezTo>
                    <a:pt x="70003" y="812800"/>
                    <a:pt x="0" y="742797"/>
                    <a:pt x="0" y="656443"/>
                  </a:cubicBezTo>
                  <a:lnTo>
                    <a:pt x="0" y="156357"/>
                  </a:lnTo>
                  <a:cubicBezTo>
                    <a:pt x="0" y="70003"/>
                    <a:pt x="70003" y="0"/>
                    <a:pt x="156357" y="0"/>
                  </a:cubicBezTo>
                  <a:close/>
                </a:path>
              </a:pathLst>
            </a:custGeom>
            <a:solidFill>
              <a:srgbClr val="F9D2D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776234" y="6643008"/>
            <a:ext cx="2533326" cy="253332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55858" y="0"/>
                  </a:moveTo>
                  <a:lnTo>
                    <a:pt x="656942" y="0"/>
                  </a:lnTo>
                  <a:cubicBezTo>
                    <a:pt x="743020" y="0"/>
                    <a:pt x="812800" y="69780"/>
                    <a:pt x="812800" y="155858"/>
                  </a:cubicBezTo>
                  <a:lnTo>
                    <a:pt x="812800" y="656942"/>
                  </a:lnTo>
                  <a:cubicBezTo>
                    <a:pt x="812800" y="743020"/>
                    <a:pt x="743020" y="812800"/>
                    <a:pt x="656942" y="812800"/>
                  </a:cubicBezTo>
                  <a:lnTo>
                    <a:pt x="155858" y="812800"/>
                  </a:lnTo>
                  <a:cubicBezTo>
                    <a:pt x="69780" y="812800"/>
                    <a:pt x="0" y="743020"/>
                    <a:pt x="0" y="656942"/>
                  </a:cubicBezTo>
                  <a:lnTo>
                    <a:pt x="0" y="155858"/>
                  </a:lnTo>
                  <a:cubicBezTo>
                    <a:pt x="0" y="69780"/>
                    <a:pt x="69780" y="0"/>
                    <a:pt x="155858" y="0"/>
                  </a:cubicBezTo>
                  <a:close/>
                </a:path>
              </a:pathLst>
            </a:custGeom>
            <a:solidFill>
              <a:srgbClr val="F9D2D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202682" y="4093659"/>
            <a:ext cx="2533326" cy="253332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55858" y="0"/>
                  </a:moveTo>
                  <a:lnTo>
                    <a:pt x="656942" y="0"/>
                  </a:lnTo>
                  <a:cubicBezTo>
                    <a:pt x="743020" y="0"/>
                    <a:pt x="812800" y="69780"/>
                    <a:pt x="812800" y="155858"/>
                  </a:cubicBezTo>
                  <a:lnTo>
                    <a:pt x="812800" y="656942"/>
                  </a:lnTo>
                  <a:cubicBezTo>
                    <a:pt x="812800" y="743020"/>
                    <a:pt x="743020" y="812800"/>
                    <a:pt x="656942" y="812800"/>
                  </a:cubicBezTo>
                  <a:lnTo>
                    <a:pt x="155858" y="812800"/>
                  </a:lnTo>
                  <a:cubicBezTo>
                    <a:pt x="69780" y="812800"/>
                    <a:pt x="0" y="743020"/>
                    <a:pt x="0" y="656942"/>
                  </a:cubicBezTo>
                  <a:lnTo>
                    <a:pt x="0" y="155858"/>
                  </a:lnTo>
                  <a:cubicBezTo>
                    <a:pt x="0" y="69780"/>
                    <a:pt x="69780" y="0"/>
                    <a:pt x="155858" y="0"/>
                  </a:cubicBezTo>
                  <a:close/>
                </a:path>
              </a:pathLst>
            </a:custGeom>
            <a:solidFill>
              <a:srgbClr val="F9D2D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784326" y="1865960"/>
            <a:ext cx="2525234" cy="252523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56357" y="0"/>
                  </a:moveTo>
                  <a:lnTo>
                    <a:pt x="656443" y="0"/>
                  </a:lnTo>
                  <a:cubicBezTo>
                    <a:pt x="742797" y="0"/>
                    <a:pt x="812800" y="70003"/>
                    <a:pt x="812800" y="156357"/>
                  </a:cubicBezTo>
                  <a:lnTo>
                    <a:pt x="812800" y="656443"/>
                  </a:lnTo>
                  <a:cubicBezTo>
                    <a:pt x="812800" y="742797"/>
                    <a:pt x="742797" y="812800"/>
                    <a:pt x="656443" y="812800"/>
                  </a:cubicBezTo>
                  <a:lnTo>
                    <a:pt x="156357" y="812800"/>
                  </a:lnTo>
                  <a:cubicBezTo>
                    <a:pt x="70003" y="812800"/>
                    <a:pt x="0" y="742797"/>
                    <a:pt x="0" y="656443"/>
                  </a:cubicBezTo>
                  <a:lnTo>
                    <a:pt x="0" y="156357"/>
                  </a:lnTo>
                  <a:cubicBezTo>
                    <a:pt x="0" y="70003"/>
                    <a:pt x="70003" y="0"/>
                    <a:pt x="156357" y="0"/>
                  </a:cubicBezTo>
                  <a:close/>
                </a:path>
              </a:pathLst>
            </a:custGeom>
            <a:solidFill>
              <a:srgbClr val="F9D2D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3662795" y="3184510"/>
            <a:ext cx="2656172" cy="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0" id="20"/>
          <p:cNvSpPr/>
          <p:nvPr/>
        </p:nvSpPr>
        <p:spPr>
          <a:xfrm>
            <a:off x="9160586" y="3168922"/>
            <a:ext cx="2418797" cy="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1" id="21"/>
          <p:cNvSpPr/>
          <p:nvPr/>
        </p:nvSpPr>
        <p:spPr>
          <a:xfrm>
            <a:off x="14412994" y="4133884"/>
            <a:ext cx="686254" cy="514619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2" id="22"/>
          <p:cNvSpPr/>
          <p:nvPr/>
        </p:nvSpPr>
        <p:spPr>
          <a:xfrm flipH="true">
            <a:off x="14459921" y="6408207"/>
            <a:ext cx="688334" cy="469602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3" id="23"/>
          <p:cNvSpPr txBox="true"/>
          <p:nvPr/>
        </p:nvSpPr>
        <p:spPr>
          <a:xfrm rot="0">
            <a:off x="1159357" y="2176889"/>
            <a:ext cx="2394323" cy="1986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2"/>
              </a:lnSpc>
            </a:pPr>
            <a:r>
              <a:rPr lang="en-US" sz="1544" b="true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Deterministic Approach</a:t>
            </a:r>
          </a:p>
          <a:p>
            <a:pPr algn="l">
              <a:lnSpc>
                <a:spcPts val="2162"/>
              </a:lnSpc>
            </a:pPr>
          </a:p>
          <a:p>
            <a:pPr algn="l">
              <a:lnSpc>
                <a:spcPts val="1933"/>
              </a:lnSpc>
            </a:pPr>
            <a:r>
              <a:rPr lang="en-US" sz="1380" b="true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A* Pathfinding</a:t>
            </a:r>
          </a:p>
          <a:p>
            <a:pPr algn="l" marL="298158" indent="-149079" lvl="1">
              <a:lnSpc>
                <a:spcPts val="1933"/>
              </a:lnSpc>
              <a:buFont typeface="Arial"/>
              <a:buChar char="•"/>
            </a:pPr>
            <a:r>
              <a:rPr lang="en-US" b="true" sz="1380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Uses fixed edge costs</a:t>
            </a:r>
          </a:p>
          <a:p>
            <a:pPr algn="l" marL="298158" indent="-149079" lvl="1">
              <a:lnSpc>
                <a:spcPts val="1933"/>
              </a:lnSpc>
              <a:buFont typeface="Arial"/>
              <a:buChar char="•"/>
            </a:pPr>
            <a:r>
              <a:rPr lang="en-US" b="true" sz="1380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Finds shortest path quickly</a:t>
            </a:r>
          </a:p>
          <a:p>
            <a:pPr algn="l" marL="298158" indent="-149079" lvl="1">
              <a:lnSpc>
                <a:spcPts val="1933"/>
              </a:lnSpc>
              <a:buFont typeface="Arial"/>
              <a:buChar char="•"/>
            </a:pPr>
            <a:r>
              <a:rPr lang="en-US" b="true" sz="1380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Assumes static conditions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53799" y="2015783"/>
            <a:ext cx="2180008" cy="2259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5"/>
              </a:lnSpc>
            </a:pPr>
            <a:r>
              <a:rPr lang="en-US" sz="1546" b="true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Real-World Limitation</a:t>
            </a:r>
          </a:p>
          <a:p>
            <a:pPr algn="l">
              <a:lnSpc>
                <a:spcPts val="1968"/>
              </a:lnSpc>
            </a:pPr>
          </a:p>
          <a:p>
            <a:pPr algn="l" marL="303639" indent="-151820" lvl="1">
              <a:lnSpc>
                <a:spcPts val="1968"/>
              </a:lnSpc>
              <a:buFont typeface="Arial"/>
              <a:buChar char="•"/>
            </a:pPr>
            <a:r>
              <a:rPr lang="en-US" b="true" sz="1406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</a:t>
            </a:r>
            <a:r>
              <a:rPr lang="en-US" b="true" sz="1406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affic conditions vary constantly</a:t>
            </a:r>
          </a:p>
          <a:p>
            <a:pPr algn="l" marL="303639" indent="-151820" lvl="1">
              <a:lnSpc>
                <a:spcPts val="1968"/>
              </a:lnSpc>
              <a:buFont typeface="Arial"/>
              <a:buChar char="•"/>
            </a:pPr>
            <a:r>
              <a:rPr lang="en-US" b="true" sz="1406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Delays a</a:t>
            </a:r>
            <a:r>
              <a:rPr lang="en-US" b="true" sz="1406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nd congestion are uncertain</a:t>
            </a:r>
          </a:p>
          <a:p>
            <a:pPr algn="l" marL="303639" indent="-151820" lvl="1">
              <a:lnSpc>
                <a:spcPts val="1968"/>
              </a:lnSpc>
              <a:buFont typeface="Arial"/>
              <a:buChar char="•"/>
            </a:pPr>
            <a:r>
              <a:rPr lang="en-US" b="true" sz="1406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Fixed </a:t>
            </a:r>
            <a:r>
              <a:rPr lang="en-US" b="true" sz="1406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models become unreliable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49781" y="2028468"/>
            <a:ext cx="2375263" cy="2246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1554" b="true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Monte</a:t>
            </a:r>
            <a:r>
              <a:rPr lang="en-US" sz="1554" b="true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Carlo Method</a:t>
            </a:r>
          </a:p>
          <a:p>
            <a:pPr algn="l">
              <a:lnSpc>
                <a:spcPts val="1967"/>
              </a:lnSpc>
            </a:pPr>
          </a:p>
          <a:p>
            <a:pPr algn="l" marL="303480" indent="-151740" lvl="1">
              <a:lnSpc>
                <a:spcPts val="1967"/>
              </a:lnSpc>
              <a:buFont typeface="Arial"/>
              <a:buChar char="•"/>
            </a:pPr>
            <a:r>
              <a:rPr lang="en-US" b="true" sz="1405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Run</a:t>
            </a:r>
            <a:r>
              <a:rPr lang="en-US" b="true" sz="1405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 multiple traffic simulations</a:t>
            </a:r>
          </a:p>
          <a:p>
            <a:pPr algn="l" marL="303480" indent="-151740" lvl="1">
              <a:lnSpc>
                <a:spcPts val="1967"/>
              </a:lnSpc>
              <a:buFont typeface="Arial"/>
              <a:buChar char="•"/>
            </a:pPr>
            <a:r>
              <a:rPr lang="en-US" b="true" sz="1405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Models real-world uncertainty</a:t>
            </a:r>
          </a:p>
          <a:p>
            <a:pPr algn="l" marL="303480" indent="-151740" lvl="1">
              <a:lnSpc>
                <a:spcPts val="1967"/>
              </a:lnSpc>
              <a:buFont typeface="Arial"/>
              <a:buChar char="•"/>
            </a:pPr>
            <a:r>
              <a:rPr lang="en-US" b="true" sz="1405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</a:t>
            </a:r>
            <a:r>
              <a:rPr lang="en-US" b="true" sz="1405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tilizes spatial covariance matrices for multivariate sampling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380283" y="4256780"/>
            <a:ext cx="2178125" cy="2235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</a:pPr>
            <a:r>
              <a:rPr lang="en-US" sz="1551" b="true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Reliability-Based </a:t>
            </a:r>
            <a:r>
              <a:rPr lang="en-US" sz="1551" b="true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Routing</a:t>
            </a:r>
          </a:p>
          <a:p>
            <a:pPr algn="l">
              <a:lnSpc>
                <a:spcPts val="1967"/>
              </a:lnSpc>
            </a:pPr>
          </a:p>
          <a:p>
            <a:pPr algn="l" marL="303376" indent="-151688" lvl="1">
              <a:lnSpc>
                <a:spcPts val="1967"/>
              </a:lnSpc>
              <a:buFont typeface="Arial"/>
              <a:buChar char="•"/>
            </a:pPr>
            <a:r>
              <a:rPr lang="en-US" b="true" sz="1405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Select</a:t>
            </a:r>
            <a:r>
              <a:rPr lang="en-US" b="true" sz="1405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 routes with stable performance</a:t>
            </a:r>
          </a:p>
          <a:p>
            <a:pPr algn="l" marL="303376" indent="-151688" lvl="1">
              <a:lnSpc>
                <a:spcPts val="1967"/>
              </a:lnSpc>
              <a:buFont typeface="Arial"/>
              <a:buChar char="•"/>
            </a:pPr>
            <a:r>
              <a:rPr lang="en-US" b="true" sz="1405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Considers variability, not just dist</a:t>
            </a:r>
            <a:r>
              <a:rPr lang="en-US" b="true" sz="1405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ance</a:t>
            </a:r>
          </a:p>
          <a:p>
            <a:pPr algn="l" marL="303376" indent="-151688" lvl="1">
              <a:lnSpc>
                <a:spcPts val="1967"/>
              </a:lnSpc>
              <a:buFont typeface="Arial"/>
              <a:buChar char="•"/>
            </a:pPr>
            <a:r>
              <a:rPr lang="en-US" b="true" sz="1405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</a:t>
            </a:r>
            <a:r>
              <a:rPr lang="en-US" b="true" sz="1405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uces risk of unexpected delays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841899" y="6806129"/>
            <a:ext cx="2401996" cy="2452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9"/>
              </a:lnSpc>
            </a:pPr>
            <a:r>
              <a:rPr lang="en-US" sz="1549" b="true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Parallel</a:t>
            </a:r>
            <a:r>
              <a:rPr lang="en-US" sz="1549" b="true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Computation</a:t>
            </a:r>
          </a:p>
          <a:p>
            <a:pPr algn="l">
              <a:lnSpc>
                <a:spcPts val="2169"/>
              </a:lnSpc>
            </a:pPr>
          </a:p>
          <a:p>
            <a:pPr algn="l" marL="334558" indent="-167279" lvl="1">
              <a:lnSpc>
                <a:spcPts val="2169"/>
              </a:lnSpc>
              <a:buFont typeface="Arial"/>
              <a:buChar char="•"/>
            </a:pPr>
            <a:r>
              <a:rPr lang="en-US" b="true" sz="1549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</a:t>
            </a:r>
            <a:r>
              <a:rPr lang="en-US" b="true" sz="1549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mulations can run simultaneously</a:t>
            </a:r>
          </a:p>
          <a:p>
            <a:pPr algn="l" marL="334558" indent="-167279" lvl="1">
              <a:lnSpc>
                <a:spcPts val="2169"/>
              </a:lnSpc>
              <a:buFont typeface="Arial"/>
              <a:buChar char="•"/>
            </a:pPr>
            <a:r>
              <a:rPr lang="en-US" b="true" sz="1549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</a:t>
            </a:r>
            <a:r>
              <a:rPr lang="en-US" b="true" sz="1549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oves efficiency and speed</a:t>
            </a:r>
          </a:p>
          <a:p>
            <a:pPr algn="l" marL="334558" indent="-167279" lvl="1">
              <a:lnSpc>
                <a:spcPts val="2169"/>
              </a:lnSpc>
              <a:buFont typeface="Arial"/>
              <a:buChar char="•"/>
            </a:pPr>
            <a:r>
              <a:rPr lang="en-US" b="true" sz="1549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Suitable for real-time systems</a:t>
            </a:r>
          </a:p>
          <a:p>
            <a:pPr algn="l">
              <a:lnSpc>
                <a:spcPts val="216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1893583" y="1122603"/>
            <a:ext cx="2566338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b="true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(Sh</a:t>
            </a:r>
            <a:r>
              <a:rPr lang="en-US" b="true" sz="1899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ift to Probabilistic </a:t>
            </a:r>
          </a:p>
          <a:p>
            <a:pPr algn="ctr">
              <a:lnSpc>
                <a:spcPts val="2659"/>
              </a:lnSpc>
            </a:pPr>
            <a:r>
              <a:rPr lang="en-US" b="true" sz="1899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Modeling)</a:t>
            </a:r>
          </a:p>
        </p:txBody>
      </p:sp>
      <p:sp>
        <p:nvSpPr>
          <p:cNvPr name="AutoShape 29" id="29"/>
          <p:cNvSpPr/>
          <p:nvPr/>
        </p:nvSpPr>
        <p:spPr>
          <a:xfrm flipH="true">
            <a:off x="9144000" y="7862046"/>
            <a:ext cx="2418797" cy="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6494941" y="6548220"/>
            <a:ext cx="2525234" cy="2525234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56357" y="0"/>
                  </a:moveTo>
                  <a:lnTo>
                    <a:pt x="656443" y="0"/>
                  </a:lnTo>
                  <a:cubicBezTo>
                    <a:pt x="742797" y="0"/>
                    <a:pt x="812800" y="70003"/>
                    <a:pt x="812800" y="156357"/>
                  </a:cubicBezTo>
                  <a:lnTo>
                    <a:pt x="812800" y="656443"/>
                  </a:lnTo>
                  <a:cubicBezTo>
                    <a:pt x="812800" y="742797"/>
                    <a:pt x="742797" y="812800"/>
                    <a:pt x="656443" y="812800"/>
                  </a:cubicBezTo>
                  <a:lnTo>
                    <a:pt x="156357" y="812800"/>
                  </a:lnTo>
                  <a:cubicBezTo>
                    <a:pt x="70003" y="812800"/>
                    <a:pt x="0" y="742797"/>
                    <a:pt x="0" y="656443"/>
                  </a:cubicBezTo>
                  <a:lnTo>
                    <a:pt x="0" y="156357"/>
                  </a:lnTo>
                  <a:cubicBezTo>
                    <a:pt x="0" y="70003"/>
                    <a:pt x="70003" y="0"/>
                    <a:pt x="156357" y="0"/>
                  </a:cubicBezTo>
                  <a:close/>
                </a:path>
              </a:pathLst>
            </a:custGeom>
            <a:solidFill>
              <a:srgbClr val="F9D2D3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6724431" y="6715625"/>
            <a:ext cx="2181989" cy="2460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7"/>
              </a:lnSpc>
            </a:pPr>
            <a:r>
              <a:rPr lang="en-US" sz="1262" b="true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Vectorized Computation</a:t>
            </a:r>
          </a:p>
          <a:p>
            <a:pPr algn="l">
              <a:lnSpc>
                <a:spcPts val="1607"/>
              </a:lnSpc>
            </a:pPr>
          </a:p>
          <a:p>
            <a:pPr algn="l" marL="247920" indent="-123960" lvl="1">
              <a:lnSpc>
                <a:spcPts val="1607"/>
              </a:lnSpc>
              <a:buFont typeface="Arial"/>
              <a:buChar char="•"/>
            </a:pPr>
            <a:r>
              <a:rPr lang="en-US" b="true" sz="1148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Replaces basic loops with NumPy Vectorized Matrix Operations</a:t>
            </a:r>
          </a:p>
          <a:p>
            <a:pPr algn="l" marL="247920" indent="-123960" lvl="1">
              <a:lnSpc>
                <a:spcPts val="1607"/>
              </a:lnSpc>
              <a:buFont typeface="Arial"/>
              <a:buChar char="•"/>
            </a:pPr>
            <a:r>
              <a:rPr lang="en-US" b="true" sz="1148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Processes thousands of iterations simultaneously in a single memory block</a:t>
            </a:r>
          </a:p>
          <a:p>
            <a:pPr algn="l" marL="247920" indent="-123960" lvl="1">
              <a:lnSpc>
                <a:spcPts val="1607"/>
              </a:lnSpc>
              <a:buFont typeface="Arial"/>
              <a:buChar char="•"/>
            </a:pPr>
            <a:r>
              <a:rPr lang="en-US" b="true" sz="1148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Dramatically reduces execution overhead and runtime</a:t>
            </a:r>
          </a:p>
          <a:p>
            <a:pPr algn="l">
              <a:lnSpc>
                <a:spcPts val="1607"/>
              </a:lnSpc>
            </a:pPr>
          </a:p>
        </p:txBody>
      </p:sp>
      <p:grpSp>
        <p:nvGrpSpPr>
          <p:cNvPr name="Group 34" id="34"/>
          <p:cNvGrpSpPr/>
          <p:nvPr/>
        </p:nvGrpSpPr>
        <p:grpSpPr>
          <a:xfrm rot="0">
            <a:off x="978857" y="6431917"/>
            <a:ext cx="2525234" cy="2525234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56357" y="0"/>
                  </a:moveTo>
                  <a:lnTo>
                    <a:pt x="656443" y="0"/>
                  </a:lnTo>
                  <a:cubicBezTo>
                    <a:pt x="742797" y="0"/>
                    <a:pt x="812800" y="70003"/>
                    <a:pt x="812800" y="156357"/>
                  </a:cubicBezTo>
                  <a:lnTo>
                    <a:pt x="812800" y="656443"/>
                  </a:lnTo>
                  <a:cubicBezTo>
                    <a:pt x="812800" y="742797"/>
                    <a:pt x="742797" y="812800"/>
                    <a:pt x="656443" y="812800"/>
                  </a:cubicBezTo>
                  <a:lnTo>
                    <a:pt x="156357" y="812800"/>
                  </a:lnTo>
                  <a:cubicBezTo>
                    <a:pt x="70003" y="812800"/>
                    <a:pt x="0" y="742797"/>
                    <a:pt x="0" y="656443"/>
                  </a:cubicBezTo>
                  <a:lnTo>
                    <a:pt x="0" y="156357"/>
                  </a:lnTo>
                  <a:cubicBezTo>
                    <a:pt x="0" y="70003"/>
                    <a:pt x="70003" y="0"/>
                    <a:pt x="156357" y="0"/>
                  </a:cubicBezTo>
                  <a:close/>
                </a:path>
              </a:pathLst>
            </a:custGeom>
            <a:solidFill>
              <a:srgbClr val="F9D2D3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65164" y="6784947"/>
            <a:ext cx="2352621" cy="1790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0"/>
              </a:lnSpc>
            </a:pPr>
            <a:r>
              <a:rPr lang="en-US" sz="1264" b="true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Probabilistic Path Evaluation</a:t>
            </a:r>
          </a:p>
          <a:p>
            <a:pPr algn="l">
              <a:lnSpc>
                <a:spcPts val="1770"/>
              </a:lnSpc>
            </a:pPr>
          </a:p>
          <a:p>
            <a:pPr algn="l" marL="273035" indent="-136518" lvl="1">
              <a:lnSpc>
                <a:spcPts val="1770"/>
              </a:lnSpc>
              <a:buFont typeface="Arial"/>
              <a:buChar char="•"/>
            </a:pPr>
            <a:r>
              <a:rPr lang="en-US" b="true" sz="1264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Models nonl</a:t>
            </a:r>
            <a:r>
              <a:rPr lang="en-US" b="true" sz="1264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inear congestion across nodes.</a:t>
            </a:r>
          </a:p>
          <a:p>
            <a:pPr algn="l" marL="273035" indent="-136518" lvl="1">
              <a:lnSpc>
                <a:spcPts val="1770"/>
              </a:lnSpc>
              <a:buFont typeface="Arial"/>
              <a:buChar char="•"/>
            </a:pPr>
            <a:r>
              <a:rPr lang="en-US" b="true" sz="1264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Minimizes statistical variance ov</a:t>
            </a:r>
            <a:r>
              <a:rPr lang="en-US" b="true" sz="1264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 static</a:t>
            </a:r>
            <a:r>
              <a:rPr lang="en-US" b="true" sz="1264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cost.</a:t>
            </a:r>
          </a:p>
          <a:p>
            <a:pPr algn="l" marL="273035" indent="-136518" lvl="1">
              <a:lnSpc>
                <a:spcPts val="1770"/>
              </a:lnSpc>
              <a:buFont typeface="Arial"/>
              <a:buChar char="•"/>
            </a:pPr>
            <a:r>
              <a:rPr lang="en-US" b="true" sz="1264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Prioritizes stability rather than raw distance.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4343559" y="9271658"/>
            <a:ext cx="3090818" cy="817139"/>
            <a:chOff x="0" y="0"/>
            <a:chExt cx="812800" cy="21488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214885"/>
            </a:xfrm>
            <a:custGeom>
              <a:avLst/>
              <a:gdLst/>
              <a:ahLst/>
              <a:cxnLst/>
              <a:rect r="r" b="b" t="t" l="l"/>
              <a:pathLst>
                <a:path h="21488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14885"/>
                  </a:lnTo>
                  <a:lnTo>
                    <a:pt x="0" y="214885"/>
                  </a:lnTo>
                  <a:close/>
                </a:path>
              </a:pathLst>
            </a:custGeom>
            <a:solidFill>
              <a:srgbClr val="F2F1EE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812800" cy="281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6356416" y="9579416"/>
            <a:ext cx="826684" cy="566139"/>
            <a:chOff x="0" y="0"/>
            <a:chExt cx="1102246" cy="7548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11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flipH="true">
            <a:off x="3790118" y="7677957"/>
            <a:ext cx="2418797" cy="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5" id="45"/>
          <p:cNvSpPr txBox="true"/>
          <p:nvPr/>
        </p:nvSpPr>
        <p:spPr>
          <a:xfrm rot="0">
            <a:off x="6935193" y="5751617"/>
            <a:ext cx="164472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b="true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(Sh</a:t>
            </a:r>
            <a:r>
              <a:rPr lang="en-US" b="true" sz="1899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ift to PACE</a:t>
            </a:r>
          </a:p>
          <a:p>
            <a:pPr algn="ctr">
              <a:lnSpc>
                <a:spcPts val="2659"/>
              </a:lnSpc>
            </a:pPr>
            <a:r>
              <a:rPr lang="en-US" b="true" sz="1899">
                <a:solidFill>
                  <a:srgbClr val="7B0C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Modeling)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073454"/>
            <a:ext cx="18288000" cy="1213546"/>
          </a:xfrm>
          <a:custGeom>
            <a:avLst/>
            <a:gdLst/>
            <a:ahLst/>
            <a:cxnLst/>
            <a:rect r="r" b="b" t="t" l="l"/>
            <a:pathLst>
              <a:path h="1213546" w="18288000">
                <a:moveTo>
                  <a:pt x="0" y="0"/>
                </a:moveTo>
                <a:lnTo>
                  <a:pt x="18288000" y="0"/>
                </a:lnTo>
                <a:lnTo>
                  <a:pt x="18288000" y="1213546"/>
                </a:lnTo>
                <a:lnTo>
                  <a:pt x="0" y="1213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288" r="0" b="-596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343559" y="9271658"/>
            <a:ext cx="3090818" cy="817139"/>
            <a:chOff x="0" y="0"/>
            <a:chExt cx="812800" cy="2148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14885"/>
            </a:xfrm>
            <a:custGeom>
              <a:avLst/>
              <a:gdLst/>
              <a:ahLst/>
              <a:cxnLst/>
              <a:rect r="r" b="b" t="t" l="l"/>
              <a:pathLst>
                <a:path h="21488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14885"/>
                  </a:lnTo>
                  <a:lnTo>
                    <a:pt x="0" y="214885"/>
                  </a:lnTo>
                  <a:close/>
                </a:path>
              </a:pathLst>
            </a:custGeom>
            <a:solidFill>
              <a:srgbClr val="F2F1E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812800" cy="281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356416" y="9579416"/>
            <a:ext cx="826684" cy="566139"/>
            <a:chOff x="0" y="0"/>
            <a:chExt cx="1102246" cy="7548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9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167516"/>
            <a:ext cx="3398139" cy="41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b="true" sz="4825">
                <a:solidFill>
                  <a:srgbClr val="7B0C0F"/>
                </a:solidFill>
                <a:latin typeface="Inter Bold"/>
                <a:ea typeface="Inter Bold"/>
                <a:cs typeface="Inter Bold"/>
                <a:sym typeface="Inter Bold"/>
              </a:rPr>
              <a:t>References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359597"/>
            <a:ext cx="15791345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b="true" sz="3099">
                <a:solidFill>
                  <a:srgbClr val="7B0C0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Base paper: </a:t>
            </a:r>
            <a:r>
              <a:rPr lang="en-US" sz="3099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Andono</a:t>
            </a:r>
            <a:r>
              <a:rPr lang="en-US" sz="3099">
                <a:solidFill>
                  <a:srgbClr val="7B0C0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v, G., &amp; Yang, B.  (2018) . A new formulation of the shortest path problem with on-time arrival reliability . arXiv preprint arXiv:1804.07829.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035179"/>
            <a:ext cx="15556826" cy="2712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7B0C0F"/>
                </a:solidFill>
                <a:latin typeface="Arimo Bold"/>
                <a:ea typeface="Arimo Bold"/>
                <a:cs typeface="Arimo Bold"/>
                <a:sym typeface="Arimo Bold"/>
              </a:rPr>
              <a:t>Other reference links:</a:t>
            </a:r>
            <a:r>
              <a:rPr lang="en-US" sz="3099">
                <a:solidFill>
                  <a:srgbClr val="7B0C0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4339"/>
              </a:lnSpc>
            </a:pPr>
            <a:r>
              <a:rPr lang="en-US" sz="3099" u="sng">
                <a:solidFill>
                  <a:srgbClr val="7B0C0F"/>
                </a:solidFill>
                <a:latin typeface="Arimo"/>
                <a:ea typeface="Arimo"/>
                <a:cs typeface="Arimo"/>
                <a:sym typeface="Arimo"/>
                <a:hlinkClick r:id="rId4" tooltip="https://www.youtube.com/watch?v=OdWLP8umw3Ahttps://medium.com/data-science/monte-carlo-simulation-a-practical-guide-85da45597f0e"/>
              </a:rPr>
              <a:t>https://www.youtube.com/watch?v=OdWLP8umw3A</a:t>
            </a:r>
          </a:p>
          <a:p>
            <a:pPr algn="l">
              <a:lnSpc>
                <a:spcPts val="4339"/>
              </a:lnSpc>
            </a:pPr>
            <a:r>
              <a:rPr lang="en-US" sz="3099" u="sng">
                <a:solidFill>
                  <a:srgbClr val="7B0C0F"/>
                </a:solidFill>
                <a:latin typeface="Arimo"/>
                <a:ea typeface="Arimo"/>
                <a:cs typeface="Arimo"/>
                <a:sym typeface="Arimo"/>
                <a:hlinkClick r:id="rId5" tooltip="https://www.youtube.com/watch?v=OdWLP8umw3Ahttps://medium.com/data-science/monte-carlo-simulation-a-practical-guide-85da45597f0e"/>
              </a:rPr>
              <a:t>https://medium.com/data-science/monte-carlo-simulation-a-practical-guide-85da45597f0e</a:t>
            </a:r>
          </a:p>
          <a:p>
            <a:pPr algn="l">
              <a:lnSpc>
                <a:spcPts val="4339"/>
              </a:lnSpc>
            </a:pPr>
            <a:r>
              <a:rPr lang="en-US" sz="3099" u="sng">
                <a:solidFill>
                  <a:srgbClr val="7B0C0F"/>
                </a:solidFill>
                <a:latin typeface="Arimo"/>
                <a:ea typeface="Arimo"/>
                <a:cs typeface="Arimo"/>
                <a:sym typeface="Arimo"/>
              </a:rPr>
              <a:t>https://youtu.be/NOPn9sE0AdY?si=vy9KWv7o0keJZOPr</a:t>
            </a:r>
          </a:p>
          <a:p>
            <a:pPr algn="l">
              <a:lnSpc>
                <a:spcPts val="4339"/>
              </a:lnSpc>
            </a:pPr>
            <a:r>
              <a:rPr lang="en-US" sz="3099" u="sng">
                <a:solidFill>
                  <a:srgbClr val="7B0C0F"/>
                </a:solidFill>
                <a:latin typeface="Arimo"/>
                <a:ea typeface="Arimo"/>
                <a:cs typeface="Arimo"/>
                <a:sym typeface="Arimo"/>
              </a:rPr>
              <a:t>https://web.stanford.edu/class/archive/cs/cs109/cs109.1218/files/student_drive/6.1.pdf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073454"/>
            <a:ext cx="18288000" cy="1213546"/>
          </a:xfrm>
          <a:custGeom>
            <a:avLst/>
            <a:gdLst/>
            <a:ahLst/>
            <a:cxnLst/>
            <a:rect r="r" b="b" t="t" l="l"/>
            <a:pathLst>
              <a:path h="1213546" w="18288000">
                <a:moveTo>
                  <a:pt x="0" y="0"/>
                </a:moveTo>
                <a:lnTo>
                  <a:pt x="18288000" y="0"/>
                </a:lnTo>
                <a:lnTo>
                  <a:pt x="18288000" y="1213546"/>
                </a:lnTo>
                <a:lnTo>
                  <a:pt x="0" y="1213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288" r="0" b="-596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343559" y="9271658"/>
            <a:ext cx="3090818" cy="817139"/>
            <a:chOff x="0" y="0"/>
            <a:chExt cx="812800" cy="2148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14885"/>
            </a:xfrm>
            <a:custGeom>
              <a:avLst/>
              <a:gdLst/>
              <a:ahLst/>
              <a:cxnLst/>
              <a:rect r="r" b="b" t="t" l="l"/>
              <a:pathLst>
                <a:path h="21488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14885"/>
                  </a:lnTo>
                  <a:lnTo>
                    <a:pt x="0" y="214885"/>
                  </a:lnTo>
                  <a:close/>
                </a:path>
              </a:pathLst>
            </a:custGeom>
            <a:solidFill>
              <a:srgbClr val="F2F1E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812800" cy="281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356416" y="9579416"/>
            <a:ext cx="826684" cy="566139"/>
            <a:chOff x="0" y="0"/>
            <a:chExt cx="1102246" cy="7548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10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773757" y="4994062"/>
            <a:ext cx="10740485" cy="1384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5"/>
              </a:lnSpc>
            </a:pPr>
            <a:r>
              <a:rPr lang="en-US" b="true" sz="16230">
                <a:solidFill>
                  <a:srgbClr val="7B0C0F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DAHFZEj_8zw</dc:identifier>
  <dcterms:modified xsi:type="dcterms:W3CDTF">2011-08-01T06:04:30Z</dcterms:modified>
  <cp:revision>1</cp:revision>
  <dc:title>31/01/26 Presentation CSE400</dc:title>
</cp:coreProperties>
</file>