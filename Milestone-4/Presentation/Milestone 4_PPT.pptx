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charset="1" panose="020B0604020202020204"/>
      <p:regular r:id="rId16"/>
    </p:embeddedFont>
    <p:embeddedFont>
      <p:font typeface="IBM Plex Sans" charset="1" panose="020B0503050203000203"/>
      <p:regular r:id="rId17"/>
    </p:embeddedFont>
    <p:embeddedFont>
      <p:font typeface="IBM Plex Sans Italics" charset="1" panose="020B05030502030002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10" id="10"/>
          <p:cNvGrpSpPr/>
          <p:nvPr/>
        </p:nvGrpSpPr>
        <p:grpSpPr>
          <a:xfrm rot="0">
            <a:off x="758028" y="720328"/>
            <a:ext cx="5897566" cy="8846344"/>
            <a:chOff x="0" y="0"/>
            <a:chExt cx="7863421" cy="11795125"/>
          </a:xfrm>
        </p:grpSpPr>
        <p:sp>
          <p:nvSpPr>
            <p:cNvPr name="Freeform 11" id="11" descr="preencoded.png"/>
            <p:cNvSpPr/>
            <p:nvPr/>
          </p:nvSpPr>
          <p:spPr>
            <a:xfrm flipH="false" flipV="false" rot="0">
              <a:off x="0" y="0"/>
              <a:ext cx="7863459" cy="11795125"/>
            </a:xfrm>
            <a:custGeom>
              <a:avLst/>
              <a:gdLst/>
              <a:ahLst/>
              <a:cxnLst/>
              <a:rect r="r" b="b" t="t" l="l"/>
              <a:pathLst>
                <a:path h="11795125" w="7863459">
                  <a:moveTo>
                    <a:pt x="0" y="0"/>
                  </a:moveTo>
                  <a:lnTo>
                    <a:pt x="7863459" y="0"/>
                  </a:lnTo>
                  <a:lnTo>
                    <a:pt x="7863459" y="11795125"/>
                  </a:lnTo>
                  <a:lnTo>
                    <a:pt x="0" y="11795125"/>
                  </a:lnTo>
                  <a:lnTo>
                    <a:pt x="0" y="0"/>
                  </a:lnTo>
                  <a:close/>
                </a:path>
              </a:pathLst>
            </a:custGeom>
            <a:blipFill>
              <a:blip r:embed="rId4"/>
              <a:stretch>
                <a:fillRect l="0" t="0" r="0" b="0"/>
              </a:stretch>
            </a:blipFill>
          </p:spPr>
        </p:sp>
      </p:grpSp>
      <p:sp>
        <p:nvSpPr>
          <p:cNvPr name="TextBox 12" id="12"/>
          <p:cNvSpPr txBox="true"/>
          <p:nvPr/>
        </p:nvSpPr>
        <p:spPr>
          <a:xfrm rot="0">
            <a:off x="7850238" y="2648102"/>
            <a:ext cx="7306418" cy="3601041"/>
          </a:xfrm>
          <a:prstGeom prst="rect">
            <a:avLst/>
          </a:prstGeom>
        </p:spPr>
        <p:txBody>
          <a:bodyPr anchor="t" rtlCol="false" tIns="0" lIns="0" bIns="0" rIns="0">
            <a:spAutoFit/>
          </a:bodyPr>
          <a:lstStyle/>
          <a:p>
            <a:pPr algn="l">
              <a:lnSpc>
                <a:spcPts val="6937"/>
              </a:lnSpc>
            </a:pPr>
            <a:r>
              <a:rPr lang="en-US" sz="5562">
                <a:solidFill>
                  <a:srgbClr val="000000"/>
                </a:solidFill>
                <a:latin typeface="Arimo"/>
                <a:ea typeface="Arimo"/>
                <a:cs typeface="Arimo"/>
                <a:sym typeface="Arimo"/>
              </a:rPr>
              <a:t>Randomized Algorithm for Probabilistic Route Optimization under Uncertainty</a:t>
            </a:r>
          </a:p>
        </p:txBody>
      </p:sp>
      <p:sp>
        <p:nvSpPr>
          <p:cNvPr name="TextBox 13" id="13"/>
          <p:cNvSpPr txBox="true"/>
          <p:nvPr/>
        </p:nvSpPr>
        <p:spPr>
          <a:xfrm rot="0">
            <a:off x="7850238" y="6588623"/>
            <a:ext cx="7973168" cy="992981"/>
          </a:xfrm>
          <a:prstGeom prst="rect">
            <a:avLst/>
          </a:prstGeom>
        </p:spPr>
        <p:txBody>
          <a:bodyPr anchor="t" rtlCol="false" tIns="0" lIns="0" bIns="0" rIns="0">
            <a:spAutoFit/>
          </a:bodyPr>
          <a:lstStyle/>
          <a:p>
            <a:pPr algn="l">
              <a:lnSpc>
                <a:spcPts val="3562"/>
              </a:lnSpc>
            </a:pPr>
            <a:r>
              <a:rPr lang="en-US" sz="2187">
                <a:solidFill>
                  <a:srgbClr val="666666"/>
                </a:solidFill>
                <a:latin typeface="IBM Plex Sans"/>
                <a:ea typeface="IBM Plex Sans"/>
                <a:cs typeface="IBM Plex Sans"/>
                <a:sym typeface="IBM Plex Sans"/>
              </a:rPr>
              <a:t>Improving route selection reliability through stochastic simulation and probabilistic reasoning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4161311" y="1208484"/>
            <a:ext cx="9792814" cy="1829095"/>
          </a:xfrm>
          <a:prstGeom prst="rect">
            <a:avLst/>
          </a:prstGeom>
        </p:spPr>
        <p:txBody>
          <a:bodyPr anchor="t" rtlCol="false" tIns="0" lIns="0" bIns="0" rIns="0">
            <a:spAutoFit/>
          </a:bodyPr>
          <a:lstStyle/>
          <a:p>
            <a:pPr algn="l">
              <a:lnSpc>
                <a:spcPts val="6937"/>
              </a:lnSpc>
            </a:pPr>
            <a:r>
              <a:rPr lang="en-US" sz="5562">
                <a:solidFill>
                  <a:srgbClr val="3F6FF3"/>
                </a:solidFill>
                <a:latin typeface="Arimo"/>
                <a:ea typeface="Arimo"/>
                <a:cs typeface="Arimo"/>
                <a:sym typeface="Arimo"/>
              </a:rPr>
              <a:t>Project Context and Motivation</a:t>
            </a:r>
          </a:p>
        </p:txBody>
      </p:sp>
      <p:sp>
        <p:nvSpPr>
          <p:cNvPr name="TextBox 11" id="11"/>
          <p:cNvSpPr txBox="true"/>
          <p:nvPr/>
        </p:nvSpPr>
        <p:spPr>
          <a:xfrm rot="0">
            <a:off x="3440163" y="2902744"/>
            <a:ext cx="4252912" cy="569709"/>
          </a:xfrm>
          <a:prstGeom prst="rect">
            <a:avLst/>
          </a:prstGeom>
        </p:spPr>
        <p:txBody>
          <a:bodyPr anchor="t" rtlCol="false" tIns="0" lIns="0" bIns="0" rIns="0">
            <a:spAutoFit/>
          </a:bodyPr>
          <a:lstStyle/>
          <a:p>
            <a:pPr algn="ctr">
              <a:lnSpc>
                <a:spcPts val="4125"/>
              </a:lnSpc>
            </a:pPr>
            <a:r>
              <a:rPr lang="en-US" sz="3312">
                <a:solidFill>
                  <a:srgbClr val="3F6FF3"/>
                </a:solidFill>
                <a:latin typeface="Arimo"/>
                <a:ea typeface="Arimo"/>
                <a:cs typeface="Arimo"/>
                <a:sym typeface="Arimo"/>
              </a:rPr>
              <a:t>The Challenge</a:t>
            </a:r>
          </a:p>
        </p:txBody>
      </p:sp>
      <p:sp>
        <p:nvSpPr>
          <p:cNvPr name="TextBox 12" id="12"/>
          <p:cNvSpPr txBox="true"/>
          <p:nvPr/>
        </p:nvSpPr>
        <p:spPr>
          <a:xfrm rot="0">
            <a:off x="3440163" y="3670249"/>
            <a:ext cx="4376890" cy="4622006"/>
          </a:xfrm>
          <a:prstGeom prst="rect">
            <a:avLst/>
          </a:prstGeom>
        </p:spPr>
        <p:txBody>
          <a:bodyPr anchor="t" rtlCol="false" tIns="0" lIns="0" bIns="0" rIns="0">
            <a:spAutoFit/>
          </a:bodyPr>
          <a:lstStyle/>
          <a:p>
            <a:pPr algn="ctr">
              <a:lnSpc>
                <a:spcPts val="3562"/>
              </a:lnSpc>
            </a:pPr>
            <a:r>
              <a:rPr lang="en-US" sz="2187">
                <a:solidFill>
                  <a:srgbClr val="666666"/>
                </a:solidFill>
                <a:latin typeface="IBM Plex Sans"/>
                <a:ea typeface="IBM Plex Sans"/>
                <a:cs typeface="IBM Plex Sans"/>
                <a:sym typeface="IBM Plex Sans"/>
              </a:rPr>
              <a:t>Real-world traffic systems face unpredictable variability—congestion patterns shift, accidents occur randomly, and weather conditions change rapidly. Traditional deterministic routing algorithms fail to account for these uncertainties, leading to unreliable predictions and suboptimal route choices.</a:t>
            </a:r>
          </a:p>
        </p:txBody>
      </p:sp>
      <p:sp>
        <p:nvSpPr>
          <p:cNvPr name="TextBox 13" id="13"/>
          <p:cNvSpPr txBox="true"/>
          <p:nvPr/>
        </p:nvSpPr>
        <p:spPr>
          <a:xfrm rot="0">
            <a:off x="10470947" y="2733675"/>
            <a:ext cx="4252912" cy="569709"/>
          </a:xfrm>
          <a:prstGeom prst="rect">
            <a:avLst/>
          </a:prstGeom>
        </p:spPr>
        <p:txBody>
          <a:bodyPr anchor="t" rtlCol="false" tIns="0" lIns="0" bIns="0" rIns="0">
            <a:spAutoFit/>
          </a:bodyPr>
          <a:lstStyle/>
          <a:p>
            <a:pPr algn="ctr">
              <a:lnSpc>
                <a:spcPts val="4125"/>
              </a:lnSpc>
            </a:pPr>
            <a:r>
              <a:rPr lang="en-US" sz="3312">
                <a:solidFill>
                  <a:srgbClr val="3F6FF3"/>
                </a:solidFill>
                <a:latin typeface="Arimo"/>
                <a:ea typeface="Arimo"/>
                <a:cs typeface="Arimo"/>
                <a:sym typeface="Arimo"/>
              </a:rPr>
              <a:t>Our Objective</a:t>
            </a:r>
          </a:p>
        </p:txBody>
      </p:sp>
      <p:sp>
        <p:nvSpPr>
          <p:cNvPr name="TextBox 14" id="14"/>
          <p:cNvSpPr txBox="true"/>
          <p:nvPr/>
        </p:nvSpPr>
        <p:spPr>
          <a:xfrm rot="0">
            <a:off x="10470947" y="3501180"/>
            <a:ext cx="4376890" cy="5075634"/>
          </a:xfrm>
          <a:prstGeom prst="rect">
            <a:avLst/>
          </a:prstGeom>
        </p:spPr>
        <p:txBody>
          <a:bodyPr anchor="t" rtlCol="false" tIns="0" lIns="0" bIns="0" rIns="0">
            <a:spAutoFit/>
          </a:bodyPr>
          <a:lstStyle/>
          <a:p>
            <a:pPr algn="ctr">
              <a:lnSpc>
                <a:spcPts val="3562"/>
              </a:lnSpc>
            </a:pPr>
            <a:r>
              <a:rPr lang="en-US" sz="2187">
                <a:solidFill>
                  <a:srgbClr val="666666"/>
                </a:solidFill>
                <a:latin typeface="IBM Plex Sans"/>
                <a:ea typeface="IBM Plex Sans"/>
                <a:cs typeface="IBM Plex Sans"/>
                <a:sym typeface="IBM Plex Sans"/>
              </a:rPr>
              <a:t>Enhance route optimization performance by introducing randomized algorithms that explicitly model uncertainty. Building upon our deterministic simulation framework from Milestone 3, we now incorporate probabilistic reasoning to maximize on-time arrival probability rather than minimizing expected travel time.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4251722" y="904427"/>
            <a:ext cx="9784556" cy="900560"/>
          </a:xfrm>
          <a:prstGeom prst="rect">
            <a:avLst/>
          </a:prstGeom>
        </p:spPr>
        <p:txBody>
          <a:bodyPr anchor="t" rtlCol="false" tIns="0" lIns="0" bIns="0" rIns="0">
            <a:spAutoFit/>
          </a:bodyPr>
          <a:lstStyle/>
          <a:p>
            <a:pPr algn="l">
              <a:lnSpc>
                <a:spcPts val="6687"/>
              </a:lnSpc>
            </a:pPr>
            <a:r>
              <a:rPr lang="en-US" sz="5312">
                <a:solidFill>
                  <a:srgbClr val="3F6FF3"/>
                </a:solidFill>
                <a:latin typeface="Arimo"/>
                <a:ea typeface="Arimo"/>
                <a:cs typeface="Arimo"/>
                <a:sym typeface="Arimo"/>
              </a:rPr>
              <a:t>Deterministic Baseline Overview</a:t>
            </a:r>
          </a:p>
        </p:txBody>
      </p:sp>
      <p:grpSp>
        <p:nvGrpSpPr>
          <p:cNvPr name="Group 11" id="11"/>
          <p:cNvGrpSpPr/>
          <p:nvPr/>
        </p:nvGrpSpPr>
        <p:grpSpPr>
          <a:xfrm rot="0">
            <a:off x="950414" y="2181073"/>
            <a:ext cx="8066932" cy="3524993"/>
            <a:chOff x="0" y="0"/>
            <a:chExt cx="10755909" cy="4699991"/>
          </a:xfrm>
        </p:grpSpPr>
        <p:sp>
          <p:nvSpPr>
            <p:cNvPr name="Freeform 12" id="12"/>
            <p:cNvSpPr/>
            <p:nvPr/>
          </p:nvSpPr>
          <p:spPr>
            <a:xfrm flipH="false" flipV="false" rot="0">
              <a:off x="6350" y="6350"/>
              <a:ext cx="10743311" cy="4687316"/>
            </a:xfrm>
            <a:custGeom>
              <a:avLst/>
              <a:gdLst/>
              <a:ahLst/>
              <a:cxnLst/>
              <a:rect r="r" b="b" t="t" l="l"/>
              <a:pathLst>
                <a:path h="4687316" w="10743311">
                  <a:moveTo>
                    <a:pt x="0" y="327533"/>
                  </a:moveTo>
                  <a:cubicBezTo>
                    <a:pt x="0" y="146685"/>
                    <a:pt x="146812" y="0"/>
                    <a:pt x="328041" y="0"/>
                  </a:cubicBezTo>
                  <a:lnTo>
                    <a:pt x="10415270" y="0"/>
                  </a:lnTo>
                  <a:cubicBezTo>
                    <a:pt x="10596372" y="0"/>
                    <a:pt x="10743311" y="146685"/>
                    <a:pt x="10743311" y="327533"/>
                  </a:cubicBezTo>
                  <a:lnTo>
                    <a:pt x="10743311" y="4359783"/>
                  </a:lnTo>
                  <a:cubicBezTo>
                    <a:pt x="10743311" y="4540631"/>
                    <a:pt x="10596499" y="4687316"/>
                    <a:pt x="10415270" y="4687316"/>
                  </a:cubicBezTo>
                  <a:lnTo>
                    <a:pt x="328041" y="4687316"/>
                  </a:lnTo>
                  <a:cubicBezTo>
                    <a:pt x="146812" y="4687316"/>
                    <a:pt x="0" y="4540631"/>
                    <a:pt x="0" y="4359783"/>
                  </a:cubicBezTo>
                  <a:close/>
                </a:path>
              </a:pathLst>
            </a:custGeom>
            <a:solidFill>
              <a:srgbClr val="CFDBFC"/>
            </a:solidFill>
          </p:spPr>
        </p:sp>
        <p:sp>
          <p:nvSpPr>
            <p:cNvPr name="Freeform 13" id="13"/>
            <p:cNvSpPr/>
            <p:nvPr/>
          </p:nvSpPr>
          <p:spPr>
            <a:xfrm flipH="false" flipV="false" rot="0">
              <a:off x="0" y="0"/>
              <a:ext cx="10756011" cy="4700016"/>
            </a:xfrm>
            <a:custGeom>
              <a:avLst/>
              <a:gdLst/>
              <a:ahLst/>
              <a:cxnLst/>
              <a:rect r="r" b="b" t="t" l="l"/>
              <a:pathLst>
                <a:path h="4700016" w="10756011">
                  <a:moveTo>
                    <a:pt x="0" y="333883"/>
                  </a:moveTo>
                  <a:cubicBezTo>
                    <a:pt x="0" y="149479"/>
                    <a:pt x="149733" y="0"/>
                    <a:pt x="334391" y="0"/>
                  </a:cubicBezTo>
                  <a:lnTo>
                    <a:pt x="10421620" y="0"/>
                  </a:lnTo>
                  <a:lnTo>
                    <a:pt x="10421620" y="6350"/>
                  </a:lnTo>
                  <a:lnTo>
                    <a:pt x="10421620" y="0"/>
                  </a:lnTo>
                  <a:cubicBezTo>
                    <a:pt x="10606277" y="0"/>
                    <a:pt x="10756011" y="149479"/>
                    <a:pt x="10756011" y="333883"/>
                  </a:cubicBezTo>
                  <a:lnTo>
                    <a:pt x="10749661" y="333883"/>
                  </a:lnTo>
                  <a:lnTo>
                    <a:pt x="10756011" y="333883"/>
                  </a:lnTo>
                  <a:lnTo>
                    <a:pt x="10756011" y="4366133"/>
                  </a:lnTo>
                  <a:lnTo>
                    <a:pt x="10749661" y="4366133"/>
                  </a:lnTo>
                  <a:lnTo>
                    <a:pt x="10756011" y="4366133"/>
                  </a:lnTo>
                  <a:cubicBezTo>
                    <a:pt x="10756011" y="4550537"/>
                    <a:pt x="10606277" y="4700016"/>
                    <a:pt x="10421620" y="4700016"/>
                  </a:cubicBezTo>
                  <a:lnTo>
                    <a:pt x="10421620" y="4693666"/>
                  </a:lnTo>
                  <a:lnTo>
                    <a:pt x="10421620" y="4700016"/>
                  </a:lnTo>
                  <a:lnTo>
                    <a:pt x="334391" y="4700016"/>
                  </a:lnTo>
                  <a:lnTo>
                    <a:pt x="334391" y="4693666"/>
                  </a:lnTo>
                  <a:lnTo>
                    <a:pt x="334391" y="4700016"/>
                  </a:lnTo>
                  <a:cubicBezTo>
                    <a:pt x="149733" y="4700016"/>
                    <a:pt x="0" y="4550537"/>
                    <a:pt x="0" y="4366133"/>
                  </a:cubicBezTo>
                  <a:lnTo>
                    <a:pt x="0" y="333883"/>
                  </a:lnTo>
                  <a:lnTo>
                    <a:pt x="6350" y="333883"/>
                  </a:lnTo>
                  <a:lnTo>
                    <a:pt x="0" y="333883"/>
                  </a:lnTo>
                  <a:moveTo>
                    <a:pt x="12700" y="333883"/>
                  </a:moveTo>
                  <a:lnTo>
                    <a:pt x="12700" y="4366133"/>
                  </a:lnTo>
                  <a:lnTo>
                    <a:pt x="6350" y="4366133"/>
                  </a:lnTo>
                  <a:lnTo>
                    <a:pt x="12700" y="4366133"/>
                  </a:lnTo>
                  <a:cubicBezTo>
                    <a:pt x="12700" y="4543552"/>
                    <a:pt x="156718" y="4687316"/>
                    <a:pt x="334391" y="4687316"/>
                  </a:cubicBezTo>
                  <a:lnTo>
                    <a:pt x="10421620" y="4687316"/>
                  </a:lnTo>
                  <a:cubicBezTo>
                    <a:pt x="10599293" y="4687316"/>
                    <a:pt x="10743311" y="4543552"/>
                    <a:pt x="10743311" y="4366133"/>
                  </a:cubicBezTo>
                  <a:lnTo>
                    <a:pt x="10743311" y="333883"/>
                  </a:lnTo>
                  <a:cubicBezTo>
                    <a:pt x="10743184" y="156464"/>
                    <a:pt x="10599166" y="12700"/>
                    <a:pt x="10421620" y="12700"/>
                  </a:cubicBezTo>
                  <a:lnTo>
                    <a:pt x="334391" y="12700"/>
                  </a:lnTo>
                  <a:lnTo>
                    <a:pt x="334391" y="6350"/>
                  </a:lnTo>
                  <a:lnTo>
                    <a:pt x="334391" y="12700"/>
                  </a:lnTo>
                  <a:cubicBezTo>
                    <a:pt x="156718" y="12700"/>
                    <a:pt x="12700" y="156464"/>
                    <a:pt x="12700" y="333883"/>
                  </a:cubicBezTo>
                  <a:close/>
                </a:path>
              </a:pathLst>
            </a:custGeom>
            <a:solidFill>
              <a:srgbClr val="B5C1E2"/>
            </a:solidFill>
          </p:spPr>
        </p:sp>
      </p:grpSp>
      <p:grpSp>
        <p:nvGrpSpPr>
          <p:cNvPr name="Group 14" id="14"/>
          <p:cNvGrpSpPr/>
          <p:nvPr/>
        </p:nvGrpSpPr>
        <p:grpSpPr>
          <a:xfrm rot="0">
            <a:off x="1237507" y="2468166"/>
            <a:ext cx="818702" cy="818702"/>
            <a:chOff x="0" y="0"/>
            <a:chExt cx="1091603" cy="1091603"/>
          </a:xfrm>
        </p:grpSpPr>
        <p:sp>
          <p:nvSpPr>
            <p:cNvPr name="Freeform 15" id="15"/>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A2B9F9"/>
            </a:solidFill>
          </p:spPr>
        </p:sp>
      </p:grpSp>
      <p:sp>
        <p:nvSpPr>
          <p:cNvPr name="Freeform 16" id="16" descr="preencoded.png"/>
          <p:cNvSpPr/>
          <p:nvPr/>
        </p:nvSpPr>
        <p:spPr>
          <a:xfrm flipH="false" flipV="false" rot="0">
            <a:off x="1462678" y="2693194"/>
            <a:ext cx="368351" cy="368351"/>
          </a:xfrm>
          <a:custGeom>
            <a:avLst/>
            <a:gdLst/>
            <a:ahLst/>
            <a:cxnLst/>
            <a:rect r="r" b="b" t="t" l="l"/>
            <a:pathLst>
              <a:path h="368351" w="368351">
                <a:moveTo>
                  <a:pt x="0" y="0"/>
                </a:moveTo>
                <a:lnTo>
                  <a:pt x="368351" y="0"/>
                </a:lnTo>
                <a:lnTo>
                  <a:pt x="368351" y="368351"/>
                </a:lnTo>
                <a:lnTo>
                  <a:pt x="0" y="368351"/>
                </a:lnTo>
                <a:lnTo>
                  <a:pt x="0" y="0"/>
                </a:lnTo>
                <a:close/>
              </a:path>
            </a:pathLst>
          </a:custGeom>
          <a:blipFill>
            <a:blip r:embed="rId4">
              <a:extLst>
                <a:ext uri="{96DAC541-7B7A-43D3-8B79-37D633B846F1}">
                  <asvg:svgBlip xmlns:asvg="http://schemas.microsoft.com/office/drawing/2016/SVG/main" r:embed="rId5"/>
                </a:ext>
              </a:extLst>
            </a:blip>
            <a:stretch>
              <a:fillRect l="0" t="-2565" r="0" b="-2562"/>
            </a:stretch>
          </a:blipFill>
        </p:spPr>
      </p:sp>
      <p:sp>
        <p:nvSpPr>
          <p:cNvPr name="TextBox 17" id="17"/>
          <p:cNvSpPr txBox="true"/>
          <p:nvPr/>
        </p:nvSpPr>
        <p:spPr>
          <a:xfrm rot="0">
            <a:off x="1237507" y="3511448"/>
            <a:ext cx="3411436" cy="464496"/>
          </a:xfrm>
          <a:prstGeom prst="rect">
            <a:avLst/>
          </a:prstGeom>
        </p:spPr>
        <p:txBody>
          <a:bodyPr anchor="t" rtlCol="false" tIns="0" lIns="0" bIns="0" rIns="0">
            <a:spAutoFit/>
          </a:bodyPr>
          <a:lstStyle/>
          <a:p>
            <a:pPr algn="l">
              <a:lnSpc>
                <a:spcPts val="3312"/>
              </a:lnSpc>
            </a:pPr>
            <a:r>
              <a:rPr lang="en-US" sz="2625">
                <a:solidFill>
                  <a:srgbClr val="000000"/>
                </a:solidFill>
                <a:latin typeface="Arimo"/>
                <a:ea typeface="Arimo"/>
                <a:cs typeface="Arimo"/>
                <a:sym typeface="Arimo"/>
              </a:rPr>
              <a:t>Fixed Decision Rule</a:t>
            </a:r>
          </a:p>
        </p:txBody>
      </p:sp>
      <p:sp>
        <p:nvSpPr>
          <p:cNvPr name="TextBox 18" id="18"/>
          <p:cNvSpPr txBox="true"/>
          <p:nvPr/>
        </p:nvSpPr>
        <p:spPr>
          <a:xfrm rot="0">
            <a:off x="1237507" y="4047830"/>
            <a:ext cx="7492756" cy="1371152"/>
          </a:xfrm>
          <a:prstGeom prst="rect">
            <a:avLst/>
          </a:prstGeom>
        </p:spPr>
        <p:txBody>
          <a:bodyPr anchor="t" rtlCol="false" tIns="0" lIns="0" bIns="0" rIns="0">
            <a:spAutoFit/>
          </a:bodyPr>
          <a:lstStyle/>
          <a:p>
            <a:pPr algn="l">
              <a:lnSpc>
                <a:spcPts val="3312"/>
              </a:lnSpc>
            </a:pPr>
            <a:r>
              <a:rPr lang="en-US" sz="2125">
                <a:solidFill>
                  <a:srgbClr val="000000"/>
                </a:solidFill>
                <a:latin typeface="IBM Plex Sans"/>
                <a:ea typeface="IBM Plex Sans"/>
                <a:cs typeface="IBM Plex Sans"/>
                <a:sym typeface="IBM Plex Sans"/>
              </a:rPr>
              <a:t>Same input produces identical output every time—no consideration of variability or randomness in travel conditions</a:t>
            </a:r>
          </a:p>
        </p:txBody>
      </p:sp>
      <p:grpSp>
        <p:nvGrpSpPr>
          <p:cNvPr name="Group 19" id="19"/>
          <p:cNvGrpSpPr/>
          <p:nvPr/>
        </p:nvGrpSpPr>
        <p:grpSpPr>
          <a:xfrm rot="0">
            <a:off x="9270502" y="2181073"/>
            <a:ext cx="8067084" cy="3524993"/>
            <a:chOff x="0" y="0"/>
            <a:chExt cx="10756113" cy="4699991"/>
          </a:xfrm>
        </p:grpSpPr>
        <p:sp>
          <p:nvSpPr>
            <p:cNvPr name="Freeform 20" id="20"/>
            <p:cNvSpPr/>
            <p:nvPr/>
          </p:nvSpPr>
          <p:spPr>
            <a:xfrm flipH="false" flipV="false" rot="0">
              <a:off x="6350" y="6350"/>
              <a:ext cx="10743438" cy="4687316"/>
            </a:xfrm>
            <a:custGeom>
              <a:avLst/>
              <a:gdLst/>
              <a:ahLst/>
              <a:cxnLst/>
              <a:rect r="r" b="b" t="t" l="l"/>
              <a:pathLst>
                <a:path h="4687316" w="10743438">
                  <a:moveTo>
                    <a:pt x="0" y="327533"/>
                  </a:moveTo>
                  <a:cubicBezTo>
                    <a:pt x="0" y="146685"/>
                    <a:pt x="146812" y="0"/>
                    <a:pt x="328041" y="0"/>
                  </a:cubicBezTo>
                  <a:lnTo>
                    <a:pt x="10415397" y="0"/>
                  </a:lnTo>
                  <a:cubicBezTo>
                    <a:pt x="10596499" y="0"/>
                    <a:pt x="10743438" y="146685"/>
                    <a:pt x="10743438" y="327533"/>
                  </a:cubicBezTo>
                  <a:lnTo>
                    <a:pt x="10743438" y="4359783"/>
                  </a:lnTo>
                  <a:cubicBezTo>
                    <a:pt x="10743438" y="4540631"/>
                    <a:pt x="10596626" y="4687316"/>
                    <a:pt x="10415397" y="4687316"/>
                  </a:cubicBezTo>
                  <a:lnTo>
                    <a:pt x="328041" y="4687316"/>
                  </a:lnTo>
                  <a:cubicBezTo>
                    <a:pt x="146812" y="4687316"/>
                    <a:pt x="0" y="4540631"/>
                    <a:pt x="0" y="4359783"/>
                  </a:cubicBezTo>
                  <a:close/>
                </a:path>
              </a:pathLst>
            </a:custGeom>
            <a:solidFill>
              <a:srgbClr val="CFDBFC"/>
            </a:solidFill>
          </p:spPr>
        </p:sp>
        <p:sp>
          <p:nvSpPr>
            <p:cNvPr name="Freeform 21" id="21"/>
            <p:cNvSpPr/>
            <p:nvPr/>
          </p:nvSpPr>
          <p:spPr>
            <a:xfrm flipH="false" flipV="false" rot="0">
              <a:off x="0" y="0"/>
              <a:ext cx="10756138" cy="4700016"/>
            </a:xfrm>
            <a:custGeom>
              <a:avLst/>
              <a:gdLst/>
              <a:ahLst/>
              <a:cxnLst/>
              <a:rect r="r" b="b" t="t" l="l"/>
              <a:pathLst>
                <a:path h="4700016" w="10756138">
                  <a:moveTo>
                    <a:pt x="0" y="333883"/>
                  </a:moveTo>
                  <a:cubicBezTo>
                    <a:pt x="0" y="149479"/>
                    <a:pt x="149733" y="0"/>
                    <a:pt x="334391" y="0"/>
                  </a:cubicBezTo>
                  <a:lnTo>
                    <a:pt x="10421747" y="0"/>
                  </a:lnTo>
                  <a:lnTo>
                    <a:pt x="10421747" y="6350"/>
                  </a:lnTo>
                  <a:lnTo>
                    <a:pt x="10421747" y="0"/>
                  </a:lnTo>
                  <a:cubicBezTo>
                    <a:pt x="10606405" y="0"/>
                    <a:pt x="10756138" y="149479"/>
                    <a:pt x="10756138" y="333883"/>
                  </a:cubicBezTo>
                  <a:lnTo>
                    <a:pt x="10749788" y="333883"/>
                  </a:lnTo>
                  <a:lnTo>
                    <a:pt x="10756138" y="333883"/>
                  </a:lnTo>
                  <a:lnTo>
                    <a:pt x="10756138" y="4366133"/>
                  </a:lnTo>
                  <a:lnTo>
                    <a:pt x="10749788" y="4366133"/>
                  </a:lnTo>
                  <a:lnTo>
                    <a:pt x="10756138" y="4366133"/>
                  </a:lnTo>
                  <a:cubicBezTo>
                    <a:pt x="10756138" y="4550537"/>
                    <a:pt x="10606405" y="4700016"/>
                    <a:pt x="10421747" y="4700016"/>
                  </a:cubicBezTo>
                  <a:lnTo>
                    <a:pt x="10421747" y="4693666"/>
                  </a:lnTo>
                  <a:lnTo>
                    <a:pt x="10421747" y="4700016"/>
                  </a:lnTo>
                  <a:lnTo>
                    <a:pt x="334391" y="4700016"/>
                  </a:lnTo>
                  <a:lnTo>
                    <a:pt x="334391" y="4693666"/>
                  </a:lnTo>
                  <a:lnTo>
                    <a:pt x="334391" y="4700016"/>
                  </a:lnTo>
                  <a:cubicBezTo>
                    <a:pt x="149733" y="4700016"/>
                    <a:pt x="0" y="4550537"/>
                    <a:pt x="0" y="4366133"/>
                  </a:cubicBezTo>
                  <a:lnTo>
                    <a:pt x="0" y="333883"/>
                  </a:lnTo>
                  <a:lnTo>
                    <a:pt x="6350" y="333883"/>
                  </a:lnTo>
                  <a:lnTo>
                    <a:pt x="0" y="333883"/>
                  </a:lnTo>
                  <a:moveTo>
                    <a:pt x="12700" y="333883"/>
                  </a:moveTo>
                  <a:lnTo>
                    <a:pt x="12700" y="4366133"/>
                  </a:lnTo>
                  <a:lnTo>
                    <a:pt x="6350" y="4366133"/>
                  </a:lnTo>
                  <a:lnTo>
                    <a:pt x="12700" y="4366133"/>
                  </a:lnTo>
                  <a:cubicBezTo>
                    <a:pt x="12700" y="4543552"/>
                    <a:pt x="156718" y="4687316"/>
                    <a:pt x="334391" y="4687316"/>
                  </a:cubicBezTo>
                  <a:lnTo>
                    <a:pt x="10421747" y="4687316"/>
                  </a:lnTo>
                  <a:cubicBezTo>
                    <a:pt x="10599420" y="4687316"/>
                    <a:pt x="10743438" y="4543552"/>
                    <a:pt x="10743438" y="4366133"/>
                  </a:cubicBezTo>
                  <a:lnTo>
                    <a:pt x="10743438" y="333883"/>
                  </a:lnTo>
                  <a:cubicBezTo>
                    <a:pt x="10743438" y="156464"/>
                    <a:pt x="10599420" y="12700"/>
                    <a:pt x="10421747" y="12700"/>
                  </a:cubicBezTo>
                  <a:lnTo>
                    <a:pt x="334391" y="12700"/>
                  </a:lnTo>
                  <a:lnTo>
                    <a:pt x="334391" y="6350"/>
                  </a:lnTo>
                  <a:lnTo>
                    <a:pt x="334391" y="12700"/>
                  </a:lnTo>
                  <a:cubicBezTo>
                    <a:pt x="156718" y="12700"/>
                    <a:pt x="12700" y="156464"/>
                    <a:pt x="12700" y="333883"/>
                  </a:cubicBezTo>
                  <a:close/>
                </a:path>
              </a:pathLst>
            </a:custGeom>
            <a:solidFill>
              <a:srgbClr val="B5C1E2"/>
            </a:solidFill>
          </p:spPr>
        </p:sp>
      </p:grpSp>
      <p:grpSp>
        <p:nvGrpSpPr>
          <p:cNvPr name="Group 22" id="22"/>
          <p:cNvGrpSpPr/>
          <p:nvPr/>
        </p:nvGrpSpPr>
        <p:grpSpPr>
          <a:xfrm rot="0">
            <a:off x="9557595" y="2468166"/>
            <a:ext cx="818702" cy="818702"/>
            <a:chOff x="0" y="0"/>
            <a:chExt cx="1091603" cy="1091603"/>
          </a:xfrm>
        </p:grpSpPr>
        <p:sp>
          <p:nvSpPr>
            <p:cNvPr name="Freeform 23" id="23"/>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A2B9F9"/>
            </a:solidFill>
          </p:spPr>
        </p:sp>
      </p:grpSp>
      <p:sp>
        <p:nvSpPr>
          <p:cNvPr name="Freeform 24" id="24" descr="preencoded.png"/>
          <p:cNvSpPr/>
          <p:nvPr/>
        </p:nvSpPr>
        <p:spPr>
          <a:xfrm flipH="false" flipV="false" rot="0">
            <a:off x="9782766" y="2693194"/>
            <a:ext cx="368351" cy="368351"/>
          </a:xfrm>
          <a:custGeom>
            <a:avLst/>
            <a:gdLst/>
            <a:ahLst/>
            <a:cxnLst/>
            <a:rect r="r" b="b" t="t" l="l"/>
            <a:pathLst>
              <a:path h="368351" w="368351">
                <a:moveTo>
                  <a:pt x="0" y="0"/>
                </a:moveTo>
                <a:lnTo>
                  <a:pt x="368350" y="0"/>
                </a:lnTo>
                <a:lnTo>
                  <a:pt x="368350" y="368351"/>
                </a:lnTo>
                <a:lnTo>
                  <a:pt x="0" y="368351"/>
                </a:lnTo>
                <a:lnTo>
                  <a:pt x="0" y="0"/>
                </a:lnTo>
                <a:close/>
              </a:path>
            </a:pathLst>
          </a:custGeom>
          <a:blipFill>
            <a:blip r:embed="rId6">
              <a:extLst>
                <a:ext uri="{96DAC541-7B7A-43D3-8B79-37D633B846F1}">
                  <asvg:svgBlip xmlns:asvg="http://schemas.microsoft.com/office/drawing/2016/SVG/main" r:embed="rId7"/>
                </a:ext>
              </a:extLst>
            </a:blip>
            <a:stretch>
              <a:fillRect l="0" t="-44872" r="0" b="-44869"/>
            </a:stretch>
          </a:blipFill>
        </p:spPr>
      </p:sp>
      <p:sp>
        <p:nvSpPr>
          <p:cNvPr name="TextBox 25" id="25"/>
          <p:cNvSpPr txBox="true"/>
          <p:nvPr/>
        </p:nvSpPr>
        <p:spPr>
          <a:xfrm rot="0">
            <a:off x="9557595" y="3511448"/>
            <a:ext cx="3411436" cy="464496"/>
          </a:xfrm>
          <a:prstGeom prst="rect">
            <a:avLst/>
          </a:prstGeom>
        </p:spPr>
        <p:txBody>
          <a:bodyPr anchor="t" rtlCol="false" tIns="0" lIns="0" bIns="0" rIns="0">
            <a:spAutoFit/>
          </a:bodyPr>
          <a:lstStyle/>
          <a:p>
            <a:pPr algn="l">
              <a:lnSpc>
                <a:spcPts val="3312"/>
              </a:lnSpc>
            </a:pPr>
            <a:r>
              <a:rPr lang="en-US" sz="2625">
                <a:solidFill>
                  <a:srgbClr val="000000"/>
                </a:solidFill>
                <a:latin typeface="Arimo"/>
                <a:ea typeface="Arimo"/>
                <a:cs typeface="Arimo"/>
                <a:sym typeface="Arimo"/>
              </a:rPr>
              <a:t>Standard Algorithms</a:t>
            </a:r>
          </a:p>
        </p:txBody>
      </p:sp>
      <p:sp>
        <p:nvSpPr>
          <p:cNvPr name="TextBox 26" id="26"/>
          <p:cNvSpPr txBox="true"/>
          <p:nvPr/>
        </p:nvSpPr>
        <p:spPr>
          <a:xfrm rot="0">
            <a:off x="9557595" y="4047830"/>
            <a:ext cx="7492898" cy="827088"/>
          </a:xfrm>
          <a:prstGeom prst="rect">
            <a:avLst/>
          </a:prstGeom>
        </p:spPr>
        <p:txBody>
          <a:bodyPr anchor="t" rtlCol="false" tIns="0" lIns="0" bIns="0" rIns="0">
            <a:spAutoFit/>
          </a:bodyPr>
          <a:lstStyle/>
          <a:p>
            <a:pPr algn="l">
              <a:lnSpc>
                <a:spcPts val="3312"/>
              </a:lnSpc>
            </a:pPr>
            <a:r>
              <a:rPr lang="en-US" sz="2125">
                <a:solidFill>
                  <a:srgbClr val="000000"/>
                </a:solidFill>
                <a:latin typeface="IBM Plex Sans"/>
                <a:ea typeface="IBM Plex Sans"/>
                <a:cs typeface="IBM Plex Sans"/>
                <a:sym typeface="IBM Plex Sans"/>
              </a:rPr>
              <a:t>Uses A*(star) shortest-path algorithms that minimize expected travel time without uncertainty modeling</a:t>
            </a:r>
          </a:p>
        </p:txBody>
      </p:sp>
      <p:grpSp>
        <p:nvGrpSpPr>
          <p:cNvPr name="Group 27" id="27"/>
          <p:cNvGrpSpPr/>
          <p:nvPr/>
        </p:nvGrpSpPr>
        <p:grpSpPr>
          <a:xfrm rot="0">
            <a:off x="950414" y="5959231"/>
            <a:ext cx="8066932" cy="3524993"/>
            <a:chOff x="0" y="0"/>
            <a:chExt cx="10755909" cy="4699991"/>
          </a:xfrm>
        </p:grpSpPr>
        <p:sp>
          <p:nvSpPr>
            <p:cNvPr name="Freeform 28" id="28"/>
            <p:cNvSpPr/>
            <p:nvPr/>
          </p:nvSpPr>
          <p:spPr>
            <a:xfrm flipH="false" flipV="false" rot="0">
              <a:off x="6350" y="6350"/>
              <a:ext cx="10743311" cy="4687316"/>
            </a:xfrm>
            <a:custGeom>
              <a:avLst/>
              <a:gdLst/>
              <a:ahLst/>
              <a:cxnLst/>
              <a:rect r="r" b="b" t="t" l="l"/>
              <a:pathLst>
                <a:path h="4687316" w="10743311">
                  <a:moveTo>
                    <a:pt x="0" y="327533"/>
                  </a:moveTo>
                  <a:cubicBezTo>
                    <a:pt x="0" y="146685"/>
                    <a:pt x="146812" y="0"/>
                    <a:pt x="328041" y="0"/>
                  </a:cubicBezTo>
                  <a:lnTo>
                    <a:pt x="10415270" y="0"/>
                  </a:lnTo>
                  <a:cubicBezTo>
                    <a:pt x="10596372" y="0"/>
                    <a:pt x="10743311" y="146685"/>
                    <a:pt x="10743311" y="327533"/>
                  </a:cubicBezTo>
                  <a:lnTo>
                    <a:pt x="10743311" y="4359783"/>
                  </a:lnTo>
                  <a:cubicBezTo>
                    <a:pt x="10743311" y="4540631"/>
                    <a:pt x="10596499" y="4687316"/>
                    <a:pt x="10415270" y="4687316"/>
                  </a:cubicBezTo>
                  <a:lnTo>
                    <a:pt x="328041" y="4687316"/>
                  </a:lnTo>
                  <a:cubicBezTo>
                    <a:pt x="146812" y="4687316"/>
                    <a:pt x="0" y="4540631"/>
                    <a:pt x="0" y="4359783"/>
                  </a:cubicBezTo>
                  <a:close/>
                </a:path>
              </a:pathLst>
            </a:custGeom>
            <a:solidFill>
              <a:srgbClr val="CFDBFC"/>
            </a:solidFill>
          </p:spPr>
        </p:sp>
        <p:sp>
          <p:nvSpPr>
            <p:cNvPr name="Freeform 29" id="29"/>
            <p:cNvSpPr/>
            <p:nvPr/>
          </p:nvSpPr>
          <p:spPr>
            <a:xfrm flipH="false" flipV="false" rot="0">
              <a:off x="0" y="0"/>
              <a:ext cx="10756011" cy="4700016"/>
            </a:xfrm>
            <a:custGeom>
              <a:avLst/>
              <a:gdLst/>
              <a:ahLst/>
              <a:cxnLst/>
              <a:rect r="r" b="b" t="t" l="l"/>
              <a:pathLst>
                <a:path h="4700016" w="10756011">
                  <a:moveTo>
                    <a:pt x="0" y="333883"/>
                  </a:moveTo>
                  <a:cubicBezTo>
                    <a:pt x="0" y="149479"/>
                    <a:pt x="149733" y="0"/>
                    <a:pt x="334391" y="0"/>
                  </a:cubicBezTo>
                  <a:lnTo>
                    <a:pt x="10421620" y="0"/>
                  </a:lnTo>
                  <a:lnTo>
                    <a:pt x="10421620" y="6350"/>
                  </a:lnTo>
                  <a:lnTo>
                    <a:pt x="10421620" y="0"/>
                  </a:lnTo>
                  <a:cubicBezTo>
                    <a:pt x="10606277" y="0"/>
                    <a:pt x="10756011" y="149479"/>
                    <a:pt x="10756011" y="333883"/>
                  </a:cubicBezTo>
                  <a:lnTo>
                    <a:pt x="10749661" y="333883"/>
                  </a:lnTo>
                  <a:lnTo>
                    <a:pt x="10756011" y="333883"/>
                  </a:lnTo>
                  <a:lnTo>
                    <a:pt x="10756011" y="4366133"/>
                  </a:lnTo>
                  <a:lnTo>
                    <a:pt x="10749661" y="4366133"/>
                  </a:lnTo>
                  <a:lnTo>
                    <a:pt x="10756011" y="4366133"/>
                  </a:lnTo>
                  <a:cubicBezTo>
                    <a:pt x="10756011" y="4550537"/>
                    <a:pt x="10606277" y="4700016"/>
                    <a:pt x="10421620" y="4700016"/>
                  </a:cubicBezTo>
                  <a:lnTo>
                    <a:pt x="10421620" y="4693666"/>
                  </a:lnTo>
                  <a:lnTo>
                    <a:pt x="10421620" y="4700016"/>
                  </a:lnTo>
                  <a:lnTo>
                    <a:pt x="334391" y="4700016"/>
                  </a:lnTo>
                  <a:lnTo>
                    <a:pt x="334391" y="4693666"/>
                  </a:lnTo>
                  <a:lnTo>
                    <a:pt x="334391" y="4700016"/>
                  </a:lnTo>
                  <a:cubicBezTo>
                    <a:pt x="149733" y="4700016"/>
                    <a:pt x="0" y="4550537"/>
                    <a:pt x="0" y="4366133"/>
                  </a:cubicBezTo>
                  <a:lnTo>
                    <a:pt x="0" y="333883"/>
                  </a:lnTo>
                  <a:lnTo>
                    <a:pt x="6350" y="333883"/>
                  </a:lnTo>
                  <a:lnTo>
                    <a:pt x="0" y="333883"/>
                  </a:lnTo>
                  <a:moveTo>
                    <a:pt x="12700" y="333883"/>
                  </a:moveTo>
                  <a:lnTo>
                    <a:pt x="12700" y="4366133"/>
                  </a:lnTo>
                  <a:lnTo>
                    <a:pt x="6350" y="4366133"/>
                  </a:lnTo>
                  <a:lnTo>
                    <a:pt x="12700" y="4366133"/>
                  </a:lnTo>
                  <a:cubicBezTo>
                    <a:pt x="12700" y="4543552"/>
                    <a:pt x="156718" y="4687316"/>
                    <a:pt x="334391" y="4687316"/>
                  </a:cubicBezTo>
                  <a:lnTo>
                    <a:pt x="10421620" y="4687316"/>
                  </a:lnTo>
                  <a:cubicBezTo>
                    <a:pt x="10599293" y="4687316"/>
                    <a:pt x="10743311" y="4543552"/>
                    <a:pt x="10743311" y="4366133"/>
                  </a:cubicBezTo>
                  <a:lnTo>
                    <a:pt x="10743311" y="333883"/>
                  </a:lnTo>
                  <a:cubicBezTo>
                    <a:pt x="10743184" y="156464"/>
                    <a:pt x="10599166" y="12700"/>
                    <a:pt x="10421620" y="12700"/>
                  </a:cubicBezTo>
                  <a:lnTo>
                    <a:pt x="334391" y="12700"/>
                  </a:lnTo>
                  <a:lnTo>
                    <a:pt x="334391" y="6350"/>
                  </a:lnTo>
                  <a:lnTo>
                    <a:pt x="334391" y="12700"/>
                  </a:lnTo>
                  <a:cubicBezTo>
                    <a:pt x="156718" y="12700"/>
                    <a:pt x="12700" y="156464"/>
                    <a:pt x="12700" y="333883"/>
                  </a:cubicBezTo>
                  <a:close/>
                </a:path>
              </a:pathLst>
            </a:custGeom>
            <a:solidFill>
              <a:srgbClr val="B5C1E2"/>
            </a:solidFill>
          </p:spPr>
        </p:sp>
      </p:grpSp>
      <p:grpSp>
        <p:nvGrpSpPr>
          <p:cNvPr name="Group 30" id="30"/>
          <p:cNvGrpSpPr/>
          <p:nvPr/>
        </p:nvGrpSpPr>
        <p:grpSpPr>
          <a:xfrm rot="0">
            <a:off x="1237507" y="6246314"/>
            <a:ext cx="818702" cy="818702"/>
            <a:chOff x="0" y="0"/>
            <a:chExt cx="1091603" cy="1091603"/>
          </a:xfrm>
        </p:grpSpPr>
        <p:sp>
          <p:nvSpPr>
            <p:cNvPr name="Freeform 31" id="31"/>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A2B9F9"/>
            </a:solidFill>
          </p:spPr>
        </p:sp>
      </p:grpSp>
      <p:sp>
        <p:nvSpPr>
          <p:cNvPr name="Freeform 32" id="32" descr="preencoded.png"/>
          <p:cNvSpPr/>
          <p:nvPr/>
        </p:nvSpPr>
        <p:spPr>
          <a:xfrm flipH="false" flipV="false" rot="0">
            <a:off x="1462678" y="6471342"/>
            <a:ext cx="368351" cy="368351"/>
          </a:xfrm>
          <a:custGeom>
            <a:avLst/>
            <a:gdLst/>
            <a:ahLst/>
            <a:cxnLst/>
            <a:rect r="r" b="b" t="t" l="l"/>
            <a:pathLst>
              <a:path h="368351" w="368351">
                <a:moveTo>
                  <a:pt x="0" y="0"/>
                </a:moveTo>
                <a:lnTo>
                  <a:pt x="368351" y="0"/>
                </a:lnTo>
                <a:lnTo>
                  <a:pt x="368351" y="368351"/>
                </a:lnTo>
                <a:lnTo>
                  <a:pt x="0" y="368351"/>
                </a:lnTo>
                <a:lnTo>
                  <a:pt x="0" y="0"/>
                </a:lnTo>
                <a:close/>
              </a:path>
            </a:pathLst>
          </a:custGeom>
          <a:blipFill>
            <a:blip r:embed="rId8">
              <a:extLst>
                <a:ext uri="{96DAC541-7B7A-43D3-8B79-37D633B846F1}">
                  <asvg:svgBlip xmlns:asvg="http://schemas.microsoft.com/office/drawing/2016/SVG/main" r:embed="rId9"/>
                </a:ext>
              </a:extLst>
            </a:blip>
            <a:stretch>
              <a:fillRect l="-21793" t="0" r="-21796" b="0"/>
            </a:stretch>
          </a:blipFill>
        </p:spPr>
      </p:sp>
      <p:sp>
        <p:nvSpPr>
          <p:cNvPr name="TextBox 33" id="33"/>
          <p:cNvSpPr txBox="true"/>
          <p:nvPr/>
        </p:nvSpPr>
        <p:spPr>
          <a:xfrm rot="0">
            <a:off x="1237507" y="7289597"/>
            <a:ext cx="3411436" cy="464496"/>
          </a:xfrm>
          <a:prstGeom prst="rect">
            <a:avLst/>
          </a:prstGeom>
        </p:spPr>
        <p:txBody>
          <a:bodyPr anchor="t" rtlCol="false" tIns="0" lIns="0" bIns="0" rIns="0">
            <a:spAutoFit/>
          </a:bodyPr>
          <a:lstStyle/>
          <a:p>
            <a:pPr algn="l">
              <a:lnSpc>
                <a:spcPts val="3312"/>
              </a:lnSpc>
            </a:pPr>
            <a:r>
              <a:rPr lang="en-US" sz="2625">
                <a:solidFill>
                  <a:srgbClr val="000000"/>
                </a:solidFill>
                <a:latin typeface="Arimo"/>
                <a:ea typeface="Arimo"/>
                <a:cs typeface="Arimo"/>
                <a:sym typeface="Arimo"/>
              </a:rPr>
              <a:t>Strengths</a:t>
            </a:r>
          </a:p>
        </p:txBody>
      </p:sp>
      <p:sp>
        <p:nvSpPr>
          <p:cNvPr name="TextBox 34" id="34"/>
          <p:cNvSpPr txBox="true"/>
          <p:nvPr/>
        </p:nvSpPr>
        <p:spPr>
          <a:xfrm rot="0">
            <a:off x="1237507" y="7825978"/>
            <a:ext cx="7492756" cy="942680"/>
          </a:xfrm>
          <a:prstGeom prst="rect">
            <a:avLst/>
          </a:prstGeom>
        </p:spPr>
        <p:txBody>
          <a:bodyPr anchor="t" rtlCol="false" tIns="0" lIns="0" bIns="0" rIns="0">
            <a:spAutoFit/>
          </a:bodyPr>
          <a:lstStyle/>
          <a:p>
            <a:pPr algn="l">
              <a:lnSpc>
                <a:spcPts val="3312"/>
              </a:lnSpc>
            </a:pPr>
            <a:r>
              <a:rPr lang="en-US" sz="2125">
                <a:solidFill>
                  <a:srgbClr val="000000"/>
                </a:solidFill>
                <a:latin typeface="IBM Plex Sans"/>
                <a:ea typeface="IBM Plex Sans"/>
                <a:cs typeface="IBM Plex Sans"/>
                <a:sym typeface="IBM Plex Sans"/>
              </a:rPr>
              <a:t>Simplicity, computational efficiency, predictability, and ease of implementation in stable environments</a:t>
            </a:r>
          </a:p>
        </p:txBody>
      </p:sp>
      <p:grpSp>
        <p:nvGrpSpPr>
          <p:cNvPr name="Group 35" id="35"/>
          <p:cNvGrpSpPr/>
          <p:nvPr/>
        </p:nvGrpSpPr>
        <p:grpSpPr>
          <a:xfrm rot="0">
            <a:off x="9270502" y="5959231"/>
            <a:ext cx="8067084" cy="3524993"/>
            <a:chOff x="0" y="0"/>
            <a:chExt cx="10756113" cy="4699991"/>
          </a:xfrm>
        </p:grpSpPr>
        <p:sp>
          <p:nvSpPr>
            <p:cNvPr name="Freeform 36" id="36"/>
            <p:cNvSpPr/>
            <p:nvPr/>
          </p:nvSpPr>
          <p:spPr>
            <a:xfrm flipH="false" flipV="false" rot="0">
              <a:off x="6350" y="6350"/>
              <a:ext cx="10743438" cy="4687316"/>
            </a:xfrm>
            <a:custGeom>
              <a:avLst/>
              <a:gdLst/>
              <a:ahLst/>
              <a:cxnLst/>
              <a:rect r="r" b="b" t="t" l="l"/>
              <a:pathLst>
                <a:path h="4687316" w="10743438">
                  <a:moveTo>
                    <a:pt x="0" y="327533"/>
                  </a:moveTo>
                  <a:cubicBezTo>
                    <a:pt x="0" y="146685"/>
                    <a:pt x="146812" y="0"/>
                    <a:pt x="328041" y="0"/>
                  </a:cubicBezTo>
                  <a:lnTo>
                    <a:pt x="10415397" y="0"/>
                  </a:lnTo>
                  <a:cubicBezTo>
                    <a:pt x="10596499" y="0"/>
                    <a:pt x="10743438" y="146685"/>
                    <a:pt x="10743438" y="327533"/>
                  </a:cubicBezTo>
                  <a:lnTo>
                    <a:pt x="10743438" y="4359783"/>
                  </a:lnTo>
                  <a:cubicBezTo>
                    <a:pt x="10743438" y="4540631"/>
                    <a:pt x="10596626" y="4687316"/>
                    <a:pt x="10415397" y="4687316"/>
                  </a:cubicBezTo>
                  <a:lnTo>
                    <a:pt x="328041" y="4687316"/>
                  </a:lnTo>
                  <a:cubicBezTo>
                    <a:pt x="146812" y="4687316"/>
                    <a:pt x="0" y="4540631"/>
                    <a:pt x="0" y="4359783"/>
                  </a:cubicBezTo>
                  <a:close/>
                </a:path>
              </a:pathLst>
            </a:custGeom>
            <a:solidFill>
              <a:srgbClr val="CFDBFC"/>
            </a:solidFill>
          </p:spPr>
        </p:sp>
        <p:sp>
          <p:nvSpPr>
            <p:cNvPr name="Freeform 37" id="37"/>
            <p:cNvSpPr/>
            <p:nvPr/>
          </p:nvSpPr>
          <p:spPr>
            <a:xfrm flipH="false" flipV="false" rot="0">
              <a:off x="0" y="0"/>
              <a:ext cx="10756138" cy="4700016"/>
            </a:xfrm>
            <a:custGeom>
              <a:avLst/>
              <a:gdLst/>
              <a:ahLst/>
              <a:cxnLst/>
              <a:rect r="r" b="b" t="t" l="l"/>
              <a:pathLst>
                <a:path h="4700016" w="10756138">
                  <a:moveTo>
                    <a:pt x="0" y="333883"/>
                  </a:moveTo>
                  <a:cubicBezTo>
                    <a:pt x="0" y="149479"/>
                    <a:pt x="149733" y="0"/>
                    <a:pt x="334391" y="0"/>
                  </a:cubicBezTo>
                  <a:lnTo>
                    <a:pt x="10421747" y="0"/>
                  </a:lnTo>
                  <a:lnTo>
                    <a:pt x="10421747" y="6350"/>
                  </a:lnTo>
                  <a:lnTo>
                    <a:pt x="10421747" y="0"/>
                  </a:lnTo>
                  <a:cubicBezTo>
                    <a:pt x="10606405" y="0"/>
                    <a:pt x="10756138" y="149479"/>
                    <a:pt x="10756138" y="333883"/>
                  </a:cubicBezTo>
                  <a:lnTo>
                    <a:pt x="10749788" y="333883"/>
                  </a:lnTo>
                  <a:lnTo>
                    <a:pt x="10756138" y="333883"/>
                  </a:lnTo>
                  <a:lnTo>
                    <a:pt x="10756138" y="4366133"/>
                  </a:lnTo>
                  <a:lnTo>
                    <a:pt x="10749788" y="4366133"/>
                  </a:lnTo>
                  <a:lnTo>
                    <a:pt x="10756138" y="4366133"/>
                  </a:lnTo>
                  <a:cubicBezTo>
                    <a:pt x="10756138" y="4550537"/>
                    <a:pt x="10606405" y="4700016"/>
                    <a:pt x="10421747" y="4700016"/>
                  </a:cubicBezTo>
                  <a:lnTo>
                    <a:pt x="10421747" y="4693666"/>
                  </a:lnTo>
                  <a:lnTo>
                    <a:pt x="10421747" y="4700016"/>
                  </a:lnTo>
                  <a:lnTo>
                    <a:pt x="334391" y="4700016"/>
                  </a:lnTo>
                  <a:lnTo>
                    <a:pt x="334391" y="4693666"/>
                  </a:lnTo>
                  <a:lnTo>
                    <a:pt x="334391" y="4700016"/>
                  </a:lnTo>
                  <a:cubicBezTo>
                    <a:pt x="149733" y="4700016"/>
                    <a:pt x="0" y="4550537"/>
                    <a:pt x="0" y="4366133"/>
                  </a:cubicBezTo>
                  <a:lnTo>
                    <a:pt x="0" y="333883"/>
                  </a:lnTo>
                  <a:lnTo>
                    <a:pt x="6350" y="333883"/>
                  </a:lnTo>
                  <a:lnTo>
                    <a:pt x="0" y="333883"/>
                  </a:lnTo>
                  <a:moveTo>
                    <a:pt x="12700" y="333883"/>
                  </a:moveTo>
                  <a:lnTo>
                    <a:pt x="12700" y="4366133"/>
                  </a:lnTo>
                  <a:lnTo>
                    <a:pt x="6350" y="4366133"/>
                  </a:lnTo>
                  <a:lnTo>
                    <a:pt x="12700" y="4366133"/>
                  </a:lnTo>
                  <a:cubicBezTo>
                    <a:pt x="12700" y="4543552"/>
                    <a:pt x="156718" y="4687316"/>
                    <a:pt x="334391" y="4687316"/>
                  </a:cubicBezTo>
                  <a:lnTo>
                    <a:pt x="10421747" y="4687316"/>
                  </a:lnTo>
                  <a:cubicBezTo>
                    <a:pt x="10599420" y="4687316"/>
                    <a:pt x="10743438" y="4543552"/>
                    <a:pt x="10743438" y="4366133"/>
                  </a:cubicBezTo>
                  <a:lnTo>
                    <a:pt x="10743438" y="333883"/>
                  </a:lnTo>
                  <a:cubicBezTo>
                    <a:pt x="10743438" y="156464"/>
                    <a:pt x="10599420" y="12700"/>
                    <a:pt x="10421747" y="12700"/>
                  </a:cubicBezTo>
                  <a:lnTo>
                    <a:pt x="334391" y="12700"/>
                  </a:lnTo>
                  <a:lnTo>
                    <a:pt x="334391" y="6350"/>
                  </a:lnTo>
                  <a:lnTo>
                    <a:pt x="334391" y="12700"/>
                  </a:lnTo>
                  <a:cubicBezTo>
                    <a:pt x="156718" y="12700"/>
                    <a:pt x="12700" y="156464"/>
                    <a:pt x="12700" y="333883"/>
                  </a:cubicBezTo>
                  <a:close/>
                </a:path>
              </a:pathLst>
            </a:custGeom>
            <a:solidFill>
              <a:srgbClr val="B5C1E2"/>
            </a:solidFill>
          </p:spPr>
        </p:sp>
      </p:grpSp>
      <p:grpSp>
        <p:nvGrpSpPr>
          <p:cNvPr name="Group 38" id="38"/>
          <p:cNvGrpSpPr/>
          <p:nvPr/>
        </p:nvGrpSpPr>
        <p:grpSpPr>
          <a:xfrm rot="0">
            <a:off x="9557595" y="6246314"/>
            <a:ext cx="818702" cy="818702"/>
            <a:chOff x="0" y="0"/>
            <a:chExt cx="1091603" cy="1091603"/>
          </a:xfrm>
        </p:grpSpPr>
        <p:sp>
          <p:nvSpPr>
            <p:cNvPr name="Freeform 39" id="39"/>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A2B9F9"/>
            </a:solidFill>
          </p:spPr>
        </p:sp>
      </p:grpSp>
      <p:sp>
        <p:nvSpPr>
          <p:cNvPr name="Freeform 40" id="40" descr="preencoded.png"/>
          <p:cNvSpPr/>
          <p:nvPr/>
        </p:nvSpPr>
        <p:spPr>
          <a:xfrm flipH="false" flipV="false" rot="0">
            <a:off x="9782766" y="6471342"/>
            <a:ext cx="368351" cy="368351"/>
          </a:xfrm>
          <a:custGeom>
            <a:avLst/>
            <a:gdLst/>
            <a:ahLst/>
            <a:cxnLst/>
            <a:rect r="r" b="b" t="t" l="l"/>
            <a:pathLst>
              <a:path h="368351" w="368351">
                <a:moveTo>
                  <a:pt x="0" y="0"/>
                </a:moveTo>
                <a:lnTo>
                  <a:pt x="368350" y="0"/>
                </a:lnTo>
                <a:lnTo>
                  <a:pt x="368350" y="368351"/>
                </a:lnTo>
                <a:lnTo>
                  <a:pt x="0" y="368351"/>
                </a:lnTo>
                <a:lnTo>
                  <a:pt x="0" y="0"/>
                </a:lnTo>
                <a:close/>
              </a:path>
            </a:pathLst>
          </a:custGeom>
          <a:blipFill>
            <a:blip r:embed="rId10">
              <a:extLst>
                <a:ext uri="{96DAC541-7B7A-43D3-8B79-37D633B846F1}">
                  <asvg:svgBlip xmlns:asvg="http://schemas.microsoft.com/office/drawing/2016/SVG/main" r:embed="rId11"/>
                </a:ext>
              </a:extLst>
            </a:blip>
            <a:stretch>
              <a:fillRect l="-5127" t="0" r="-5127" b="0"/>
            </a:stretch>
          </a:blipFill>
        </p:spPr>
      </p:sp>
      <p:sp>
        <p:nvSpPr>
          <p:cNvPr name="TextBox 41" id="41"/>
          <p:cNvSpPr txBox="true"/>
          <p:nvPr/>
        </p:nvSpPr>
        <p:spPr>
          <a:xfrm rot="0">
            <a:off x="9557595" y="7289597"/>
            <a:ext cx="3411436" cy="464496"/>
          </a:xfrm>
          <a:prstGeom prst="rect">
            <a:avLst/>
          </a:prstGeom>
        </p:spPr>
        <p:txBody>
          <a:bodyPr anchor="t" rtlCol="false" tIns="0" lIns="0" bIns="0" rIns="0">
            <a:spAutoFit/>
          </a:bodyPr>
          <a:lstStyle/>
          <a:p>
            <a:pPr algn="l">
              <a:lnSpc>
                <a:spcPts val="3312"/>
              </a:lnSpc>
            </a:pPr>
            <a:r>
              <a:rPr lang="en-US" sz="2625">
                <a:solidFill>
                  <a:srgbClr val="000000"/>
                </a:solidFill>
                <a:latin typeface="Arimo"/>
                <a:ea typeface="Arimo"/>
                <a:cs typeface="Arimo"/>
                <a:sym typeface="Arimo"/>
              </a:rPr>
              <a:t>Limitations</a:t>
            </a:r>
          </a:p>
        </p:txBody>
      </p:sp>
      <p:sp>
        <p:nvSpPr>
          <p:cNvPr name="TextBox 42" id="42"/>
          <p:cNvSpPr txBox="true"/>
          <p:nvPr/>
        </p:nvSpPr>
        <p:spPr>
          <a:xfrm rot="0">
            <a:off x="9557595" y="7825978"/>
            <a:ext cx="7492898" cy="1371152"/>
          </a:xfrm>
          <a:prstGeom prst="rect">
            <a:avLst/>
          </a:prstGeom>
        </p:spPr>
        <p:txBody>
          <a:bodyPr anchor="t" rtlCol="false" tIns="0" lIns="0" bIns="0" rIns="0">
            <a:spAutoFit/>
          </a:bodyPr>
          <a:lstStyle/>
          <a:p>
            <a:pPr algn="l">
              <a:lnSpc>
                <a:spcPts val="3312"/>
              </a:lnSpc>
            </a:pPr>
            <a:r>
              <a:rPr lang="en-US" sz="2125">
                <a:solidFill>
                  <a:srgbClr val="000000"/>
                </a:solidFill>
                <a:latin typeface="IBM Plex Sans"/>
                <a:ea typeface="IBM Plex Sans"/>
                <a:cs typeface="IBM Plex Sans"/>
                <a:sym typeface="IBM Plex Sans"/>
              </a:rPr>
              <a:t>Poor handling of uncertainty, suboptimal performance in dynamic environments, unreliable predictions under variability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1248223" y="840581"/>
            <a:ext cx="6509890" cy="762743"/>
          </a:xfrm>
          <a:prstGeom prst="rect">
            <a:avLst/>
          </a:prstGeom>
        </p:spPr>
        <p:txBody>
          <a:bodyPr anchor="t" rtlCol="false" tIns="0" lIns="0" bIns="0" rIns="0">
            <a:spAutoFit/>
          </a:bodyPr>
          <a:lstStyle/>
          <a:p>
            <a:pPr algn="l">
              <a:lnSpc>
                <a:spcPts val="5625"/>
              </a:lnSpc>
            </a:pPr>
            <a:r>
              <a:rPr lang="en-US" sz="4499">
                <a:solidFill>
                  <a:srgbClr val="3F6FF3"/>
                </a:solidFill>
                <a:latin typeface="Arimo"/>
                <a:ea typeface="Arimo"/>
                <a:cs typeface="Arimo"/>
                <a:sym typeface="Arimo"/>
              </a:rPr>
              <a:t>System Pipeline Overview</a:t>
            </a:r>
          </a:p>
        </p:txBody>
      </p:sp>
      <p:grpSp>
        <p:nvGrpSpPr>
          <p:cNvPr name="Group 11" id="11"/>
          <p:cNvGrpSpPr/>
          <p:nvPr/>
        </p:nvGrpSpPr>
        <p:grpSpPr>
          <a:xfrm rot="0">
            <a:off x="1248223" y="1818237"/>
            <a:ext cx="1144191" cy="1373086"/>
            <a:chOff x="0" y="0"/>
            <a:chExt cx="1525588" cy="1830781"/>
          </a:xfrm>
        </p:grpSpPr>
        <p:sp>
          <p:nvSpPr>
            <p:cNvPr name="Freeform 12" id="12" descr="preencoded.png"/>
            <p:cNvSpPr/>
            <p:nvPr/>
          </p:nvSpPr>
          <p:spPr>
            <a:xfrm flipH="false" flipV="false" rot="0">
              <a:off x="0" y="0"/>
              <a:ext cx="1525651" cy="1830832"/>
            </a:xfrm>
            <a:custGeom>
              <a:avLst/>
              <a:gdLst/>
              <a:ahLst/>
              <a:cxnLst/>
              <a:rect r="r" b="b" t="t" l="l"/>
              <a:pathLst>
                <a:path h="1830832" w="1525651">
                  <a:moveTo>
                    <a:pt x="0" y="0"/>
                  </a:moveTo>
                  <a:lnTo>
                    <a:pt x="1525651" y="0"/>
                  </a:lnTo>
                  <a:lnTo>
                    <a:pt x="1525651" y="1830832"/>
                  </a:lnTo>
                  <a:lnTo>
                    <a:pt x="0" y="1830832"/>
                  </a:lnTo>
                  <a:lnTo>
                    <a:pt x="0" y="0"/>
                  </a:lnTo>
                  <a:close/>
                </a:path>
              </a:pathLst>
            </a:custGeom>
            <a:blipFill>
              <a:blip r:embed="rId4"/>
              <a:stretch>
                <a:fillRect l="-2" t="0" r="2" b="2"/>
              </a:stretch>
            </a:blipFill>
          </p:spPr>
        </p:sp>
      </p:grpSp>
      <p:sp>
        <p:nvSpPr>
          <p:cNvPr name="TextBox 13" id="13"/>
          <p:cNvSpPr txBox="true"/>
          <p:nvPr/>
        </p:nvSpPr>
        <p:spPr>
          <a:xfrm rot="0">
            <a:off x="2577103" y="2018405"/>
            <a:ext cx="2860777" cy="386058"/>
          </a:xfrm>
          <a:prstGeom prst="rect">
            <a:avLst/>
          </a:prstGeom>
        </p:spPr>
        <p:txBody>
          <a:bodyPr anchor="t" rtlCol="false" tIns="0" lIns="0" bIns="0" rIns="0">
            <a:spAutoFit/>
          </a:bodyPr>
          <a:lstStyle/>
          <a:p>
            <a:pPr algn="l">
              <a:lnSpc>
                <a:spcPts val="2812"/>
              </a:lnSpc>
            </a:pPr>
            <a:r>
              <a:rPr lang="en-US" sz="2249">
                <a:solidFill>
                  <a:srgbClr val="666666"/>
                </a:solidFill>
                <a:latin typeface="Arimo"/>
                <a:ea typeface="Arimo"/>
                <a:cs typeface="Arimo"/>
                <a:sym typeface="Arimo"/>
              </a:rPr>
              <a:t>Input</a:t>
            </a:r>
          </a:p>
        </p:txBody>
      </p:sp>
      <p:sp>
        <p:nvSpPr>
          <p:cNvPr name="TextBox 14" id="14"/>
          <p:cNvSpPr txBox="true"/>
          <p:nvPr/>
        </p:nvSpPr>
        <p:spPr>
          <a:xfrm rot="0">
            <a:off x="2577103" y="2467566"/>
            <a:ext cx="14462522" cy="378466"/>
          </a:xfrm>
          <a:prstGeom prst="rect">
            <a:avLst/>
          </a:prstGeom>
        </p:spPr>
        <p:txBody>
          <a:bodyPr anchor="t" rtlCol="false" tIns="0" lIns="0" bIns="0" rIns="0">
            <a:spAutoFit/>
          </a:bodyPr>
          <a:lstStyle/>
          <a:p>
            <a:pPr algn="l">
              <a:lnSpc>
                <a:spcPts val="2562"/>
              </a:lnSpc>
            </a:pPr>
            <a:r>
              <a:rPr lang="en-US" sz="1750">
                <a:solidFill>
                  <a:srgbClr val="666666"/>
                </a:solidFill>
                <a:latin typeface="IBM Plex Sans"/>
                <a:ea typeface="IBM Plex Sans"/>
                <a:cs typeface="IBM Plex Sans"/>
                <a:sym typeface="IBM Plex Sans"/>
              </a:rPr>
              <a:t>Network topology, origin-destination pairs, travel time distributions</a:t>
            </a:r>
          </a:p>
        </p:txBody>
      </p:sp>
      <p:grpSp>
        <p:nvGrpSpPr>
          <p:cNvPr name="Group 15" id="15"/>
          <p:cNvGrpSpPr/>
          <p:nvPr/>
        </p:nvGrpSpPr>
        <p:grpSpPr>
          <a:xfrm rot="0">
            <a:off x="1248223" y="3191323"/>
            <a:ext cx="1144191" cy="1373086"/>
            <a:chOff x="0" y="0"/>
            <a:chExt cx="1525588" cy="1830781"/>
          </a:xfrm>
        </p:grpSpPr>
        <p:sp>
          <p:nvSpPr>
            <p:cNvPr name="Freeform 16" id="16" descr="preencoded.png"/>
            <p:cNvSpPr/>
            <p:nvPr/>
          </p:nvSpPr>
          <p:spPr>
            <a:xfrm flipH="false" flipV="false" rot="0">
              <a:off x="0" y="0"/>
              <a:ext cx="1525651" cy="1830832"/>
            </a:xfrm>
            <a:custGeom>
              <a:avLst/>
              <a:gdLst/>
              <a:ahLst/>
              <a:cxnLst/>
              <a:rect r="r" b="b" t="t" l="l"/>
              <a:pathLst>
                <a:path h="1830832" w="1525651">
                  <a:moveTo>
                    <a:pt x="0" y="0"/>
                  </a:moveTo>
                  <a:lnTo>
                    <a:pt x="1525651" y="0"/>
                  </a:lnTo>
                  <a:lnTo>
                    <a:pt x="1525651" y="1830832"/>
                  </a:lnTo>
                  <a:lnTo>
                    <a:pt x="0" y="1830832"/>
                  </a:lnTo>
                  <a:lnTo>
                    <a:pt x="0" y="0"/>
                  </a:lnTo>
                  <a:close/>
                </a:path>
              </a:pathLst>
            </a:custGeom>
            <a:blipFill>
              <a:blip r:embed="rId5"/>
              <a:stretch>
                <a:fillRect l="-2" t="0" r="2" b="2"/>
              </a:stretch>
            </a:blipFill>
          </p:spPr>
        </p:sp>
      </p:grpSp>
      <p:sp>
        <p:nvSpPr>
          <p:cNvPr name="TextBox 17" id="17"/>
          <p:cNvSpPr txBox="true"/>
          <p:nvPr/>
        </p:nvSpPr>
        <p:spPr>
          <a:xfrm rot="0">
            <a:off x="2577103" y="3391491"/>
            <a:ext cx="2860777" cy="386058"/>
          </a:xfrm>
          <a:prstGeom prst="rect">
            <a:avLst/>
          </a:prstGeom>
        </p:spPr>
        <p:txBody>
          <a:bodyPr anchor="t" rtlCol="false" tIns="0" lIns="0" bIns="0" rIns="0">
            <a:spAutoFit/>
          </a:bodyPr>
          <a:lstStyle/>
          <a:p>
            <a:pPr algn="l">
              <a:lnSpc>
                <a:spcPts val="2812"/>
              </a:lnSpc>
            </a:pPr>
            <a:r>
              <a:rPr lang="en-US" sz="2249">
                <a:solidFill>
                  <a:srgbClr val="666666"/>
                </a:solidFill>
                <a:latin typeface="Arimo"/>
                <a:ea typeface="Arimo"/>
                <a:cs typeface="Arimo"/>
                <a:sym typeface="Arimo"/>
              </a:rPr>
              <a:t>Traffic Simulation</a:t>
            </a:r>
          </a:p>
        </p:txBody>
      </p:sp>
      <p:sp>
        <p:nvSpPr>
          <p:cNvPr name="TextBox 18" id="18"/>
          <p:cNvSpPr txBox="true"/>
          <p:nvPr/>
        </p:nvSpPr>
        <p:spPr>
          <a:xfrm rot="0">
            <a:off x="2577103" y="3840661"/>
            <a:ext cx="14462522" cy="378466"/>
          </a:xfrm>
          <a:prstGeom prst="rect">
            <a:avLst/>
          </a:prstGeom>
        </p:spPr>
        <p:txBody>
          <a:bodyPr anchor="t" rtlCol="false" tIns="0" lIns="0" bIns="0" rIns="0">
            <a:spAutoFit/>
          </a:bodyPr>
          <a:lstStyle/>
          <a:p>
            <a:pPr algn="l">
              <a:lnSpc>
                <a:spcPts val="2562"/>
              </a:lnSpc>
            </a:pPr>
            <a:r>
              <a:rPr lang="en-US" sz="1750">
                <a:solidFill>
                  <a:srgbClr val="666666"/>
                </a:solidFill>
                <a:latin typeface="IBM Plex Sans"/>
                <a:ea typeface="IBM Plex Sans"/>
                <a:cs typeface="IBM Plex Sans"/>
                <a:sym typeface="IBM Plex Sans"/>
              </a:rPr>
              <a:t>Stochastic travel time generation based on probability distributions</a:t>
            </a:r>
          </a:p>
        </p:txBody>
      </p:sp>
      <p:grpSp>
        <p:nvGrpSpPr>
          <p:cNvPr name="Group 19" id="19"/>
          <p:cNvGrpSpPr/>
          <p:nvPr/>
        </p:nvGrpSpPr>
        <p:grpSpPr>
          <a:xfrm rot="0">
            <a:off x="1248223" y="4564409"/>
            <a:ext cx="1144191" cy="1373086"/>
            <a:chOff x="0" y="0"/>
            <a:chExt cx="1525588" cy="1830781"/>
          </a:xfrm>
        </p:grpSpPr>
        <p:sp>
          <p:nvSpPr>
            <p:cNvPr name="Freeform 20" id="20" descr="preencoded.png"/>
            <p:cNvSpPr/>
            <p:nvPr/>
          </p:nvSpPr>
          <p:spPr>
            <a:xfrm flipH="false" flipV="false" rot="0">
              <a:off x="0" y="0"/>
              <a:ext cx="1525651" cy="1830832"/>
            </a:xfrm>
            <a:custGeom>
              <a:avLst/>
              <a:gdLst/>
              <a:ahLst/>
              <a:cxnLst/>
              <a:rect r="r" b="b" t="t" l="l"/>
              <a:pathLst>
                <a:path h="1830832" w="1525651">
                  <a:moveTo>
                    <a:pt x="0" y="0"/>
                  </a:moveTo>
                  <a:lnTo>
                    <a:pt x="1525651" y="0"/>
                  </a:lnTo>
                  <a:lnTo>
                    <a:pt x="1525651" y="1830832"/>
                  </a:lnTo>
                  <a:lnTo>
                    <a:pt x="0" y="1830832"/>
                  </a:lnTo>
                  <a:lnTo>
                    <a:pt x="0" y="0"/>
                  </a:lnTo>
                  <a:close/>
                </a:path>
              </a:pathLst>
            </a:custGeom>
            <a:blipFill>
              <a:blip r:embed="rId6"/>
              <a:stretch>
                <a:fillRect l="-2" t="0" r="2" b="2"/>
              </a:stretch>
            </a:blipFill>
          </p:spPr>
        </p:sp>
      </p:grpSp>
      <p:sp>
        <p:nvSpPr>
          <p:cNvPr name="TextBox 21" id="21"/>
          <p:cNvSpPr txBox="true"/>
          <p:nvPr/>
        </p:nvSpPr>
        <p:spPr>
          <a:xfrm rot="0">
            <a:off x="2577103" y="4764586"/>
            <a:ext cx="2860777" cy="386058"/>
          </a:xfrm>
          <a:prstGeom prst="rect">
            <a:avLst/>
          </a:prstGeom>
        </p:spPr>
        <p:txBody>
          <a:bodyPr anchor="t" rtlCol="false" tIns="0" lIns="0" bIns="0" rIns="0">
            <a:spAutoFit/>
          </a:bodyPr>
          <a:lstStyle/>
          <a:p>
            <a:pPr algn="l">
              <a:lnSpc>
                <a:spcPts val="2812"/>
              </a:lnSpc>
            </a:pPr>
            <a:r>
              <a:rPr lang="en-US" sz="2249">
                <a:solidFill>
                  <a:srgbClr val="666666"/>
                </a:solidFill>
                <a:latin typeface="Arimo"/>
                <a:ea typeface="Arimo"/>
                <a:cs typeface="Arimo"/>
                <a:sym typeface="Arimo"/>
              </a:rPr>
              <a:t>Decision Rule</a:t>
            </a:r>
          </a:p>
        </p:txBody>
      </p:sp>
      <p:sp>
        <p:nvSpPr>
          <p:cNvPr name="TextBox 22" id="22"/>
          <p:cNvSpPr txBox="true"/>
          <p:nvPr/>
        </p:nvSpPr>
        <p:spPr>
          <a:xfrm rot="0">
            <a:off x="2577103" y="5213747"/>
            <a:ext cx="14462522" cy="378466"/>
          </a:xfrm>
          <a:prstGeom prst="rect">
            <a:avLst/>
          </a:prstGeom>
        </p:spPr>
        <p:txBody>
          <a:bodyPr anchor="t" rtlCol="false" tIns="0" lIns="0" bIns="0" rIns="0">
            <a:spAutoFit/>
          </a:bodyPr>
          <a:lstStyle/>
          <a:p>
            <a:pPr algn="l">
              <a:lnSpc>
                <a:spcPts val="2562"/>
              </a:lnSpc>
            </a:pPr>
            <a:r>
              <a:rPr lang="en-US" sz="1750">
                <a:solidFill>
                  <a:srgbClr val="000000"/>
                </a:solidFill>
                <a:latin typeface="IBM Plex Sans"/>
                <a:ea typeface="IBM Plex Sans"/>
                <a:cs typeface="IBM Plex Sans"/>
                <a:sym typeface="IBM Plex Sans"/>
              </a:rPr>
              <a:t>Randomized probabilistic route selection </a:t>
            </a:r>
            <a:r>
              <a:rPr lang="en-US" sz="1750">
                <a:solidFill>
                  <a:srgbClr val="666666"/>
                </a:solidFill>
                <a:latin typeface="IBM Plex Sans"/>
                <a:ea typeface="IBM Plex Sans"/>
                <a:cs typeface="IBM Plex Sans"/>
                <a:sym typeface="IBM Plex Sans"/>
              </a:rPr>
              <a:t>(modified component)</a:t>
            </a:r>
          </a:p>
        </p:txBody>
      </p:sp>
      <p:grpSp>
        <p:nvGrpSpPr>
          <p:cNvPr name="Group 23" id="23"/>
          <p:cNvGrpSpPr/>
          <p:nvPr/>
        </p:nvGrpSpPr>
        <p:grpSpPr>
          <a:xfrm rot="0">
            <a:off x="1248223" y="5937494"/>
            <a:ext cx="1144191" cy="1373086"/>
            <a:chOff x="0" y="0"/>
            <a:chExt cx="1525588" cy="1830781"/>
          </a:xfrm>
        </p:grpSpPr>
        <p:sp>
          <p:nvSpPr>
            <p:cNvPr name="Freeform 24" id="24" descr="preencoded.png"/>
            <p:cNvSpPr/>
            <p:nvPr/>
          </p:nvSpPr>
          <p:spPr>
            <a:xfrm flipH="false" flipV="false" rot="0">
              <a:off x="0" y="0"/>
              <a:ext cx="1525651" cy="1830832"/>
            </a:xfrm>
            <a:custGeom>
              <a:avLst/>
              <a:gdLst/>
              <a:ahLst/>
              <a:cxnLst/>
              <a:rect r="r" b="b" t="t" l="l"/>
              <a:pathLst>
                <a:path h="1830832" w="1525651">
                  <a:moveTo>
                    <a:pt x="0" y="0"/>
                  </a:moveTo>
                  <a:lnTo>
                    <a:pt x="1525651" y="0"/>
                  </a:lnTo>
                  <a:lnTo>
                    <a:pt x="1525651" y="1830832"/>
                  </a:lnTo>
                  <a:lnTo>
                    <a:pt x="0" y="1830832"/>
                  </a:lnTo>
                  <a:lnTo>
                    <a:pt x="0" y="0"/>
                  </a:lnTo>
                  <a:close/>
                </a:path>
              </a:pathLst>
            </a:custGeom>
            <a:blipFill>
              <a:blip r:embed="rId7"/>
              <a:stretch>
                <a:fillRect l="-2" t="0" r="2" b="2"/>
              </a:stretch>
            </a:blipFill>
          </p:spPr>
        </p:sp>
      </p:grpSp>
      <p:sp>
        <p:nvSpPr>
          <p:cNvPr name="TextBox 25" id="25"/>
          <p:cNvSpPr txBox="true"/>
          <p:nvPr/>
        </p:nvSpPr>
        <p:spPr>
          <a:xfrm rot="0">
            <a:off x="2577103" y="6137672"/>
            <a:ext cx="2860777" cy="386058"/>
          </a:xfrm>
          <a:prstGeom prst="rect">
            <a:avLst/>
          </a:prstGeom>
        </p:spPr>
        <p:txBody>
          <a:bodyPr anchor="t" rtlCol="false" tIns="0" lIns="0" bIns="0" rIns="0">
            <a:spAutoFit/>
          </a:bodyPr>
          <a:lstStyle/>
          <a:p>
            <a:pPr algn="l">
              <a:lnSpc>
                <a:spcPts val="2812"/>
              </a:lnSpc>
            </a:pPr>
            <a:r>
              <a:rPr lang="en-US" sz="2249">
                <a:solidFill>
                  <a:srgbClr val="666666"/>
                </a:solidFill>
                <a:latin typeface="Arimo"/>
                <a:ea typeface="Arimo"/>
                <a:cs typeface="Arimo"/>
                <a:sym typeface="Arimo"/>
              </a:rPr>
              <a:t>Route Selection</a:t>
            </a:r>
          </a:p>
        </p:txBody>
      </p:sp>
      <p:sp>
        <p:nvSpPr>
          <p:cNvPr name="TextBox 26" id="26"/>
          <p:cNvSpPr txBox="true"/>
          <p:nvPr/>
        </p:nvSpPr>
        <p:spPr>
          <a:xfrm rot="0">
            <a:off x="2577103" y="6586833"/>
            <a:ext cx="14462522" cy="378466"/>
          </a:xfrm>
          <a:prstGeom prst="rect">
            <a:avLst/>
          </a:prstGeom>
        </p:spPr>
        <p:txBody>
          <a:bodyPr anchor="t" rtlCol="false" tIns="0" lIns="0" bIns="0" rIns="0">
            <a:spAutoFit/>
          </a:bodyPr>
          <a:lstStyle/>
          <a:p>
            <a:pPr algn="l">
              <a:lnSpc>
                <a:spcPts val="2562"/>
              </a:lnSpc>
            </a:pPr>
            <a:r>
              <a:rPr lang="en-US" sz="1750">
                <a:solidFill>
                  <a:srgbClr val="666666"/>
                </a:solidFill>
                <a:latin typeface="IBM Plex Sans"/>
                <a:ea typeface="IBM Plex Sans"/>
                <a:cs typeface="IBM Plex Sans"/>
                <a:sym typeface="IBM Plex Sans"/>
              </a:rPr>
              <a:t>Optimal path based on on-time arrival probability</a:t>
            </a:r>
          </a:p>
        </p:txBody>
      </p:sp>
      <p:grpSp>
        <p:nvGrpSpPr>
          <p:cNvPr name="Group 27" id="27"/>
          <p:cNvGrpSpPr/>
          <p:nvPr/>
        </p:nvGrpSpPr>
        <p:grpSpPr>
          <a:xfrm rot="0">
            <a:off x="1248223" y="7310590"/>
            <a:ext cx="1144191" cy="1373086"/>
            <a:chOff x="0" y="0"/>
            <a:chExt cx="1525588" cy="1830781"/>
          </a:xfrm>
        </p:grpSpPr>
        <p:sp>
          <p:nvSpPr>
            <p:cNvPr name="Freeform 28" id="28" descr="preencoded.png"/>
            <p:cNvSpPr/>
            <p:nvPr/>
          </p:nvSpPr>
          <p:spPr>
            <a:xfrm flipH="false" flipV="false" rot="0">
              <a:off x="0" y="0"/>
              <a:ext cx="1525651" cy="1830832"/>
            </a:xfrm>
            <a:custGeom>
              <a:avLst/>
              <a:gdLst/>
              <a:ahLst/>
              <a:cxnLst/>
              <a:rect r="r" b="b" t="t" l="l"/>
              <a:pathLst>
                <a:path h="1830832" w="1525651">
                  <a:moveTo>
                    <a:pt x="0" y="0"/>
                  </a:moveTo>
                  <a:lnTo>
                    <a:pt x="1525651" y="0"/>
                  </a:lnTo>
                  <a:lnTo>
                    <a:pt x="1525651" y="1830832"/>
                  </a:lnTo>
                  <a:lnTo>
                    <a:pt x="0" y="1830832"/>
                  </a:lnTo>
                  <a:lnTo>
                    <a:pt x="0" y="0"/>
                  </a:lnTo>
                  <a:close/>
                </a:path>
              </a:pathLst>
            </a:custGeom>
            <a:blipFill>
              <a:blip r:embed="rId8"/>
              <a:stretch>
                <a:fillRect l="-2" t="0" r="2" b="2"/>
              </a:stretch>
            </a:blipFill>
          </p:spPr>
        </p:sp>
      </p:grpSp>
      <p:sp>
        <p:nvSpPr>
          <p:cNvPr name="TextBox 29" id="29"/>
          <p:cNvSpPr txBox="true"/>
          <p:nvPr/>
        </p:nvSpPr>
        <p:spPr>
          <a:xfrm rot="0">
            <a:off x="2577103" y="7510758"/>
            <a:ext cx="2860777" cy="386058"/>
          </a:xfrm>
          <a:prstGeom prst="rect">
            <a:avLst/>
          </a:prstGeom>
        </p:spPr>
        <p:txBody>
          <a:bodyPr anchor="t" rtlCol="false" tIns="0" lIns="0" bIns="0" rIns="0">
            <a:spAutoFit/>
          </a:bodyPr>
          <a:lstStyle/>
          <a:p>
            <a:pPr algn="l">
              <a:lnSpc>
                <a:spcPts val="2812"/>
              </a:lnSpc>
            </a:pPr>
            <a:r>
              <a:rPr lang="en-US" sz="2249">
                <a:solidFill>
                  <a:srgbClr val="666666"/>
                </a:solidFill>
                <a:latin typeface="Arimo"/>
                <a:ea typeface="Arimo"/>
                <a:cs typeface="Arimo"/>
                <a:sym typeface="Arimo"/>
              </a:rPr>
              <a:t>Output</a:t>
            </a:r>
          </a:p>
        </p:txBody>
      </p:sp>
      <p:sp>
        <p:nvSpPr>
          <p:cNvPr name="TextBox 30" id="30"/>
          <p:cNvSpPr txBox="true"/>
          <p:nvPr/>
        </p:nvSpPr>
        <p:spPr>
          <a:xfrm rot="0">
            <a:off x="2577103" y="7959928"/>
            <a:ext cx="14462522" cy="378466"/>
          </a:xfrm>
          <a:prstGeom prst="rect">
            <a:avLst/>
          </a:prstGeom>
        </p:spPr>
        <p:txBody>
          <a:bodyPr anchor="t" rtlCol="false" tIns="0" lIns="0" bIns="0" rIns="0">
            <a:spAutoFit/>
          </a:bodyPr>
          <a:lstStyle/>
          <a:p>
            <a:pPr algn="l">
              <a:lnSpc>
                <a:spcPts val="2562"/>
              </a:lnSpc>
            </a:pPr>
            <a:r>
              <a:rPr lang="en-US" sz="1750">
                <a:solidFill>
                  <a:srgbClr val="666666"/>
                </a:solidFill>
                <a:latin typeface="IBM Plex Sans"/>
                <a:ea typeface="IBM Plex Sans"/>
                <a:cs typeface="IBM Plex Sans"/>
                <a:sym typeface="IBM Plex Sans"/>
              </a:rPr>
              <a:t>Selected route with reliability metrics</a:t>
            </a:r>
          </a:p>
        </p:txBody>
      </p:sp>
      <p:sp>
        <p:nvSpPr>
          <p:cNvPr name="TextBox 31" id="31"/>
          <p:cNvSpPr txBox="true"/>
          <p:nvPr/>
        </p:nvSpPr>
        <p:spPr>
          <a:xfrm rot="0">
            <a:off x="1248223" y="8605390"/>
            <a:ext cx="15791412" cy="709317"/>
          </a:xfrm>
          <a:prstGeom prst="rect">
            <a:avLst/>
          </a:prstGeom>
        </p:spPr>
        <p:txBody>
          <a:bodyPr anchor="t" rtlCol="false" tIns="0" lIns="0" bIns="0" rIns="0">
            <a:spAutoFit/>
          </a:bodyPr>
          <a:lstStyle/>
          <a:p>
            <a:pPr algn="l">
              <a:lnSpc>
                <a:spcPts val="2562"/>
              </a:lnSpc>
            </a:pPr>
            <a:r>
              <a:rPr lang="en-US" sz="1750">
                <a:solidFill>
                  <a:srgbClr val="666666"/>
                </a:solidFill>
                <a:latin typeface="IBM Plex Sans"/>
                <a:ea typeface="IBM Plex Sans"/>
                <a:cs typeface="IBM Plex Sans"/>
                <a:sym typeface="IBM Plex Sans"/>
              </a:rPr>
              <a:t>Only the decision logic component is modified in this milestone, maintaining compatibility with existing simulation infrastructure while introducing probabilistic reasoning capabilities.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1756172" y="845344"/>
            <a:ext cx="5403352" cy="716756"/>
          </a:xfrm>
          <a:prstGeom prst="rect">
            <a:avLst/>
          </a:prstGeom>
        </p:spPr>
        <p:txBody>
          <a:bodyPr anchor="t" rtlCol="false" tIns="0" lIns="0" bIns="0" rIns="0">
            <a:spAutoFit/>
          </a:bodyPr>
          <a:lstStyle/>
          <a:p>
            <a:pPr algn="l">
              <a:lnSpc>
                <a:spcPts val="5250"/>
              </a:lnSpc>
            </a:pPr>
            <a:r>
              <a:rPr lang="en-US" sz="4187">
                <a:solidFill>
                  <a:srgbClr val="3F6FF3"/>
                </a:solidFill>
                <a:latin typeface="Arimo"/>
                <a:ea typeface="Arimo"/>
                <a:cs typeface="Arimo"/>
                <a:sym typeface="Arimo"/>
              </a:rPr>
              <a:t>Sources of Uncertainty</a:t>
            </a:r>
          </a:p>
        </p:txBody>
      </p:sp>
      <p:grpSp>
        <p:nvGrpSpPr>
          <p:cNvPr name="Group 11" id="11"/>
          <p:cNvGrpSpPr/>
          <p:nvPr/>
        </p:nvGrpSpPr>
        <p:grpSpPr>
          <a:xfrm rot="0">
            <a:off x="1756172" y="2079431"/>
            <a:ext cx="3061097" cy="2547042"/>
            <a:chOff x="0" y="0"/>
            <a:chExt cx="4081462" cy="3396056"/>
          </a:xfrm>
        </p:grpSpPr>
        <p:sp>
          <p:nvSpPr>
            <p:cNvPr name="Freeform 12" id="12"/>
            <p:cNvSpPr/>
            <p:nvPr/>
          </p:nvSpPr>
          <p:spPr>
            <a:xfrm flipH="false" flipV="false" rot="0">
              <a:off x="19050" y="19050"/>
              <a:ext cx="4043426" cy="3358007"/>
            </a:xfrm>
            <a:custGeom>
              <a:avLst/>
              <a:gdLst/>
              <a:ahLst/>
              <a:cxnLst/>
              <a:rect r="r" b="b" t="t" l="l"/>
              <a:pathLst>
                <a:path h="3358007" w="4043426">
                  <a:moveTo>
                    <a:pt x="0" y="182880"/>
                  </a:moveTo>
                  <a:cubicBezTo>
                    <a:pt x="0" y="81915"/>
                    <a:pt x="82042" y="0"/>
                    <a:pt x="183261" y="0"/>
                  </a:cubicBezTo>
                  <a:lnTo>
                    <a:pt x="3860165" y="0"/>
                  </a:lnTo>
                  <a:cubicBezTo>
                    <a:pt x="3961384" y="0"/>
                    <a:pt x="4043426" y="81915"/>
                    <a:pt x="4043426" y="182880"/>
                  </a:cubicBezTo>
                  <a:lnTo>
                    <a:pt x="4043426" y="3175127"/>
                  </a:lnTo>
                  <a:cubicBezTo>
                    <a:pt x="4043426" y="3276092"/>
                    <a:pt x="3961384" y="3358007"/>
                    <a:pt x="3860165" y="3358007"/>
                  </a:cubicBezTo>
                  <a:lnTo>
                    <a:pt x="183261" y="3358007"/>
                  </a:lnTo>
                  <a:cubicBezTo>
                    <a:pt x="82042" y="3358007"/>
                    <a:pt x="0" y="3276092"/>
                    <a:pt x="0" y="3175127"/>
                  </a:cubicBezTo>
                  <a:close/>
                </a:path>
              </a:pathLst>
            </a:custGeom>
            <a:solidFill>
              <a:srgbClr val="FFFFFF">
                <a:alpha val="90196"/>
              </a:srgbClr>
            </a:solidFill>
          </p:spPr>
        </p:sp>
        <p:sp>
          <p:nvSpPr>
            <p:cNvPr name="Freeform 13" id="13"/>
            <p:cNvSpPr/>
            <p:nvPr/>
          </p:nvSpPr>
          <p:spPr>
            <a:xfrm flipH="false" flipV="false" rot="0">
              <a:off x="0" y="0"/>
              <a:ext cx="4081526" cy="3396107"/>
            </a:xfrm>
            <a:custGeom>
              <a:avLst/>
              <a:gdLst/>
              <a:ahLst/>
              <a:cxnLst/>
              <a:rect r="r" b="b" t="t" l="l"/>
              <a:pathLst>
                <a:path h="3396107" w="4081526">
                  <a:moveTo>
                    <a:pt x="0" y="201930"/>
                  </a:moveTo>
                  <a:cubicBezTo>
                    <a:pt x="0" y="90424"/>
                    <a:pt x="90551" y="0"/>
                    <a:pt x="202311" y="0"/>
                  </a:cubicBezTo>
                  <a:lnTo>
                    <a:pt x="3879215" y="0"/>
                  </a:lnTo>
                  <a:lnTo>
                    <a:pt x="3879215" y="19050"/>
                  </a:lnTo>
                  <a:lnTo>
                    <a:pt x="3879215" y="0"/>
                  </a:lnTo>
                  <a:cubicBezTo>
                    <a:pt x="3990848" y="0"/>
                    <a:pt x="4081526" y="90424"/>
                    <a:pt x="4081526" y="201930"/>
                  </a:cubicBezTo>
                  <a:lnTo>
                    <a:pt x="4062476" y="201930"/>
                  </a:lnTo>
                  <a:lnTo>
                    <a:pt x="4081526" y="201930"/>
                  </a:lnTo>
                  <a:lnTo>
                    <a:pt x="4081526" y="3194177"/>
                  </a:lnTo>
                  <a:lnTo>
                    <a:pt x="4062476" y="3194177"/>
                  </a:lnTo>
                  <a:lnTo>
                    <a:pt x="4081526" y="3194177"/>
                  </a:lnTo>
                  <a:cubicBezTo>
                    <a:pt x="4081526" y="3305683"/>
                    <a:pt x="3990975" y="3396107"/>
                    <a:pt x="3879215" y="3396107"/>
                  </a:cubicBezTo>
                  <a:lnTo>
                    <a:pt x="3879215" y="3377057"/>
                  </a:lnTo>
                  <a:lnTo>
                    <a:pt x="3879215" y="3396107"/>
                  </a:lnTo>
                  <a:lnTo>
                    <a:pt x="202311" y="3396107"/>
                  </a:lnTo>
                  <a:lnTo>
                    <a:pt x="202311" y="3377057"/>
                  </a:lnTo>
                  <a:lnTo>
                    <a:pt x="202311" y="3396107"/>
                  </a:lnTo>
                  <a:cubicBezTo>
                    <a:pt x="90551" y="3396107"/>
                    <a:pt x="0" y="3305683"/>
                    <a:pt x="0" y="3194177"/>
                  </a:cubicBezTo>
                  <a:lnTo>
                    <a:pt x="0" y="201930"/>
                  </a:lnTo>
                  <a:lnTo>
                    <a:pt x="19050" y="201930"/>
                  </a:lnTo>
                  <a:lnTo>
                    <a:pt x="0" y="201930"/>
                  </a:lnTo>
                  <a:moveTo>
                    <a:pt x="38100" y="201930"/>
                  </a:moveTo>
                  <a:lnTo>
                    <a:pt x="38100" y="3194177"/>
                  </a:lnTo>
                  <a:lnTo>
                    <a:pt x="19050" y="3194177"/>
                  </a:lnTo>
                  <a:lnTo>
                    <a:pt x="38100" y="3194177"/>
                  </a:lnTo>
                  <a:cubicBezTo>
                    <a:pt x="38100" y="3284601"/>
                    <a:pt x="111506" y="3358007"/>
                    <a:pt x="202311" y="3358007"/>
                  </a:cubicBezTo>
                  <a:lnTo>
                    <a:pt x="3879215" y="3358007"/>
                  </a:lnTo>
                  <a:cubicBezTo>
                    <a:pt x="3969893" y="3358007"/>
                    <a:pt x="4043426" y="3284601"/>
                    <a:pt x="4043426" y="3194177"/>
                  </a:cubicBezTo>
                  <a:lnTo>
                    <a:pt x="4043426" y="201930"/>
                  </a:lnTo>
                  <a:cubicBezTo>
                    <a:pt x="4043426" y="111506"/>
                    <a:pt x="3970020" y="38100"/>
                    <a:pt x="3879215" y="38100"/>
                  </a:cubicBezTo>
                  <a:lnTo>
                    <a:pt x="202311" y="38100"/>
                  </a:lnTo>
                  <a:lnTo>
                    <a:pt x="202311" y="19050"/>
                  </a:lnTo>
                  <a:lnTo>
                    <a:pt x="202311" y="38100"/>
                  </a:lnTo>
                  <a:cubicBezTo>
                    <a:pt x="111506" y="38100"/>
                    <a:pt x="38100" y="111506"/>
                    <a:pt x="38100" y="201930"/>
                  </a:cubicBezTo>
                  <a:close/>
                </a:path>
              </a:pathLst>
            </a:custGeom>
            <a:solidFill>
              <a:srgbClr val="B5C1E2"/>
            </a:solidFill>
          </p:spPr>
        </p:sp>
      </p:grpSp>
      <p:sp>
        <p:nvSpPr>
          <p:cNvPr name="TextBox 14" id="14"/>
          <p:cNvSpPr txBox="true"/>
          <p:nvPr/>
        </p:nvSpPr>
        <p:spPr>
          <a:xfrm rot="0">
            <a:off x="2055909" y="2320681"/>
            <a:ext cx="2461622" cy="697706"/>
          </a:xfrm>
          <a:prstGeom prst="rect">
            <a:avLst/>
          </a:prstGeom>
        </p:spPr>
        <p:txBody>
          <a:bodyPr anchor="t" rtlCol="false" tIns="0" lIns="0" bIns="0" rIns="0">
            <a:spAutoFit/>
          </a:bodyPr>
          <a:lstStyle/>
          <a:p>
            <a:pPr algn="l">
              <a:lnSpc>
                <a:spcPts val="2625"/>
              </a:lnSpc>
            </a:pPr>
            <a:r>
              <a:rPr lang="en-US" sz="2062">
                <a:solidFill>
                  <a:srgbClr val="666666"/>
                </a:solidFill>
                <a:latin typeface="Arimo"/>
                <a:ea typeface="Arimo"/>
                <a:cs typeface="Arimo"/>
                <a:sym typeface="Arimo"/>
              </a:rPr>
              <a:t>Traffic Congestion Variability</a:t>
            </a:r>
          </a:p>
        </p:txBody>
      </p:sp>
      <p:sp>
        <p:nvSpPr>
          <p:cNvPr name="TextBox 15" id="15"/>
          <p:cNvSpPr txBox="true"/>
          <p:nvPr/>
        </p:nvSpPr>
        <p:spPr>
          <a:xfrm rot="0">
            <a:off x="2055909" y="3147570"/>
            <a:ext cx="2461622" cy="1240631"/>
          </a:xfrm>
          <a:prstGeom prst="rect">
            <a:avLst/>
          </a:prstGeom>
        </p:spPr>
        <p:txBody>
          <a:bodyPr anchor="t" rtlCol="false" tIns="0" lIns="0" bIns="0" rIns="0">
            <a:spAutoFit/>
          </a:bodyPr>
          <a:lstStyle/>
          <a:p>
            <a:pPr algn="l">
              <a:lnSpc>
                <a:spcPts val="2312"/>
              </a:lnSpc>
            </a:pPr>
            <a:r>
              <a:rPr lang="en-US" sz="1625">
                <a:solidFill>
                  <a:srgbClr val="666666"/>
                </a:solidFill>
                <a:latin typeface="IBM Plex Sans"/>
                <a:ea typeface="IBM Plex Sans"/>
                <a:cs typeface="IBM Plex Sans"/>
                <a:sym typeface="IBM Plex Sans"/>
              </a:rPr>
              <a:t>Peak hours, special events, and random fluctuations cause unpredictable delays</a:t>
            </a:r>
          </a:p>
        </p:txBody>
      </p:sp>
      <p:grpSp>
        <p:nvGrpSpPr>
          <p:cNvPr name="Group 16" id="16"/>
          <p:cNvGrpSpPr/>
          <p:nvPr/>
        </p:nvGrpSpPr>
        <p:grpSpPr>
          <a:xfrm rot="0">
            <a:off x="7205662" y="2079431"/>
            <a:ext cx="3061249" cy="2547042"/>
            <a:chOff x="0" y="0"/>
            <a:chExt cx="4081666" cy="3396056"/>
          </a:xfrm>
        </p:grpSpPr>
        <p:sp>
          <p:nvSpPr>
            <p:cNvPr name="Freeform 17" id="17"/>
            <p:cNvSpPr/>
            <p:nvPr/>
          </p:nvSpPr>
          <p:spPr>
            <a:xfrm flipH="false" flipV="false" rot="0">
              <a:off x="19050" y="19050"/>
              <a:ext cx="4043553" cy="3358007"/>
            </a:xfrm>
            <a:custGeom>
              <a:avLst/>
              <a:gdLst/>
              <a:ahLst/>
              <a:cxnLst/>
              <a:rect r="r" b="b" t="t" l="l"/>
              <a:pathLst>
                <a:path h="3358007" w="4043553">
                  <a:moveTo>
                    <a:pt x="0" y="182880"/>
                  </a:moveTo>
                  <a:cubicBezTo>
                    <a:pt x="0" y="81915"/>
                    <a:pt x="82042" y="0"/>
                    <a:pt x="183261" y="0"/>
                  </a:cubicBezTo>
                  <a:lnTo>
                    <a:pt x="3860292" y="0"/>
                  </a:lnTo>
                  <a:cubicBezTo>
                    <a:pt x="3961511" y="0"/>
                    <a:pt x="4043553" y="81915"/>
                    <a:pt x="4043553" y="182880"/>
                  </a:cubicBezTo>
                  <a:lnTo>
                    <a:pt x="4043553" y="3175127"/>
                  </a:lnTo>
                  <a:cubicBezTo>
                    <a:pt x="4043553" y="3276092"/>
                    <a:pt x="3961511" y="3358007"/>
                    <a:pt x="3860292" y="3358007"/>
                  </a:cubicBezTo>
                  <a:lnTo>
                    <a:pt x="183261" y="3358007"/>
                  </a:lnTo>
                  <a:cubicBezTo>
                    <a:pt x="82042" y="3358007"/>
                    <a:pt x="0" y="3276092"/>
                    <a:pt x="0" y="3175127"/>
                  </a:cubicBezTo>
                  <a:close/>
                </a:path>
              </a:pathLst>
            </a:custGeom>
            <a:solidFill>
              <a:srgbClr val="FFFFFF">
                <a:alpha val="90196"/>
              </a:srgbClr>
            </a:solidFill>
          </p:spPr>
        </p:sp>
        <p:sp>
          <p:nvSpPr>
            <p:cNvPr name="Freeform 18" id="18"/>
            <p:cNvSpPr/>
            <p:nvPr/>
          </p:nvSpPr>
          <p:spPr>
            <a:xfrm flipH="false" flipV="false" rot="0">
              <a:off x="0" y="0"/>
              <a:ext cx="4081653" cy="3396107"/>
            </a:xfrm>
            <a:custGeom>
              <a:avLst/>
              <a:gdLst/>
              <a:ahLst/>
              <a:cxnLst/>
              <a:rect r="r" b="b" t="t" l="l"/>
              <a:pathLst>
                <a:path h="3396107" w="4081653">
                  <a:moveTo>
                    <a:pt x="0" y="201930"/>
                  </a:moveTo>
                  <a:cubicBezTo>
                    <a:pt x="0" y="90424"/>
                    <a:pt x="90551" y="0"/>
                    <a:pt x="202311" y="0"/>
                  </a:cubicBezTo>
                  <a:lnTo>
                    <a:pt x="3879342" y="0"/>
                  </a:lnTo>
                  <a:lnTo>
                    <a:pt x="3879342" y="19050"/>
                  </a:lnTo>
                  <a:lnTo>
                    <a:pt x="3879342" y="0"/>
                  </a:lnTo>
                  <a:cubicBezTo>
                    <a:pt x="3990975" y="0"/>
                    <a:pt x="4081653" y="90424"/>
                    <a:pt x="4081653" y="201930"/>
                  </a:cubicBezTo>
                  <a:lnTo>
                    <a:pt x="4062603" y="201930"/>
                  </a:lnTo>
                  <a:lnTo>
                    <a:pt x="4081653" y="201930"/>
                  </a:lnTo>
                  <a:lnTo>
                    <a:pt x="4081653" y="3194177"/>
                  </a:lnTo>
                  <a:lnTo>
                    <a:pt x="4062603" y="3194177"/>
                  </a:lnTo>
                  <a:lnTo>
                    <a:pt x="4081653" y="3194177"/>
                  </a:lnTo>
                  <a:cubicBezTo>
                    <a:pt x="4081653" y="3305683"/>
                    <a:pt x="3991102" y="3396107"/>
                    <a:pt x="3879342" y="3396107"/>
                  </a:cubicBezTo>
                  <a:lnTo>
                    <a:pt x="3879342" y="3377057"/>
                  </a:lnTo>
                  <a:lnTo>
                    <a:pt x="3879342" y="3396107"/>
                  </a:lnTo>
                  <a:lnTo>
                    <a:pt x="202311" y="3396107"/>
                  </a:lnTo>
                  <a:lnTo>
                    <a:pt x="202311" y="3377057"/>
                  </a:lnTo>
                  <a:lnTo>
                    <a:pt x="202311" y="3396107"/>
                  </a:lnTo>
                  <a:cubicBezTo>
                    <a:pt x="90551" y="3396107"/>
                    <a:pt x="0" y="3305683"/>
                    <a:pt x="0" y="3194177"/>
                  </a:cubicBezTo>
                  <a:lnTo>
                    <a:pt x="0" y="201930"/>
                  </a:lnTo>
                  <a:lnTo>
                    <a:pt x="19050" y="201930"/>
                  </a:lnTo>
                  <a:lnTo>
                    <a:pt x="0" y="201930"/>
                  </a:lnTo>
                  <a:moveTo>
                    <a:pt x="38100" y="201930"/>
                  </a:moveTo>
                  <a:lnTo>
                    <a:pt x="38100" y="3194177"/>
                  </a:lnTo>
                  <a:lnTo>
                    <a:pt x="19050" y="3194177"/>
                  </a:lnTo>
                  <a:lnTo>
                    <a:pt x="38100" y="3194177"/>
                  </a:lnTo>
                  <a:cubicBezTo>
                    <a:pt x="38100" y="3284601"/>
                    <a:pt x="111506" y="3358007"/>
                    <a:pt x="202311" y="3358007"/>
                  </a:cubicBezTo>
                  <a:lnTo>
                    <a:pt x="3879342" y="3358007"/>
                  </a:lnTo>
                  <a:cubicBezTo>
                    <a:pt x="3970020" y="3358007"/>
                    <a:pt x="4043553" y="3284601"/>
                    <a:pt x="4043553" y="3194177"/>
                  </a:cubicBezTo>
                  <a:lnTo>
                    <a:pt x="4043553" y="201930"/>
                  </a:lnTo>
                  <a:cubicBezTo>
                    <a:pt x="4043553" y="111506"/>
                    <a:pt x="3970147" y="38100"/>
                    <a:pt x="3879342" y="38100"/>
                  </a:cubicBezTo>
                  <a:lnTo>
                    <a:pt x="202311" y="38100"/>
                  </a:lnTo>
                  <a:lnTo>
                    <a:pt x="202311" y="19050"/>
                  </a:lnTo>
                  <a:lnTo>
                    <a:pt x="202311" y="38100"/>
                  </a:lnTo>
                  <a:cubicBezTo>
                    <a:pt x="111506" y="38100"/>
                    <a:pt x="38100" y="111506"/>
                    <a:pt x="38100" y="201930"/>
                  </a:cubicBezTo>
                  <a:close/>
                </a:path>
              </a:pathLst>
            </a:custGeom>
            <a:solidFill>
              <a:srgbClr val="B5C1E2"/>
            </a:solidFill>
          </p:spPr>
        </p:sp>
      </p:grpSp>
      <p:sp>
        <p:nvSpPr>
          <p:cNvPr name="TextBox 19" id="19"/>
          <p:cNvSpPr txBox="true"/>
          <p:nvPr/>
        </p:nvSpPr>
        <p:spPr>
          <a:xfrm rot="0">
            <a:off x="7505405" y="2412654"/>
            <a:ext cx="2461765" cy="363141"/>
          </a:xfrm>
          <a:prstGeom prst="rect">
            <a:avLst/>
          </a:prstGeom>
        </p:spPr>
        <p:txBody>
          <a:bodyPr anchor="t" rtlCol="false" tIns="0" lIns="0" bIns="0" rIns="0">
            <a:spAutoFit/>
          </a:bodyPr>
          <a:lstStyle/>
          <a:p>
            <a:pPr algn="l">
              <a:lnSpc>
                <a:spcPts val="2625"/>
              </a:lnSpc>
            </a:pPr>
            <a:r>
              <a:rPr lang="en-US" sz="2062">
                <a:solidFill>
                  <a:srgbClr val="666666"/>
                </a:solidFill>
                <a:latin typeface="Arimo"/>
                <a:ea typeface="Arimo"/>
                <a:cs typeface="Arimo"/>
                <a:sym typeface="Arimo"/>
              </a:rPr>
              <a:t>Random Delays</a:t>
            </a:r>
          </a:p>
        </p:txBody>
      </p:sp>
      <p:sp>
        <p:nvSpPr>
          <p:cNvPr name="TextBox 20" id="20"/>
          <p:cNvSpPr txBox="true"/>
          <p:nvPr/>
        </p:nvSpPr>
        <p:spPr>
          <a:xfrm rot="0">
            <a:off x="7505405" y="3147570"/>
            <a:ext cx="2461765" cy="1240631"/>
          </a:xfrm>
          <a:prstGeom prst="rect">
            <a:avLst/>
          </a:prstGeom>
        </p:spPr>
        <p:txBody>
          <a:bodyPr anchor="t" rtlCol="false" tIns="0" lIns="0" bIns="0" rIns="0">
            <a:spAutoFit/>
          </a:bodyPr>
          <a:lstStyle/>
          <a:p>
            <a:pPr algn="l">
              <a:lnSpc>
                <a:spcPts val="2312"/>
              </a:lnSpc>
            </a:pPr>
            <a:r>
              <a:rPr lang="en-US" sz="1625">
                <a:solidFill>
                  <a:srgbClr val="666666"/>
                </a:solidFill>
                <a:latin typeface="IBM Plex Sans"/>
                <a:ea typeface="IBM Plex Sans"/>
                <a:cs typeface="IBM Plex Sans"/>
                <a:sym typeface="IBM Plex Sans"/>
              </a:rPr>
              <a:t>Unexpected slowdowns from merging traffic, construction zones, or incidents</a:t>
            </a:r>
          </a:p>
        </p:txBody>
      </p:sp>
      <p:grpSp>
        <p:nvGrpSpPr>
          <p:cNvPr name="Group 21" id="21"/>
          <p:cNvGrpSpPr/>
          <p:nvPr/>
        </p:nvGrpSpPr>
        <p:grpSpPr>
          <a:xfrm rot="0">
            <a:off x="13019189" y="2079431"/>
            <a:ext cx="3061097" cy="2547042"/>
            <a:chOff x="0" y="0"/>
            <a:chExt cx="4081462" cy="3396056"/>
          </a:xfrm>
        </p:grpSpPr>
        <p:sp>
          <p:nvSpPr>
            <p:cNvPr name="Freeform 22" id="22"/>
            <p:cNvSpPr/>
            <p:nvPr/>
          </p:nvSpPr>
          <p:spPr>
            <a:xfrm flipH="false" flipV="false" rot="0">
              <a:off x="19050" y="19050"/>
              <a:ext cx="4043426" cy="3358007"/>
            </a:xfrm>
            <a:custGeom>
              <a:avLst/>
              <a:gdLst/>
              <a:ahLst/>
              <a:cxnLst/>
              <a:rect r="r" b="b" t="t" l="l"/>
              <a:pathLst>
                <a:path h="3358007" w="4043426">
                  <a:moveTo>
                    <a:pt x="0" y="182880"/>
                  </a:moveTo>
                  <a:cubicBezTo>
                    <a:pt x="0" y="81915"/>
                    <a:pt x="82042" y="0"/>
                    <a:pt x="183261" y="0"/>
                  </a:cubicBezTo>
                  <a:lnTo>
                    <a:pt x="3860165" y="0"/>
                  </a:lnTo>
                  <a:cubicBezTo>
                    <a:pt x="3961384" y="0"/>
                    <a:pt x="4043426" y="81915"/>
                    <a:pt x="4043426" y="182880"/>
                  </a:cubicBezTo>
                  <a:lnTo>
                    <a:pt x="4043426" y="3175127"/>
                  </a:lnTo>
                  <a:cubicBezTo>
                    <a:pt x="4043426" y="3276092"/>
                    <a:pt x="3961384" y="3358007"/>
                    <a:pt x="3860165" y="3358007"/>
                  </a:cubicBezTo>
                  <a:lnTo>
                    <a:pt x="183261" y="3358007"/>
                  </a:lnTo>
                  <a:cubicBezTo>
                    <a:pt x="82042" y="3358007"/>
                    <a:pt x="0" y="3276092"/>
                    <a:pt x="0" y="3175127"/>
                  </a:cubicBezTo>
                  <a:close/>
                </a:path>
              </a:pathLst>
            </a:custGeom>
            <a:solidFill>
              <a:srgbClr val="FFFFFF">
                <a:alpha val="90196"/>
              </a:srgbClr>
            </a:solidFill>
          </p:spPr>
        </p:sp>
        <p:sp>
          <p:nvSpPr>
            <p:cNvPr name="Freeform 23" id="23"/>
            <p:cNvSpPr/>
            <p:nvPr/>
          </p:nvSpPr>
          <p:spPr>
            <a:xfrm flipH="false" flipV="false" rot="0">
              <a:off x="0" y="0"/>
              <a:ext cx="4081526" cy="3396107"/>
            </a:xfrm>
            <a:custGeom>
              <a:avLst/>
              <a:gdLst/>
              <a:ahLst/>
              <a:cxnLst/>
              <a:rect r="r" b="b" t="t" l="l"/>
              <a:pathLst>
                <a:path h="3396107" w="4081526">
                  <a:moveTo>
                    <a:pt x="0" y="201930"/>
                  </a:moveTo>
                  <a:cubicBezTo>
                    <a:pt x="0" y="90424"/>
                    <a:pt x="90551" y="0"/>
                    <a:pt x="202311" y="0"/>
                  </a:cubicBezTo>
                  <a:lnTo>
                    <a:pt x="3879215" y="0"/>
                  </a:lnTo>
                  <a:lnTo>
                    <a:pt x="3879215" y="19050"/>
                  </a:lnTo>
                  <a:lnTo>
                    <a:pt x="3879215" y="0"/>
                  </a:lnTo>
                  <a:cubicBezTo>
                    <a:pt x="3990848" y="0"/>
                    <a:pt x="4081526" y="90424"/>
                    <a:pt x="4081526" y="201930"/>
                  </a:cubicBezTo>
                  <a:lnTo>
                    <a:pt x="4062476" y="201930"/>
                  </a:lnTo>
                  <a:lnTo>
                    <a:pt x="4081526" y="201930"/>
                  </a:lnTo>
                  <a:lnTo>
                    <a:pt x="4081526" y="3194177"/>
                  </a:lnTo>
                  <a:lnTo>
                    <a:pt x="4062476" y="3194177"/>
                  </a:lnTo>
                  <a:lnTo>
                    <a:pt x="4081526" y="3194177"/>
                  </a:lnTo>
                  <a:cubicBezTo>
                    <a:pt x="4081526" y="3305683"/>
                    <a:pt x="3990975" y="3396107"/>
                    <a:pt x="3879215" y="3396107"/>
                  </a:cubicBezTo>
                  <a:lnTo>
                    <a:pt x="3879215" y="3377057"/>
                  </a:lnTo>
                  <a:lnTo>
                    <a:pt x="3879215" y="3396107"/>
                  </a:lnTo>
                  <a:lnTo>
                    <a:pt x="202311" y="3396107"/>
                  </a:lnTo>
                  <a:lnTo>
                    <a:pt x="202311" y="3377057"/>
                  </a:lnTo>
                  <a:lnTo>
                    <a:pt x="202311" y="3396107"/>
                  </a:lnTo>
                  <a:cubicBezTo>
                    <a:pt x="90551" y="3396107"/>
                    <a:pt x="0" y="3305683"/>
                    <a:pt x="0" y="3194177"/>
                  </a:cubicBezTo>
                  <a:lnTo>
                    <a:pt x="0" y="201930"/>
                  </a:lnTo>
                  <a:lnTo>
                    <a:pt x="19050" y="201930"/>
                  </a:lnTo>
                  <a:lnTo>
                    <a:pt x="0" y="201930"/>
                  </a:lnTo>
                  <a:moveTo>
                    <a:pt x="38100" y="201930"/>
                  </a:moveTo>
                  <a:lnTo>
                    <a:pt x="38100" y="3194177"/>
                  </a:lnTo>
                  <a:lnTo>
                    <a:pt x="19050" y="3194177"/>
                  </a:lnTo>
                  <a:lnTo>
                    <a:pt x="38100" y="3194177"/>
                  </a:lnTo>
                  <a:cubicBezTo>
                    <a:pt x="38100" y="3284601"/>
                    <a:pt x="111506" y="3358007"/>
                    <a:pt x="202311" y="3358007"/>
                  </a:cubicBezTo>
                  <a:lnTo>
                    <a:pt x="3879215" y="3358007"/>
                  </a:lnTo>
                  <a:cubicBezTo>
                    <a:pt x="3969893" y="3358007"/>
                    <a:pt x="4043426" y="3284601"/>
                    <a:pt x="4043426" y="3194177"/>
                  </a:cubicBezTo>
                  <a:lnTo>
                    <a:pt x="4043426" y="201930"/>
                  </a:lnTo>
                  <a:cubicBezTo>
                    <a:pt x="4043426" y="111506"/>
                    <a:pt x="3970020" y="38100"/>
                    <a:pt x="3879215" y="38100"/>
                  </a:cubicBezTo>
                  <a:lnTo>
                    <a:pt x="202311" y="38100"/>
                  </a:lnTo>
                  <a:lnTo>
                    <a:pt x="202311" y="19050"/>
                  </a:lnTo>
                  <a:lnTo>
                    <a:pt x="202311" y="38100"/>
                  </a:lnTo>
                  <a:cubicBezTo>
                    <a:pt x="111506" y="38100"/>
                    <a:pt x="38100" y="111506"/>
                    <a:pt x="38100" y="201930"/>
                  </a:cubicBezTo>
                  <a:close/>
                </a:path>
              </a:pathLst>
            </a:custGeom>
            <a:solidFill>
              <a:srgbClr val="B5C1E2"/>
            </a:solidFill>
          </p:spPr>
        </p:sp>
      </p:grpSp>
      <p:sp>
        <p:nvSpPr>
          <p:cNvPr name="TextBox 24" id="24"/>
          <p:cNvSpPr txBox="true"/>
          <p:nvPr/>
        </p:nvSpPr>
        <p:spPr>
          <a:xfrm rot="0">
            <a:off x="13361051" y="2412654"/>
            <a:ext cx="2461622" cy="363141"/>
          </a:xfrm>
          <a:prstGeom prst="rect">
            <a:avLst/>
          </a:prstGeom>
        </p:spPr>
        <p:txBody>
          <a:bodyPr anchor="t" rtlCol="false" tIns="0" lIns="0" bIns="0" rIns="0">
            <a:spAutoFit/>
          </a:bodyPr>
          <a:lstStyle/>
          <a:p>
            <a:pPr algn="l">
              <a:lnSpc>
                <a:spcPts val="2625"/>
              </a:lnSpc>
            </a:pPr>
            <a:r>
              <a:rPr lang="en-US" sz="2062">
                <a:solidFill>
                  <a:srgbClr val="666666"/>
                </a:solidFill>
                <a:latin typeface="Arimo"/>
                <a:ea typeface="Arimo"/>
                <a:cs typeface="Arimo"/>
                <a:sym typeface="Arimo"/>
              </a:rPr>
              <a:t>Road Accidents</a:t>
            </a:r>
          </a:p>
        </p:txBody>
      </p:sp>
      <p:sp>
        <p:nvSpPr>
          <p:cNvPr name="TextBox 25" id="25"/>
          <p:cNvSpPr txBox="true"/>
          <p:nvPr/>
        </p:nvSpPr>
        <p:spPr>
          <a:xfrm rot="0">
            <a:off x="13318927" y="3147570"/>
            <a:ext cx="2461622" cy="1240631"/>
          </a:xfrm>
          <a:prstGeom prst="rect">
            <a:avLst/>
          </a:prstGeom>
        </p:spPr>
        <p:txBody>
          <a:bodyPr anchor="t" rtlCol="false" tIns="0" lIns="0" bIns="0" rIns="0">
            <a:spAutoFit/>
          </a:bodyPr>
          <a:lstStyle/>
          <a:p>
            <a:pPr algn="l">
              <a:lnSpc>
                <a:spcPts val="2312"/>
              </a:lnSpc>
            </a:pPr>
            <a:r>
              <a:rPr lang="en-US" sz="1625">
                <a:solidFill>
                  <a:srgbClr val="666666"/>
                </a:solidFill>
                <a:latin typeface="IBM Plex Sans"/>
                <a:ea typeface="IBM Plex Sans"/>
                <a:cs typeface="IBM Plex Sans"/>
                <a:sym typeface="IBM Plex Sans"/>
              </a:rPr>
              <a:t>Unpredictable collisions and emergencies blocking lanes temporarily</a:t>
            </a:r>
          </a:p>
        </p:txBody>
      </p:sp>
      <p:grpSp>
        <p:nvGrpSpPr>
          <p:cNvPr name="Group 26" id="26"/>
          <p:cNvGrpSpPr/>
          <p:nvPr/>
        </p:nvGrpSpPr>
        <p:grpSpPr>
          <a:xfrm rot="0">
            <a:off x="4517531" y="5417048"/>
            <a:ext cx="3061097" cy="2212477"/>
            <a:chOff x="0" y="0"/>
            <a:chExt cx="4081462" cy="2949969"/>
          </a:xfrm>
        </p:grpSpPr>
        <p:sp>
          <p:nvSpPr>
            <p:cNvPr name="Freeform 27" id="27"/>
            <p:cNvSpPr/>
            <p:nvPr/>
          </p:nvSpPr>
          <p:spPr>
            <a:xfrm flipH="false" flipV="false" rot="0">
              <a:off x="19050" y="19050"/>
              <a:ext cx="4043299" cy="2911856"/>
            </a:xfrm>
            <a:custGeom>
              <a:avLst/>
              <a:gdLst/>
              <a:ahLst/>
              <a:cxnLst/>
              <a:rect r="r" b="b" t="t" l="l"/>
              <a:pathLst>
                <a:path h="2911856" w="4043299">
                  <a:moveTo>
                    <a:pt x="0" y="182880"/>
                  </a:moveTo>
                  <a:cubicBezTo>
                    <a:pt x="0" y="81915"/>
                    <a:pt x="82169" y="0"/>
                    <a:pt x="183515" y="0"/>
                  </a:cubicBezTo>
                  <a:lnTo>
                    <a:pt x="3859784" y="0"/>
                  </a:lnTo>
                  <a:cubicBezTo>
                    <a:pt x="3961130" y="0"/>
                    <a:pt x="4043299" y="81915"/>
                    <a:pt x="4043299" y="182880"/>
                  </a:cubicBezTo>
                  <a:lnTo>
                    <a:pt x="4043299" y="2728976"/>
                  </a:lnTo>
                  <a:cubicBezTo>
                    <a:pt x="4043299" y="2829941"/>
                    <a:pt x="3961130" y="2911856"/>
                    <a:pt x="3859784" y="2911856"/>
                  </a:cubicBezTo>
                  <a:lnTo>
                    <a:pt x="183515" y="2911856"/>
                  </a:lnTo>
                  <a:cubicBezTo>
                    <a:pt x="82169" y="2911856"/>
                    <a:pt x="0" y="2829941"/>
                    <a:pt x="0" y="2728976"/>
                  </a:cubicBezTo>
                  <a:close/>
                </a:path>
              </a:pathLst>
            </a:custGeom>
            <a:solidFill>
              <a:srgbClr val="FFFFFF">
                <a:alpha val="90196"/>
              </a:srgbClr>
            </a:solidFill>
          </p:spPr>
        </p:sp>
        <p:sp>
          <p:nvSpPr>
            <p:cNvPr name="Freeform 28" id="28"/>
            <p:cNvSpPr/>
            <p:nvPr/>
          </p:nvSpPr>
          <p:spPr>
            <a:xfrm flipH="false" flipV="false" rot="0">
              <a:off x="0" y="0"/>
              <a:ext cx="4081399" cy="2949956"/>
            </a:xfrm>
            <a:custGeom>
              <a:avLst/>
              <a:gdLst/>
              <a:ahLst/>
              <a:cxnLst/>
              <a:rect r="r" b="b" t="t" l="l"/>
              <a:pathLst>
                <a:path h="2949956" w="4081399">
                  <a:moveTo>
                    <a:pt x="0" y="201930"/>
                  </a:moveTo>
                  <a:cubicBezTo>
                    <a:pt x="0" y="90297"/>
                    <a:pt x="90805" y="0"/>
                    <a:pt x="202565" y="0"/>
                  </a:cubicBezTo>
                  <a:lnTo>
                    <a:pt x="3878834" y="0"/>
                  </a:lnTo>
                  <a:lnTo>
                    <a:pt x="3878834" y="19050"/>
                  </a:lnTo>
                  <a:lnTo>
                    <a:pt x="3878834" y="0"/>
                  </a:lnTo>
                  <a:cubicBezTo>
                    <a:pt x="3990594" y="0"/>
                    <a:pt x="4081399" y="90297"/>
                    <a:pt x="4081399" y="201930"/>
                  </a:cubicBezTo>
                  <a:lnTo>
                    <a:pt x="4062349" y="201930"/>
                  </a:lnTo>
                  <a:lnTo>
                    <a:pt x="4081399" y="201930"/>
                  </a:lnTo>
                  <a:lnTo>
                    <a:pt x="4081399" y="2748026"/>
                  </a:lnTo>
                  <a:lnTo>
                    <a:pt x="4062349" y="2748026"/>
                  </a:lnTo>
                  <a:lnTo>
                    <a:pt x="4081399" y="2748026"/>
                  </a:lnTo>
                  <a:cubicBezTo>
                    <a:pt x="4081399" y="2859659"/>
                    <a:pt x="3990594" y="2949956"/>
                    <a:pt x="3878834" y="2949956"/>
                  </a:cubicBezTo>
                  <a:lnTo>
                    <a:pt x="3878834" y="2930906"/>
                  </a:lnTo>
                  <a:lnTo>
                    <a:pt x="3878834" y="2949956"/>
                  </a:lnTo>
                  <a:lnTo>
                    <a:pt x="202565" y="2949956"/>
                  </a:lnTo>
                  <a:lnTo>
                    <a:pt x="202565" y="2930906"/>
                  </a:lnTo>
                  <a:lnTo>
                    <a:pt x="202565" y="2949956"/>
                  </a:lnTo>
                  <a:cubicBezTo>
                    <a:pt x="90805" y="2949956"/>
                    <a:pt x="0" y="2859659"/>
                    <a:pt x="0" y="2748026"/>
                  </a:cubicBezTo>
                  <a:lnTo>
                    <a:pt x="0" y="201930"/>
                  </a:lnTo>
                  <a:lnTo>
                    <a:pt x="19050" y="201930"/>
                  </a:lnTo>
                  <a:lnTo>
                    <a:pt x="0" y="201930"/>
                  </a:lnTo>
                  <a:moveTo>
                    <a:pt x="38100" y="201930"/>
                  </a:moveTo>
                  <a:lnTo>
                    <a:pt x="38100" y="2748026"/>
                  </a:lnTo>
                  <a:lnTo>
                    <a:pt x="19050" y="2748026"/>
                  </a:lnTo>
                  <a:lnTo>
                    <a:pt x="38100" y="2748026"/>
                  </a:lnTo>
                  <a:cubicBezTo>
                    <a:pt x="38100" y="2838450"/>
                    <a:pt x="111633" y="2911856"/>
                    <a:pt x="202565" y="2911856"/>
                  </a:cubicBezTo>
                  <a:lnTo>
                    <a:pt x="3878834" y="2911856"/>
                  </a:lnTo>
                  <a:cubicBezTo>
                    <a:pt x="3969766" y="2911856"/>
                    <a:pt x="4043299" y="2838450"/>
                    <a:pt x="4043299" y="2748026"/>
                  </a:cubicBezTo>
                  <a:lnTo>
                    <a:pt x="4043299" y="201930"/>
                  </a:lnTo>
                  <a:cubicBezTo>
                    <a:pt x="4043299" y="111506"/>
                    <a:pt x="3969766" y="38100"/>
                    <a:pt x="3878834" y="38100"/>
                  </a:cubicBezTo>
                  <a:lnTo>
                    <a:pt x="202565" y="38100"/>
                  </a:lnTo>
                  <a:lnTo>
                    <a:pt x="202565" y="19050"/>
                  </a:lnTo>
                  <a:lnTo>
                    <a:pt x="202565" y="38100"/>
                  </a:lnTo>
                  <a:cubicBezTo>
                    <a:pt x="111633" y="38100"/>
                    <a:pt x="38100" y="111506"/>
                    <a:pt x="38100" y="201930"/>
                  </a:cubicBezTo>
                  <a:close/>
                </a:path>
              </a:pathLst>
            </a:custGeom>
            <a:solidFill>
              <a:srgbClr val="B5C1E2"/>
            </a:solidFill>
          </p:spPr>
        </p:sp>
      </p:grpSp>
      <p:sp>
        <p:nvSpPr>
          <p:cNvPr name="TextBox 29" id="29"/>
          <p:cNvSpPr txBox="true"/>
          <p:nvPr/>
        </p:nvSpPr>
        <p:spPr>
          <a:xfrm rot="0">
            <a:off x="4817269" y="5669909"/>
            <a:ext cx="2461622" cy="363141"/>
          </a:xfrm>
          <a:prstGeom prst="rect">
            <a:avLst/>
          </a:prstGeom>
        </p:spPr>
        <p:txBody>
          <a:bodyPr anchor="t" rtlCol="false" tIns="0" lIns="0" bIns="0" rIns="0">
            <a:spAutoFit/>
          </a:bodyPr>
          <a:lstStyle/>
          <a:p>
            <a:pPr algn="l">
              <a:lnSpc>
                <a:spcPts val="2625"/>
              </a:lnSpc>
            </a:pPr>
            <a:r>
              <a:rPr lang="en-US" sz="2062">
                <a:solidFill>
                  <a:srgbClr val="666666"/>
                </a:solidFill>
                <a:latin typeface="Arimo"/>
                <a:ea typeface="Arimo"/>
                <a:cs typeface="Arimo"/>
                <a:sym typeface="Arimo"/>
              </a:rPr>
              <a:t>Weather Conditions</a:t>
            </a:r>
          </a:p>
        </p:txBody>
      </p:sp>
      <p:sp>
        <p:nvSpPr>
          <p:cNvPr name="TextBox 30" id="30"/>
          <p:cNvSpPr txBox="true"/>
          <p:nvPr/>
        </p:nvSpPr>
        <p:spPr>
          <a:xfrm rot="0">
            <a:off x="4817269" y="6306884"/>
            <a:ext cx="2461622" cy="940003"/>
          </a:xfrm>
          <a:prstGeom prst="rect">
            <a:avLst/>
          </a:prstGeom>
        </p:spPr>
        <p:txBody>
          <a:bodyPr anchor="t" rtlCol="false" tIns="0" lIns="0" bIns="0" rIns="0">
            <a:spAutoFit/>
          </a:bodyPr>
          <a:lstStyle/>
          <a:p>
            <a:pPr algn="l">
              <a:lnSpc>
                <a:spcPts val="2312"/>
              </a:lnSpc>
            </a:pPr>
            <a:r>
              <a:rPr lang="en-US" sz="1625">
                <a:solidFill>
                  <a:srgbClr val="666666"/>
                </a:solidFill>
                <a:latin typeface="IBM Plex Sans"/>
                <a:ea typeface="IBM Plex Sans"/>
                <a:cs typeface="IBM Plex Sans"/>
                <a:sym typeface="IBM Plex Sans"/>
              </a:rPr>
              <a:t>Rain, fog, snow reduce speeds and increase travel time variability</a:t>
            </a:r>
          </a:p>
        </p:txBody>
      </p:sp>
      <p:grpSp>
        <p:nvGrpSpPr>
          <p:cNvPr name="Group 31" id="31"/>
          <p:cNvGrpSpPr/>
          <p:nvPr/>
        </p:nvGrpSpPr>
        <p:grpSpPr>
          <a:xfrm rot="0">
            <a:off x="10342655" y="5417048"/>
            <a:ext cx="3061249" cy="2212477"/>
            <a:chOff x="0" y="0"/>
            <a:chExt cx="4081666" cy="2949969"/>
          </a:xfrm>
        </p:grpSpPr>
        <p:sp>
          <p:nvSpPr>
            <p:cNvPr name="Freeform 32" id="32"/>
            <p:cNvSpPr/>
            <p:nvPr/>
          </p:nvSpPr>
          <p:spPr>
            <a:xfrm flipH="false" flipV="false" rot="0">
              <a:off x="19050" y="19050"/>
              <a:ext cx="4043553" cy="2911856"/>
            </a:xfrm>
            <a:custGeom>
              <a:avLst/>
              <a:gdLst/>
              <a:ahLst/>
              <a:cxnLst/>
              <a:rect r="r" b="b" t="t" l="l"/>
              <a:pathLst>
                <a:path h="2911856" w="4043553">
                  <a:moveTo>
                    <a:pt x="0" y="182880"/>
                  </a:moveTo>
                  <a:cubicBezTo>
                    <a:pt x="0" y="81915"/>
                    <a:pt x="82169" y="0"/>
                    <a:pt x="183515" y="0"/>
                  </a:cubicBezTo>
                  <a:lnTo>
                    <a:pt x="3860038" y="0"/>
                  </a:lnTo>
                  <a:cubicBezTo>
                    <a:pt x="3961384" y="0"/>
                    <a:pt x="4043553" y="81915"/>
                    <a:pt x="4043553" y="182880"/>
                  </a:cubicBezTo>
                  <a:lnTo>
                    <a:pt x="4043553" y="2728976"/>
                  </a:lnTo>
                  <a:cubicBezTo>
                    <a:pt x="4043553" y="2829941"/>
                    <a:pt x="3961384" y="2911856"/>
                    <a:pt x="3860038" y="2911856"/>
                  </a:cubicBezTo>
                  <a:lnTo>
                    <a:pt x="183515" y="2911856"/>
                  </a:lnTo>
                  <a:cubicBezTo>
                    <a:pt x="82169" y="2911856"/>
                    <a:pt x="0" y="2829941"/>
                    <a:pt x="0" y="2728976"/>
                  </a:cubicBezTo>
                  <a:close/>
                </a:path>
              </a:pathLst>
            </a:custGeom>
            <a:solidFill>
              <a:srgbClr val="FFFFFF">
                <a:alpha val="90196"/>
              </a:srgbClr>
            </a:solidFill>
          </p:spPr>
        </p:sp>
        <p:sp>
          <p:nvSpPr>
            <p:cNvPr name="Freeform 33" id="33"/>
            <p:cNvSpPr/>
            <p:nvPr/>
          </p:nvSpPr>
          <p:spPr>
            <a:xfrm flipH="false" flipV="false" rot="0">
              <a:off x="0" y="0"/>
              <a:ext cx="4081653" cy="2949956"/>
            </a:xfrm>
            <a:custGeom>
              <a:avLst/>
              <a:gdLst/>
              <a:ahLst/>
              <a:cxnLst/>
              <a:rect r="r" b="b" t="t" l="l"/>
              <a:pathLst>
                <a:path h="2949956" w="4081653">
                  <a:moveTo>
                    <a:pt x="0" y="201930"/>
                  </a:moveTo>
                  <a:cubicBezTo>
                    <a:pt x="0" y="90297"/>
                    <a:pt x="90805" y="0"/>
                    <a:pt x="202565" y="0"/>
                  </a:cubicBezTo>
                  <a:lnTo>
                    <a:pt x="3879088" y="0"/>
                  </a:lnTo>
                  <a:lnTo>
                    <a:pt x="3879088" y="19050"/>
                  </a:lnTo>
                  <a:lnTo>
                    <a:pt x="3879088" y="0"/>
                  </a:lnTo>
                  <a:cubicBezTo>
                    <a:pt x="3990848" y="0"/>
                    <a:pt x="4081653" y="90297"/>
                    <a:pt x="4081653" y="201930"/>
                  </a:cubicBezTo>
                  <a:lnTo>
                    <a:pt x="4062603" y="201930"/>
                  </a:lnTo>
                  <a:lnTo>
                    <a:pt x="4081653" y="201930"/>
                  </a:lnTo>
                  <a:lnTo>
                    <a:pt x="4081653" y="2748026"/>
                  </a:lnTo>
                  <a:lnTo>
                    <a:pt x="4062603" y="2748026"/>
                  </a:lnTo>
                  <a:lnTo>
                    <a:pt x="4081653" y="2748026"/>
                  </a:lnTo>
                  <a:cubicBezTo>
                    <a:pt x="4081653" y="2859659"/>
                    <a:pt x="3990848" y="2949956"/>
                    <a:pt x="3879088" y="2949956"/>
                  </a:cubicBezTo>
                  <a:lnTo>
                    <a:pt x="3879088" y="2930906"/>
                  </a:lnTo>
                  <a:lnTo>
                    <a:pt x="3879088" y="2949956"/>
                  </a:lnTo>
                  <a:lnTo>
                    <a:pt x="202565" y="2949956"/>
                  </a:lnTo>
                  <a:lnTo>
                    <a:pt x="202565" y="2930906"/>
                  </a:lnTo>
                  <a:lnTo>
                    <a:pt x="202565" y="2949956"/>
                  </a:lnTo>
                  <a:cubicBezTo>
                    <a:pt x="90805" y="2949956"/>
                    <a:pt x="0" y="2859659"/>
                    <a:pt x="0" y="2748026"/>
                  </a:cubicBezTo>
                  <a:lnTo>
                    <a:pt x="0" y="201930"/>
                  </a:lnTo>
                  <a:lnTo>
                    <a:pt x="19050" y="201930"/>
                  </a:lnTo>
                  <a:lnTo>
                    <a:pt x="0" y="201930"/>
                  </a:lnTo>
                  <a:moveTo>
                    <a:pt x="38100" y="201930"/>
                  </a:moveTo>
                  <a:lnTo>
                    <a:pt x="38100" y="2748026"/>
                  </a:lnTo>
                  <a:lnTo>
                    <a:pt x="19050" y="2748026"/>
                  </a:lnTo>
                  <a:lnTo>
                    <a:pt x="38100" y="2748026"/>
                  </a:lnTo>
                  <a:cubicBezTo>
                    <a:pt x="38100" y="2838450"/>
                    <a:pt x="111633" y="2911856"/>
                    <a:pt x="202565" y="2911856"/>
                  </a:cubicBezTo>
                  <a:lnTo>
                    <a:pt x="3879088" y="2911856"/>
                  </a:lnTo>
                  <a:cubicBezTo>
                    <a:pt x="3970020" y="2911856"/>
                    <a:pt x="4043553" y="2838450"/>
                    <a:pt x="4043553" y="2748026"/>
                  </a:cubicBezTo>
                  <a:lnTo>
                    <a:pt x="4043553" y="201930"/>
                  </a:lnTo>
                  <a:cubicBezTo>
                    <a:pt x="4043553" y="111506"/>
                    <a:pt x="3970020" y="38100"/>
                    <a:pt x="3879088" y="38100"/>
                  </a:cubicBezTo>
                  <a:lnTo>
                    <a:pt x="202565" y="38100"/>
                  </a:lnTo>
                  <a:lnTo>
                    <a:pt x="202565" y="19050"/>
                  </a:lnTo>
                  <a:lnTo>
                    <a:pt x="202565" y="38100"/>
                  </a:lnTo>
                  <a:cubicBezTo>
                    <a:pt x="111633" y="38100"/>
                    <a:pt x="38100" y="111506"/>
                    <a:pt x="38100" y="201930"/>
                  </a:cubicBezTo>
                  <a:close/>
                </a:path>
              </a:pathLst>
            </a:custGeom>
            <a:solidFill>
              <a:srgbClr val="B5C1E2"/>
            </a:solidFill>
          </p:spPr>
        </p:sp>
      </p:grpSp>
      <p:sp>
        <p:nvSpPr>
          <p:cNvPr name="TextBox 34" id="34"/>
          <p:cNvSpPr txBox="true"/>
          <p:nvPr/>
        </p:nvSpPr>
        <p:spPr>
          <a:xfrm rot="0">
            <a:off x="10642397" y="5669909"/>
            <a:ext cx="2461765" cy="363141"/>
          </a:xfrm>
          <a:prstGeom prst="rect">
            <a:avLst/>
          </a:prstGeom>
        </p:spPr>
        <p:txBody>
          <a:bodyPr anchor="t" rtlCol="false" tIns="0" lIns="0" bIns="0" rIns="0">
            <a:spAutoFit/>
          </a:bodyPr>
          <a:lstStyle/>
          <a:p>
            <a:pPr algn="l">
              <a:lnSpc>
                <a:spcPts val="2625"/>
              </a:lnSpc>
            </a:pPr>
            <a:r>
              <a:rPr lang="en-US" sz="2062">
                <a:solidFill>
                  <a:srgbClr val="666666"/>
                </a:solidFill>
                <a:latin typeface="Arimo"/>
                <a:ea typeface="Arimo"/>
                <a:cs typeface="Arimo"/>
                <a:sym typeface="Arimo"/>
              </a:rPr>
              <a:t>Data Uncertainty</a:t>
            </a:r>
          </a:p>
        </p:txBody>
      </p:sp>
      <p:sp>
        <p:nvSpPr>
          <p:cNvPr name="TextBox 35" id="35"/>
          <p:cNvSpPr txBox="true"/>
          <p:nvPr/>
        </p:nvSpPr>
        <p:spPr>
          <a:xfrm rot="0">
            <a:off x="10642397" y="6306884"/>
            <a:ext cx="2461765" cy="1240631"/>
          </a:xfrm>
          <a:prstGeom prst="rect">
            <a:avLst/>
          </a:prstGeom>
        </p:spPr>
        <p:txBody>
          <a:bodyPr anchor="t" rtlCol="false" tIns="0" lIns="0" bIns="0" rIns="0">
            <a:spAutoFit/>
          </a:bodyPr>
          <a:lstStyle/>
          <a:p>
            <a:pPr algn="l">
              <a:lnSpc>
                <a:spcPts val="2312"/>
              </a:lnSpc>
            </a:pPr>
            <a:r>
              <a:rPr lang="en-US" sz="1625">
                <a:solidFill>
                  <a:srgbClr val="666666"/>
                </a:solidFill>
                <a:latin typeface="IBM Plex Sans"/>
                <a:ea typeface="IBM Plex Sans"/>
                <a:cs typeface="IBM Plex Sans"/>
                <a:sym typeface="IBM Plex Sans"/>
              </a:rPr>
              <a:t>Incomplete or noisy travel time measurements in historical data</a:t>
            </a:r>
          </a:p>
        </p:txBody>
      </p:sp>
      <p:sp>
        <p:nvSpPr>
          <p:cNvPr name="TextBox 36" id="36"/>
          <p:cNvSpPr txBox="true"/>
          <p:nvPr/>
        </p:nvSpPr>
        <p:spPr>
          <a:xfrm rot="0">
            <a:off x="1753867" y="8467725"/>
            <a:ext cx="14775504" cy="639366"/>
          </a:xfrm>
          <a:prstGeom prst="rect">
            <a:avLst/>
          </a:prstGeom>
        </p:spPr>
        <p:txBody>
          <a:bodyPr anchor="t" rtlCol="false" tIns="0" lIns="0" bIns="0" rIns="0">
            <a:spAutoFit/>
          </a:bodyPr>
          <a:lstStyle/>
          <a:p>
            <a:pPr algn="l">
              <a:lnSpc>
                <a:spcPts val="2312"/>
              </a:lnSpc>
            </a:pPr>
            <a:r>
              <a:rPr lang="en-US" sz="1625">
                <a:solidFill>
                  <a:srgbClr val="666666"/>
                </a:solidFill>
                <a:latin typeface="IBM Plex Sans"/>
                <a:ea typeface="IBM Plex Sans"/>
                <a:cs typeface="IBM Plex Sans"/>
                <a:sym typeface="IBM Plex Sans"/>
              </a:rPr>
              <a:t>Deterministic decisions fail under these conditions because they assume perfect knowledge of future travel times, ignoring the inherent randomness in real-world transportation systems.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972445" y="746369"/>
            <a:ext cx="9856146" cy="925563"/>
          </a:xfrm>
          <a:prstGeom prst="rect">
            <a:avLst/>
          </a:prstGeom>
        </p:spPr>
        <p:txBody>
          <a:bodyPr anchor="t" rtlCol="false" tIns="0" lIns="0" bIns="0" rIns="0">
            <a:spAutoFit/>
          </a:bodyPr>
          <a:lstStyle/>
          <a:p>
            <a:pPr algn="l">
              <a:lnSpc>
                <a:spcPts val="6812"/>
              </a:lnSpc>
            </a:pPr>
            <a:r>
              <a:rPr lang="en-US" sz="5437">
                <a:solidFill>
                  <a:srgbClr val="3F6FF3"/>
                </a:solidFill>
                <a:latin typeface="Arimo"/>
                <a:ea typeface="Arimo"/>
                <a:cs typeface="Arimo"/>
                <a:sym typeface="Arimo"/>
              </a:rPr>
              <a:t>Random Variables in the System</a:t>
            </a:r>
          </a:p>
        </p:txBody>
      </p:sp>
      <p:sp>
        <p:nvSpPr>
          <p:cNvPr name="TextBox 11" id="11"/>
          <p:cNvSpPr txBox="true"/>
          <p:nvPr/>
        </p:nvSpPr>
        <p:spPr>
          <a:xfrm rot="0">
            <a:off x="972445" y="1985067"/>
            <a:ext cx="277863" cy="442465"/>
          </a:xfrm>
          <a:prstGeom prst="rect">
            <a:avLst/>
          </a:prstGeom>
        </p:spPr>
        <p:txBody>
          <a:bodyPr anchor="t" rtlCol="false" tIns="0" lIns="0" bIns="0" rIns="0">
            <a:spAutoFit/>
          </a:bodyPr>
          <a:lstStyle/>
          <a:p>
            <a:pPr algn="l">
              <a:lnSpc>
                <a:spcPts val="3437"/>
              </a:lnSpc>
            </a:pPr>
            <a:r>
              <a:rPr lang="en-US" sz="2187">
                <a:solidFill>
                  <a:srgbClr val="666666"/>
                </a:solidFill>
                <a:latin typeface="Arimo"/>
                <a:ea typeface="Arimo"/>
                <a:cs typeface="Arimo"/>
                <a:sym typeface="Arimo"/>
              </a:rPr>
              <a:t>01</a:t>
            </a:r>
          </a:p>
        </p:txBody>
      </p:sp>
      <p:grpSp>
        <p:nvGrpSpPr>
          <p:cNvPr name="Group 12" id="12"/>
          <p:cNvGrpSpPr/>
          <p:nvPr/>
        </p:nvGrpSpPr>
        <p:grpSpPr>
          <a:xfrm rot="0">
            <a:off x="972445" y="2514305"/>
            <a:ext cx="5266134" cy="38100"/>
            <a:chOff x="0" y="0"/>
            <a:chExt cx="7021512" cy="50800"/>
          </a:xfrm>
        </p:grpSpPr>
        <p:sp>
          <p:nvSpPr>
            <p:cNvPr name="Freeform 13" id="13"/>
            <p:cNvSpPr/>
            <p:nvPr/>
          </p:nvSpPr>
          <p:spPr>
            <a:xfrm flipH="false" flipV="false" rot="0">
              <a:off x="0" y="0"/>
              <a:ext cx="7021576" cy="50800"/>
            </a:xfrm>
            <a:custGeom>
              <a:avLst/>
              <a:gdLst/>
              <a:ahLst/>
              <a:cxnLst/>
              <a:rect r="r" b="b" t="t" l="l"/>
              <a:pathLst>
                <a:path h="50800" w="7021576">
                  <a:moveTo>
                    <a:pt x="0" y="0"/>
                  </a:moveTo>
                  <a:lnTo>
                    <a:pt x="7021576" y="0"/>
                  </a:lnTo>
                  <a:lnTo>
                    <a:pt x="7021576" y="50800"/>
                  </a:lnTo>
                  <a:lnTo>
                    <a:pt x="0" y="50800"/>
                  </a:lnTo>
                  <a:close/>
                </a:path>
              </a:pathLst>
            </a:custGeom>
            <a:solidFill>
              <a:srgbClr val="A2B9F9"/>
            </a:solidFill>
          </p:spPr>
        </p:sp>
      </p:grpSp>
      <p:sp>
        <p:nvSpPr>
          <p:cNvPr name="TextBox 14" id="14"/>
          <p:cNvSpPr txBox="true"/>
          <p:nvPr/>
        </p:nvSpPr>
        <p:spPr>
          <a:xfrm rot="0">
            <a:off x="972445" y="2700785"/>
            <a:ext cx="3473348" cy="462705"/>
          </a:xfrm>
          <a:prstGeom prst="rect">
            <a:avLst/>
          </a:prstGeom>
        </p:spPr>
        <p:txBody>
          <a:bodyPr anchor="t" rtlCol="false" tIns="0" lIns="0" bIns="0" rIns="0">
            <a:spAutoFit/>
          </a:bodyPr>
          <a:lstStyle/>
          <a:p>
            <a:pPr algn="l">
              <a:lnSpc>
                <a:spcPts val="3374"/>
              </a:lnSpc>
            </a:pPr>
            <a:r>
              <a:rPr lang="en-US" sz="2687">
                <a:solidFill>
                  <a:srgbClr val="666666"/>
                </a:solidFill>
                <a:latin typeface="Arimo"/>
                <a:ea typeface="Arimo"/>
                <a:cs typeface="Arimo"/>
                <a:sym typeface="Arimo"/>
              </a:rPr>
              <a:t>Segment Travel Time</a:t>
            </a:r>
          </a:p>
        </p:txBody>
      </p:sp>
      <p:sp>
        <p:nvSpPr>
          <p:cNvPr name="TextBox 15" id="15"/>
          <p:cNvSpPr txBox="true"/>
          <p:nvPr/>
        </p:nvSpPr>
        <p:spPr>
          <a:xfrm rot="0">
            <a:off x="972445" y="3250559"/>
            <a:ext cx="5266134" cy="1396451"/>
          </a:xfrm>
          <a:prstGeom prst="rect">
            <a:avLst/>
          </a:prstGeom>
        </p:spPr>
        <p:txBody>
          <a:bodyPr anchor="t" rtlCol="false" tIns="0" lIns="0" bIns="0" rIns="0">
            <a:spAutoFit/>
          </a:bodyPr>
          <a:lstStyle/>
          <a:p>
            <a:pPr algn="l">
              <a:lnSpc>
                <a:spcPts val="3437"/>
              </a:lnSpc>
            </a:pPr>
            <a:r>
              <a:rPr lang="en-US" sz="2187">
                <a:solidFill>
                  <a:srgbClr val="666666"/>
                </a:solidFill>
                <a:latin typeface="IBM Plex Sans"/>
                <a:ea typeface="IBM Plex Sans"/>
                <a:cs typeface="IBM Plex Sans"/>
                <a:sym typeface="IBM Plex Sans"/>
              </a:rPr>
              <a:t>Each road segment has travel time modeled as a random variable with known distribution</a:t>
            </a:r>
          </a:p>
        </p:txBody>
      </p:sp>
      <p:sp>
        <p:nvSpPr>
          <p:cNvPr name="TextBox 16" id="16"/>
          <p:cNvSpPr txBox="true"/>
          <p:nvPr/>
        </p:nvSpPr>
        <p:spPr>
          <a:xfrm rot="0">
            <a:off x="6510785" y="1985067"/>
            <a:ext cx="277863" cy="442465"/>
          </a:xfrm>
          <a:prstGeom prst="rect">
            <a:avLst/>
          </a:prstGeom>
        </p:spPr>
        <p:txBody>
          <a:bodyPr anchor="t" rtlCol="false" tIns="0" lIns="0" bIns="0" rIns="0">
            <a:spAutoFit/>
          </a:bodyPr>
          <a:lstStyle/>
          <a:p>
            <a:pPr algn="l">
              <a:lnSpc>
                <a:spcPts val="3437"/>
              </a:lnSpc>
            </a:pPr>
            <a:r>
              <a:rPr lang="en-US" sz="2187">
                <a:solidFill>
                  <a:srgbClr val="666666"/>
                </a:solidFill>
                <a:latin typeface="Arimo"/>
                <a:ea typeface="Arimo"/>
                <a:cs typeface="Arimo"/>
                <a:sym typeface="Arimo"/>
              </a:rPr>
              <a:t>02</a:t>
            </a:r>
          </a:p>
        </p:txBody>
      </p:sp>
      <p:grpSp>
        <p:nvGrpSpPr>
          <p:cNvPr name="Group 17" id="17"/>
          <p:cNvGrpSpPr/>
          <p:nvPr/>
        </p:nvGrpSpPr>
        <p:grpSpPr>
          <a:xfrm rot="0">
            <a:off x="6510785" y="2514305"/>
            <a:ext cx="5266287" cy="38100"/>
            <a:chOff x="0" y="0"/>
            <a:chExt cx="7021716" cy="50800"/>
          </a:xfrm>
        </p:grpSpPr>
        <p:sp>
          <p:nvSpPr>
            <p:cNvPr name="Freeform 18" id="18"/>
            <p:cNvSpPr/>
            <p:nvPr/>
          </p:nvSpPr>
          <p:spPr>
            <a:xfrm flipH="false" flipV="false" rot="0">
              <a:off x="0" y="0"/>
              <a:ext cx="7021703" cy="50800"/>
            </a:xfrm>
            <a:custGeom>
              <a:avLst/>
              <a:gdLst/>
              <a:ahLst/>
              <a:cxnLst/>
              <a:rect r="r" b="b" t="t" l="l"/>
              <a:pathLst>
                <a:path h="50800" w="7021703">
                  <a:moveTo>
                    <a:pt x="0" y="0"/>
                  </a:moveTo>
                  <a:lnTo>
                    <a:pt x="7021703" y="0"/>
                  </a:lnTo>
                  <a:lnTo>
                    <a:pt x="7021703" y="50800"/>
                  </a:lnTo>
                  <a:lnTo>
                    <a:pt x="0" y="50800"/>
                  </a:lnTo>
                  <a:close/>
                </a:path>
              </a:pathLst>
            </a:custGeom>
            <a:solidFill>
              <a:srgbClr val="A2B9F9"/>
            </a:solidFill>
          </p:spPr>
        </p:sp>
      </p:grpSp>
      <p:sp>
        <p:nvSpPr>
          <p:cNvPr name="TextBox 19" id="19"/>
          <p:cNvSpPr txBox="true"/>
          <p:nvPr/>
        </p:nvSpPr>
        <p:spPr>
          <a:xfrm rot="0">
            <a:off x="6510785" y="2700785"/>
            <a:ext cx="3473348" cy="462705"/>
          </a:xfrm>
          <a:prstGeom prst="rect">
            <a:avLst/>
          </a:prstGeom>
        </p:spPr>
        <p:txBody>
          <a:bodyPr anchor="t" rtlCol="false" tIns="0" lIns="0" bIns="0" rIns="0">
            <a:spAutoFit/>
          </a:bodyPr>
          <a:lstStyle/>
          <a:p>
            <a:pPr algn="l">
              <a:lnSpc>
                <a:spcPts val="3374"/>
              </a:lnSpc>
            </a:pPr>
            <a:r>
              <a:rPr lang="en-US" sz="2687">
                <a:solidFill>
                  <a:srgbClr val="666666"/>
                </a:solidFill>
                <a:latin typeface="Arimo"/>
                <a:ea typeface="Arimo"/>
                <a:cs typeface="Arimo"/>
                <a:sym typeface="Arimo"/>
              </a:rPr>
              <a:t>Route Aggregation</a:t>
            </a:r>
          </a:p>
        </p:txBody>
      </p:sp>
      <p:sp>
        <p:nvSpPr>
          <p:cNvPr name="TextBox 20" id="20"/>
          <p:cNvSpPr txBox="true"/>
          <p:nvPr/>
        </p:nvSpPr>
        <p:spPr>
          <a:xfrm rot="0">
            <a:off x="6510785" y="3250559"/>
            <a:ext cx="5266287" cy="956367"/>
          </a:xfrm>
          <a:prstGeom prst="rect">
            <a:avLst/>
          </a:prstGeom>
        </p:spPr>
        <p:txBody>
          <a:bodyPr anchor="t" rtlCol="false" tIns="0" lIns="0" bIns="0" rIns="0">
            <a:spAutoFit/>
          </a:bodyPr>
          <a:lstStyle/>
          <a:p>
            <a:pPr algn="l">
              <a:lnSpc>
                <a:spcPts val="3437"/>
              </a:lnSpc>
            </a:pPr>
            <a:r>
              <a:rPr lang="en-US" sz="2187">
                <a:solidFill>
                  <a:srgbClr val="666666"/>
                </a:solidFill>
                <a:latin typeface="IBM Plex Sans"/>
                <a:ea typeface="IBM Plex Sans"/>
                <a:cs typeface="IBM Plex Sans"/>
                <a:sym typeface="IBM Plex Sans"/>
              </a:rPr>
              <a:t>Total route travel time computed as sum of segment times along the path</a:t>
            </a:r>
          </a:p>
        </p:txBody>
      </p:sp>
      <p:sp>
        <p:nvSpPr>
          <p:cNvPr name="TextBox 21" id="21"/>
          <p:cNvSpPr txBox="true"/>
          <p:nvPr/>
        </p:nvSpPr>
        <p:spPr>
          <a:xfrm rot="0">
            <a:off x="12049277" y="1985067"/>
            <a:ext cx="277863" cy="442465"/>
          </a:xfrm>
          <a:prstGeom prst="rect">
            <a:avLst/>
          </a:prstGeom>
        </p:spPr>
        <p:txBody>
          <a:bodyPr anchor="t" rtlCol="false" tIns="0" lIns="0" bIns="0" rIns="0">
            <a:spAutoFit/>
          </a:bodyPr>
          <a:lstStyle/>
          <a:p>
            <a:pPr algn="l">
              <a:lnSpc>
                <a:spcPts val="3437"/>
              </a:lnSpc>
            </a:pPr>
            <a:r>
              <a:rPr lang="en-US" sz="2187">
                <a:solidFill>
                  <a:srgbClr val="666666"/>
                </a:solidFill>
                <a:latin typeface="Arimo"/>
                <a:ea typeface="Arimo"/>
                <a:cs typeface="Arimo"/>
                <a:sym typeface="Arimo"/>
              </a:rPr>
              <a:t>03</a:t>
            </a:r>
          </a:p>
        </p:txBody>
      </p:sp>
      <p:grpSp>
        <p:nvGrpSpPr>
          <p:cNvPr name="Group 22" id="22"/>
          <p:cNvGrpSpPr/>
          <p:nvPr/>
        </p:nvGrpSpPr>
        <p:grpSpPr>
          <a:xfrm rot="0">
            <a:off x="12049277" y="2514305"/>
            <a:ext cx="5266287" cy="38100"/>
            <a:chOff x="0" y="0"/>
            <a:chExt cx="7021716" cy="50800"/>
          </a:xfrm>
        </p:grpSpPr>
        <p:sp>
          <p:nvSpPr>
            <p:cNvPr name="Freeform 23" id="23"/>
            <p:cNvSpPr/>
            <p:nvPr/>
          </p:nvSpPr>
          <p:spPr>
            <a:xfrm flipH="false" flipV="false" rot="0">
              <a:off x="0" y="0"/>
              <a:ext cx="7021703" cy="50800"/>
            </a:xfrm>
            <a:custGeom>
              <a:avLst/>
              <a:gdLst/>
              <a:ahLst/>
              <a:cxnLst/>
              <a:rect r="r" b="b" t="t" l="l"/>
              <a:pathLst>
                <a:path h="50800" w="7021703">
                  <a:moveTo>
                    <a:pt x="0" y="0"/>
                  </a:moveTo>
                  <a:lnTo>
                    <a:pt x="7021703" y="0"/>
                  </a:lnTo>
                  <a:lnTo>
                    <a:pt x="7021703" y="50800"/>
                  </a:lnTo>
                  <a:lnTo>
                    <a:pt x="0" y="50800"/>
                  </a:lnTo>
                  <a:close/>
                </a:path>
              </a:pathLst>
            </a:custGeom>
            <a:solidFill>
              <a:srgbClr val="A2B9F9"/>
            </a:solidFill>
          </p:spPr>
        </p:sp>
      </p:grpSp>
      <p:sp>
        <p:nvSpPr>
          <p:cNvPr name="TextBox 24" id="24"/>
          <p:cNvSpPr txBox="true"/>
          <p:nvPr/>
        </p:nvSpPr>
        <p:spPr>
          <a:xfrm rot="0">
            <a:off x="12049277" y="2700785"/>
            <a:ext cx="3473348" cy="462705"/>
          </a:xfrm>
          <a:prstGeom prst="rect">
            <a:avLst/>
          </a:prstGeom>
        </p:spPr>
        <p:txBody>
          <a:bodyPr anchor="t" rtlCol="false" tIns="0" lIns="0" bIns="0" rIns="0">
            <a:spAutoFit/>
          </a:bodyPr>
          <a:lstStyle/>
          <a:p>
            <a:pPr algn="l">
              <a:lnSpc>
                <a:spcPts val="3374"/>
              </a:lnSpc>
            </a:pPr>
            <a:r>
              <a:rPr lang="en-US" sz="2687">
                <a:solidFill>
                  <a:srgbClr val="666666"/>
                </a:solidFill>
                <a:latin typeface="Arimo"/>
                <a:ea typeface="Arimo"/>
                <a:cs typeface="Arimo"/>
                <a:sym typeface="Arimo"/>
              </a:rPr>
              <a:t>Arrival Time</a:t>
            </a:r>
          </a:p>
        </p:txBody>
      </p:sp>
      <p:sp>
        <p:nvSpPr>
          <p:cNvPr name="TextBox 25" id="25"/>
          <p:cNvSpPr txBox="true"/>
          <p:nvPr/>
        </p:nvSpPr>
        <p:spPr>
          <a:xfrm rot="0">
            <a:off x="12049277" y="3250559"/>
            <a:ext cx="5266287" cy="956367"/>
          </a:xfrm>
          <a:prstGeom prst="rect">
            <a:avLst/>
          </a:prstGeom>
        </p:spPr>
        <p:txBody>
          <a:bodyPr anchor="t" rtlCol="false" tIns="0" lIns="0" bIns="0" rIns="0">
            <a:spAutoFit/>
          </a:bodyPr>
          <a:lstStyle/>
          <a:p>
            <a:pPr algn="l">
              <a:lnSpc>
                <a:spcPts val="3437"/>
              </a:lnSpc>
            </a:pPr>
            <a:r>
              <a:rPr lang="en-US" sz="2187">
                <a:solidFill>
                  <a:srgbClr val="666666"/>
                </a:solidFill>
                <a:latin typeface="IBM Plex Sans"/>
                <a:ea typeface="IBM Plex Sans"/>
                <a:cs typeface="IBM Plex Sans"/>
                <a:sym typeface="IBM Plex Sans"/>
              </a:rPr>
              <a:t>Arrival time relative to deadline determines success probability</a:t>
            </a:r>
          </a:p>
        </p:txBody>
      </p:sp>
      <p:sp>
        <p:nvSpPr>
          <p:cNvPr name="TextBox 26" id="26"/>
          <p:cNvSpPr txBox="true"/>
          <p:nvPr/>
        </p:nvSpPr>
        <p:spPr>
          <a:xfrm rot="0">
            <a:off x="972445" y="5642077"/>
            <a:ext cx="4617396" cy="559146"/>
          </a:xfrm>
          <a:prstGeom prst="rect">
            <a:avLst/>
          </a:prstGeom>
        </p:spPr>
        <p:txBody>
          <a:bodyPr anchor="t" rtlCol="false" tIns="0" lIns="0" bIns="0" rIns="0">
            <a:spAutoFit/>
          </a:bodyPr>
          <a:lstStyle/>
          <a:p>
            <a:pPr algn="l">
              <a:lnSpc>
                <a:spcPts val="4062"/>
              </a:lnSpc>
            </a:pPr>
            <a:r>
              <a:rPr lang="en-US" sz="3250">
                <a:solidFill>
                  <a:srgbClr val="3F6FF3"/>
                </a:solidFill>
                <a:latin typeface="Arimo"/>
                <a:ea typeface="Arimo"/>
                <a:cs typeface="Arimo"/>
                <a:sym typeface="Arimo"/>
              </a:rPr>
              <a:t>Distribution Assumptions</a:t>
            </a:r>
          </a:p>
        </p:txBody>
      </p:sp>
      <p:sp>
        <p:nvSpPr>
          <p:cNvPr name="TextBox 27" id="27"/>
          <p:cNvSpPr txBox="true"/>
          <p:nvPr/>
        </p:nvSpPr>
        <p:spPr>
          <a:xfrm rot="0">
            <a:off x="972445" y="6436814"/>
            <a:ext cx="3473348" cy="462705"/>
          </a:xfrm>
          <a:prstGeom prst="rect">
            <a:avLst/>
          </a:prstGeom>
        </p:spPr>
        <p:txBody>
          <a:bodyPr anchor="t" rtlCol="false" tIns="0" lIns="0" bIns="0" rIns="0">
            <a:spAutoFit/>
          </a:bodyPr>
          <a:lstStyle/>
          <a:p>
            <a:pPr algn="l">
              <a:lnSpc>
                <a:spcPts val="3374"/>
              </a:lnSpc>
            </a:pPr>
            <a:r>
              <a:rPr lang="en-US" sz="2687">
                <a:solidFill>
                  <a:srgbClr val="3F6FF3"/>
                </a:solidFill>
                <a:latin typeface="Arimo"/>
                <a:ea typeface="Arimo"/>
                <a:cs typeface="Arimo"/>
                <a:sym typeface="Arimo"/>
              </a:rPr>
              <a:t>Gamma Distribution</a:t>
            </a:r>
          </a:p>
        </p:txBody>
      </p:sp>
      <p:sp>
        <p:nvSpPr>
          <p:cNvPr name="TextBox 28" id="28"/>
          <p:cNvSpPr txBox="true"/>
          <p:nvPr/>
        </p:nvSpPr>
        <p:spPr>
          <a:xfrm rot="0">
            <a:off x="972445" y="7095534"/>
            <a:ext cx="7832674" cy="956367"/>
          </a:xfrm>
          <a:prstGeom prst="rect">
            <a:avLst/>
          </a:prstGeom>
        </p:spPr>
        <p:txBody>
          <a:bodyPr anchor="t" rtlCol="false" tIns="0" lIns="0" bIns="0" rIns="0">
            <a:spAutoFit/>
          </a:bodyPr>
          <a:lstStyle/>
          <a:p>
            <a:pPr algn="l">
              <a:lnSpc>
                <a:spcPts val="3437"/>
              </a:lnSpc>
            </a:pPr>
            <a:r>
              <a:rPr lang="en-US" sz="2187">
                <a:solidFill>
                  <a:srgbClr val="666666"/>
                </a:solidFill>
                <a:latin typeface="IBM Plex Sans"/>
                <a:ea typeface="IBM Plex Sans"/>
                <a:cs typeface="IBM Plex Sans"/>
                <a:sym typeface="IBM Plex Sans"/>
              </a:rPr>
              <a:t>Models skewed delay patterns with positive support and flexible shape parameters</a:t>
            </a:r>
          </a:p>
        </p:txBody>
      </p:sp>
      <p:sp>
        <p:nvSpPr>
          <p:cNvPr name="TextBox 29" id="29"/>
          <p:cNvSpPr txBox="true"/>
          <p:nvPr/>
        </p:nvSpPr>
        <p:spPr>
          <a:xfrm rot="0">
            <a:off x="9492405" y="6436814"/>
            <a:ext cx="3798246" cy="462705"/>
          </a:xfrm>
          <a:prstGeom prst="rect">
            <a:avLst/>
          </a:prstGeom>
        </p:spPr>
        <p:txBody>
          <a:bodyPr anchor="t" rtlCol="false" tIns="0" lIns="0" bIns="0" rIns="0">
            <a:spAutoFit/>
          </a:bodyPr>
          <a:lstStyle/>
          <a:p>
            <a:pPr algn="l">
              <a:lnSpc>
                <a:spcPts val="3374"/>
              </a:lnSpc>
            </a:pPr>
            <a:r>
              <a:rPr lang="en-US" sz="2687">
                <a:solidFill>
                  <a:srgbClr val="3F6FF3"/>
                </a:solidFill>
                <a:latin typeface="Arimo"/>
                <a:ea typeface="Arimo"/>
                <a:cs typeface="Arimo"/>
                <a:sym typeface="Arimo"/>
              </a:rPr>
              <a:t>Log-Normal Distribution</a:t>
            </a:r>
          </a:p>
        </p:txBody>
      </p:sp>
      <p:sp>
        <p:nvSpPr>
          <p:cNvPr name="TextBox 30" id="30"/>
          <p:cNvSpPr txBox="true"/>
          <p:nvPr/>
        </p:nvSpPr>
        <p:spPr>
          <a:xfrm rot="0">
            <a:off x="9492405" y="7095534"/>
            <a:ext cx="7832674" cy="956367"/>
          </a:xfrm>
          <a:prstGeom prst="rect">
            <a:avLst/>
          </a:prstGeom>
        </p:spPr>
        <p:txBody>
          <a:bodyPr anchor="t" rtlCol="false" tIns="0" lIns="0" bIns="0" rIns="0">
            <a:spAutoFit/>
          </a:bodyPr>
          <a:lstStyle/>
          <a:p>
            <a:pPr algn="l">
              <a:lnSpc>
                <a:spcPts val="3437"/>
              </a:lnSpc>
            </a:pPr>
            <a:r>
              <a:rPr lang="en-US" sz="2187">
                <a:solidFill>
                  <a:srgbClr val="666666"/>
                </a:solidFill>
                <a:latin typeface="IBM Plex Sans"/>
                <a:ea typeface="IBM Plex Sans"/>
                <a:cs typeface="IBM Plex Sans"/>
                <a:sym typeface="IBM Plex Sans"/>
              </a:rPr>
              <a:t>Ensures positive travel times while capturing multiplicative variability</a:t>
            </a:r>
          </a:p>
        </p:txBody>
      </p:sp>
      <p:sp>
        <p:nvSpPr>
          <p:cNvPr name="TextBox 31" id="31"/>
          <p:cNvSpPr txBox="true"/>
          <p:nvPr/>
        </p:nvSpPr>
        <p:spPr>
          <a:xfrm rot="0">
            <a:off x="972445" y="8340623"/>
            <a:ext cx="16352634" cy="956367"/>
          </a:xfrm>
          <a:prstGeom prst="rect">
            <a:avLst/>
          </a:prstGeom>
        </p:spPr>
        <p:txBody>
          <a:bodyPr anchor="t" rtlCol="false" tIns="0" lIns="0" bIns="0" rIns="0">
            <a:spAutoFit/>
          </a:bodyPr>
          <a:lstStyle/>
          <a:p>
            <a:pPr algn="l">
              <a:lnSpc>
                <a:spcPts val="3437"/>
              </a:lnSpc>
            </a:pPr>
            <a:r>
              <a:rPr lang="en-US" sz="2187">
                <a:solidFill>
                  <a:srgbClr val="666666"/>
                </a:solidFill>
                <a:latin typeface="IBM Plex Sans"/>
                <a:ea typeface="IBM Plex Sans"/>
                <a:cs typeface="IBM Plex Sans"/>
                <a:sym typeface="IBM Plex Sans"/>
              </a:rPr>
              <a:t>Mean and variance parameters estimated from historical data, assuming independence between segments for computational tractability.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1199559" y="885377"/>
            <a:ext cx="8653167" cy="860527"/>
          </a:xfrm>
          <a:prstGeom prst="rect">
            <a:avLst/>
          </a:prstGeom>
        </p:spPr>
        <p:txBody>
          <a:bodyPr anchor="t" rtlCol="false" tIns="0" lIns="0" bIns="0" rIns="0">
            <a:spAutoFit/>
          </a:bodyPr>
          <a:lstStyle/>
          <a:p>
            <a:pPr algn="l">
              <a:lnSpc>
                <a:spcPts val="6312"/>
              </a:lnSpc>
            </a:pPr>
            <a:r>
              <a:rPr lang="en-US" sz="4999">
                <a:solidFill>
                  <a:srgbClr val="3F6FF3"/>
                </a:solidFill>
                <a:latin typeface="Arimo"/>
                <a:ea typeface="Arimo"/>
                <a:cs typeface="Arimo"/>
                <a:sym typeface="Arimo"/>
              </a:rPr>
              <a:t>Randomized Algorithm Design</a:t>
            </a:r>
          </a:p>
        </p:txBody>
      </p:sp>
      <p:sp>
        <p:nvSpPr>
          <p:cNvPr name="TextBox 11" id="11"/>
          <p:cNvSpPr txBox="true"/>
          <p:nvPr/>
        </p:nvSpPr>
        <p:spPr>
          <a:xfrm rot="0">
            <a:off x="3778596" y="2425303"/>
            <a:ext cx="3856587" cy="510483"/>
          </a:xfrm>
          <a:prstGeom prst="rect">
            <a:avLst/>
          </a:prstGeom>
        </p:spPr>
        <p:txBody>
          <a:bodyPr anchor="t" rtlCol="false" tIns="0" lIns="0" bIns="0" rIns="0">
            <a:spAutoFit/>
          </a:bodyPr>
          <a:lstStyle/>
          <a:p>
            <a:pPr algn="l">
              <a:lnSpc>
                <a:spcPts val="3749"/>
              </a:lnSpc>
            </a:pPr>
            <a:r>
              <a:rPr lang="en-US" sz="3000">
                <a:solidFill>
                  <a:srgbClr val="3F6FF3"/>
                </a:solidFill>
                <a:latin typeface="Arimo"/>
                <a:ea typeface="Arimo"/>
                <a:cs typeface="Arimo"/>
                <a:sym typeface="Arimo"/>
              </a:rPr>
              <a:t>Core Objective</a:t>
            </a:r>
          </a:p>
        </p:txBody>
      </p:sp>
      <p:sp>
        <p:nvSpPr>
          <p:cNvPr name="TextBox 12" id="12"/>
          <p:cNvSpPr txBox="true"/>
          <p:nvPr/>
        </p:nvSpPr>
        <p:spPr>
          <a:xfrm rot="0">
            <a:off x="1407986" y="2973886"/>
            <a:ext cx="7930601" cy="1233640"/>
          </a:xfrm>
          <a:prstGeom prst="rect">
            <a:avLst/>
          </a:prstGeom>
        </p:spPr>
        <p:txBody>
          <a:bodyPr anchor="t" rtlCol="false" tIns="0" lIns="0" bIns="0" rIns="0">
            <a:spAutoFit/>
          </a:bodyPr>
          <a:lstStyle/>
          <a:p>
            <a:pPr algn="ctr">
              <a:lnSpc>
                <a:spcPts val="3062"/>
              </a:lnSpc>
            </a:pPr>
            <a:r>
              <a:rPr lang="en-US" sz="2000">
                <a:solidFill>
                  <a:srgbClr val="666666"/>
                </a:solidFill>
                <a:latin typeface="IBM Plex Sans"/>
                <a:ea typeface="IBM Plex Sans"/>
                <a:cs typeface="IBM Plex Sans"/>
                <a:sym typeface="IBM Plex Sans"/>
              </a:rPr>
              <a:t>Maximize probability of on-time arrival rather than minimize expected travel time. This shift in optimization goal fundamentally changes how routes are evaluated and selected.</a:t>
            </a:r>
          </a:p>
        </p:txBody>
      </p:sp>
      <p:sp>
        <p:nvSpPr>
          <p:cNvPr name="TextBox 13" id="13"/>
          <p:cNvSpPr txBox="true"/>
          <p:nvPr/>
        </p:nvSpPr>
        <p:spPr>
          <a:xfrm rot="0">
            <a:off x="2862634" y="4538367"/>
            <a:ext cx="4010768" cy="510483"/>
          </a:xfrm>
          <a:prstGeom prst="rect">
            <a:avLst/>
          </a:prstGeom>
        </p:spPr>
        <p:txBody>
          <a:bodyPr anchor="t" rtlCol="false" tIns="0" lIns="0" bIns="0" rIns="0">
            <a:spAutoFit/>
          </a:bodyPr>
          <a:lstStyle/>
          <a:p>
            <a:pPr algn="l">
              <a:lnSpc>
                <a:spcPts val="3749"/>
              </a:lnSpc>
            </a:pPr>
            <a:r>
              <a:rPr lang="en-US" sz="3000">
                <a:solidFill>
                  <a:srgbClr val="3F6FF3"/>
                </a:solidFill>
                <a:latin typeface="Arimo"/>
                <a:ea typeface="Arimo"/>
                <a:cs typeface="Arimo"/>
                <a:sym typeface="Arimo"/>
              </a:rPr>
              <a:t>Monte Carlo Simulation</a:t>
            </a:r>
          </a:p>
        </p:txBody>
      </p:sp>
      <p:sp>
        <p:nvSpPr>
          <p:cNvPr name="TextBox 14" id="14"/>
          <p:cNvSpPr txBox="true"/>
          <p:nvPr/>
        </p:nvSpPr>
        <p:spPr>
          <a:xfrm rot="0">
            <a:off x="1240412" y="5086941"/>
            <a:ext cx="7930601" cy="1233640"/>
          </a:xfrm>
          <a:prstGeom prst="rect">
            <a:avLst/>
          </a:prstGeom>
        </p:spPr>
        <p:txBody>
          <a:bodyPr anchor="t" rtlCol="false" tIns="0" lIns="0" bIns="0" rIns="0">
            <a:spAutoFit/>
          </a:bodyPr>
          <a:lstStyle/>
          <a:p>
            <a:pPr algn="ctr">
              <a:lnSpc>
                <a:spcPts val="3062"/>
              </a:lnSpc>
            </a:pPr>
            <a:r>
              <a:rPr lang="en-US" sz="2000">
                <a:solidFill>
                  <a:srgbClr val="666666"/>
                </a:solidFill>
                <a:latin typeface="IBM Plex Sans"/>
                <a:ea typeface="IBM Plex Sans"/>
                <a:cs typeface="IBM Plex Sans"/>
                <a:sym typeface="IBM Plex Sans"/>
              </a:rPr>
              <a:t>Introduces randomness through repeated sampling from travel time distributions, building empirical probability estimates for each candidate route.</a:t>
            </a:r>
          </a:p>
        </p:txBody>
      </p:sp>
      <p:grpSp>
        <p:nvGrpSpPr>
          <p:cNvPr name="Group 15" id="15"/>
          <p:cNvGrpSpPr/>
          <p:nvPr/>
        </p:nvGrpSpPr>
        <p:grpSpPr>
          <a:xfrm rot="0">
            <a:off x="9719367" y="2665962"/>
            <a:ext cx="266548" cy="1166365"/>
            <a:chOff x="0" y="0"/>
            <a:chExt cx="355397" cy="1555153"/>
          </a:xfrm>
        </p:grpSpPr>
        <p:sp>
          <p:nvSpPr>
            <p:cNvPr name="Freeform 16" id="16"/>
            <p:cNvSpPr/>
            <p:nvPr/>
          </p:nvSpPr>
          <p:spPr>
            <a:xfrm flipH="false" flipV="false" rot="0">
              <a:off x="6350" y="6350"/>
              <a:ext cx="342646" cy="1542542"/>
            </a:xfrm>
            <a:custGeom>
              <a:avLst/>
              <a:gdLst/>
              <a:ahLst/>
              <a:cxnLst/>
              <a:rect r="r" b="b" t="t" l="l"/>
              <a:pathLst>
                <a:path h="1542542" w="342646">
                  <a:moveTo>
                    <a:pt x="0" y="176276"/>
                  </a:moveTo>
                  <a:cubicBezTo>
                    <a:pt x="0" y="78867"/>
                    <a:pt x="76708" y="0"/>
                    <a:pt x="171323" y="0"/>
                  </a:cubicBezTo>
                  <a:cubicBezTo>
                    <a:pt x="265938" y="0"/>
                    <a:pt x="342646" y="78867"/>
                    <a:pt x="342646" y="176276"/>
                  </a:cubicBezTo>
                  <a:lnTo>
                    <a:pt x="342646" y="1366266"/>
                  </a:lnTo>
                  <a:cubicBezTo>
                    <a:pt x="342646" y="1463548"/>
                    <a:pt x="265938" y="1542542"/>
                    <a:pt x="171323" y="1542542"/>
                  </a:cubicBezTo>
                  <a:cubicBezTo>
                    <a:pt x="76708" y="1542542"/>
                    <a:pt x="0" y="1463548"/>
                    <a:pt x="0" y="1366266"/>
                  </a:cubicBezTo>
                  <a:close/>
                </a:path>
              </a:pathLst>
            </a:custGeom>
            <a:solidFill>
              <a:srgbClr val="CFDBFC"/>
            </a:solidFill>
          </p:spPr>
        </p:sp>
        <p:sp>
          <p:nvSpPr>
            <p:cNvPr name="Freeform 17" id="17"/>
            <p:cNvSpPr/>
            <p:nvPr/>
          </p:nvSpPr>
          <p:spPr>
            <a:xfrm flipH="false" flipV="false" rot="0">
              <a:off x="0" y="0"/>
              <a:ext cx="355346" cy="1555242"/>
            </a:xfrm>
            <a:custGeom>
              <a:avLst/>
              <a:gdLst/>
              <a:ahLst/>
              <a:cxnLst/>
              <a:rect r="r" b="b" t="t" l="l"/>
              <a:pathLst>
                <a:path h="1555242" w="355346">
                  <a:moveTo>
                    <a:pt x="0" y="182626"/>
                  </a:moveTo>
                  <a:cubicBezTo>
                    <a:pt x="0" y="81915"/>
                    <a:pt x="79375" y="0"/>
                    <a:pt x="177673" y="0"/>
                  </a:cubicBezTo>
                  <a:cubicBezTo>
                    <a:pt x="178943" y="0"/>
                    <a:pt x="180086" y="381"/>
                    <a:pt x="181102" y="1016"/>
                  </a:cubicBezTo>
                  <a:lnTo>
                    <a:pt x="177673" y="6350"/>
                  </a:lnTo>
                  <a:lnTo>
                    <a:pt x="177673" y="0"/>
                  </a:lnTo>
                  <a:lnTo>
                    <a:pt x="177673" y="6350"/>
                  </a:lnTo>
                  <a:lnTo>
                    <a:pt x="177673" y="0"/>
                  </a:lnTo>
                  <a:cubicBezTo>
                    <a:pt x="275971" y="0"/>
                    <a:pt x="355346" y="81915"/>
                    <a:pt x="355346" y="182626"/>
                  </a:cubicBezTo>
                  <a:lnTo>
                    <a:pt x="355346" y="1372616"/>
                  </a:lnTo>
                  <a:lnTo>
                    <a:pt x="348996" y="1372616"/>
                  </a:lnTo>
                  <a:lnTo>
                    <a:pt x="355346" y="1372616"/>
                  </a:lnTo>
                  <a:cubicBezTo>
                    <a:pt x="355346" y="1473327"/>
                    <a:pt x="275971" y="1555242"/>
                    <a:pt x="177673" y="1555242"/>
                  </a:cubicBezTo>
                  <a:lnTo>
                    <a:pt x="177673" y="1548892"/>
                  </a:lnTo>
                  <a:lnTo>
                    <a:pt x="177673" y="1555242"/>
                  </a:lnTo>
                  <a:cubicBezTo>
                    <a:pt x="79375" y="1555115"/>
                    <a:pt x="0" y="1473200"/>
                    <a:pt x="0" y="1372616"/>
                  </a:cubicBezTo>
                  <a:lnTo>
                    <a:pt x="0" y="182626"/>
                  </a:lnTo>
                  <a:lnTo>
                    <a:pt x="6350" y="182626"/>
                  </a:lnTo>
                  <a:lnTo>
                    <a:pt x="0" y="182626"/>
                  </a:lnTo>
                  <a:moveTo>
                    <a:pt x="12700" y="182626"/>
                  </a:moveTo>
                  <a:lnTo>
                    <a:pt x="12700" y="1372616"/>
                  </a:lnTo>
                  <a:lnTo>
                    <a:pt x="6350" y="1372616"/>
                  </a:lnTo>
                  <a:lnTo>
                    <a:pt x="12700" y="1372616"/>
                  </a:lnTo>
                  <a:cubicBezTo>
                    <a:pt x="12700" y="1466596"/>
                    <a:pt x="86741" y="1542542"/>
                    <a:pt x="177673" y="1542542"/>
                  </a:cubicBezTo>
                  <a:cubicBezTo>
                    <a:pt x="268605" y="1542542"/>
                    <a:pt x="342646" y="1466596"/>
                    <a:pt x="342646" y="1372616"/>
                  </a:cubicBezTo>
                  <a:lnTo>
                    <a:pt x="342646" y="182626"/>
                  </a:lnTo>
                  <a:lnTo>
                    <a:pt x="348996" y="182626"/>
                  </a:lnTo>
                  <a:lnTo>
                    <a:pt x="342646" y="182626"/>
                  </a:lnTo>
                  <a:cubicBezTo>
                    <a:pt x="342646" y="88646"/>
                    <a:pt x="268605" y="12700"/>
                    <a:pt x="177673" y="12700"/>
                  </a:cubicBezTo>
                  <a:cubicBezTo>
                    <a:pt x="176403" y="12700"/>
                    <a:pt x="175260" y="12319"/>
                    <a:pt x="174244" y="11684"/>
                  </a:cubicBezTo>
                  <a:lnTo>
                    <a:pt x="177673" y="6350"/>
                  </a:lnTo>
                  <a:lnTo>
                    <a:pt x="177673" y="12700"/>
                  </a:lnTo>
                  <a:cubicBezTo>
                    <a:pt x="86741" y="12700"/>
                    <a:pt x="12700" y="88646"/>
                    <a:pt x="12700" y="182626"/>
                  </a:cubicBezTo>
                  <a:close/>
                </a:path>
              </a:pathLst>
            </a:custGeom>
            <a:solidFill>
              <a:srgbClr val="B5C1E2"/>
            </a:solidFill>
          </p:spPr>
        </p:sp>
      </p:grpSp>
      <p:grpSp>
        <p:nvGrpSpPr>
          <p:cNvPr name="Group 18" id="18"/>
          <p:cNvGrpSpPr/>
          <p:nvPr/>
        </p:nvGrpSpPr>
        <p:grpSpPr>
          <a:xfrm rot="0">
            <a:off x="9462345" y="2497188"/>
            <a:ext cx="780755" cy="780755"/>
            <a:chOff x="0" y="0"/>
            <a:chExt cx="1041006" cy="1041006"/>
          </a:xfrm>
        </p:grpSpPr>
        <p:sp>
          <p:nvSpPr>
            <p:cNvPr name="Freeform 19" id="19"/>
            <p:cNvSpPr/>
            <p:nvPr/>
          </p:nvSpPr>
          <p:spPr>
            <a:xfrm flipH="false" flipV="false" rot="0">
              <a:off x="6350" y="6350"/>
              <a:ext cx="1028319" cy="1028319"/>
            </a:xfrm>
            <a:custGeom>
              <a:avLst/>
              <a:gdLst/>
              <a:ahLst/>
              <a:cxnLst/>
              <a:rect r="r" b="b" t="t" l="l"/>
              <a:pathLst>
                <a:path h="1028319" w="1028319">
                  <a:moveTo>
                    <a:pt x="0" y="514096"/>
                  </a:moveTo>
                  <a:cubicBezTo>
                    <a:pt x="0" y="230251"/>
                    <a:pt x="230251" y="0"/>
                    <a:pt x="514096" y="0"/>
                  </a:cubicBezTo>
                  <a:cubicBezTo>
                    <a:pt x="797941" y="0"/>
                    <a:pt x="1028319" y="230251"/>
                    <a:pt x="1028319" y="514096"/>
                  </a:cubicBezTo>
                  <a:cubicBezTo>
                    <a:pt x="1028319" y="797941"/>
                    <a:pt x="798068" y="1028319"/>
                    <a:pt x="514096" y="1028319"/>
                  </a:cubicBezTo>
                  <a:cubicBezTo>
                    <a:pt x="230124" y="1028319"/>
                    <a:pt x="0" y="798068"/>
                    <a:pt x="0" y="514096"/>
                  </a:cubicBezTo>
                  <a:close/>
                </a:path>
              </a:pathLst>
            </a:custGeom>
            <a:solidFill>
              <a:srgbClr val="CFDBFC"/>
            </a:solidFill>
          </p:spPr>
        </p:sp>
        <p:sp>
          <p:nvSpPr>
            <p:cNvPr name="Freeform 20" id="20"/>
            <p:cNvSpPr/>
            <p:nvPr/>
          </p:nvSpPr>
          <p:spPr>
            <a:xfrm flipH="false" flipV="false" rot="0">
              <a:off x="0" y="0"/>
              <a:ext cx="1041019" cy="1040892"/>
            </a:xfrm>
            <a:custGeom>
              <a:avLst/>
              <a:gdLst/>
              <a:ahLst/>
              <a:cxnLst/>
              <a:rect r="r" b="b" t="t" l="l"/>
              <a:pathLst>
                <a:path h="1040892" w="1041019">
                  <a:moveTo>
                    <a:pt x="0" y="520446"/>
                  </a:moveTo>
                  <a:cubicBezTo>
                    <a:pt x="0" y="233045"/>
                    <a:pt x="233045" y="0"/>
                    <a:pt x="520446" y="0"/>
                  </a:cubicBezTo>
                  <a:cubicBezTo>
                    <a:pt x="521716" y="0"/>
                    <a:pt x="522859" y="381"/>
                    <a:pt x="523875" y="1016"/>
                  </a:cubicBezTo>
                  <a:lnTo>
                    <a:pt x="520446" y="6350"/>
                  </a:lnTo>
                  <a:lnTo>
                    <a:pt x="520446" y="0"/>
                  </a:lnTo>
                  <a:lnTo>
                    <a:pt x="520446" y="6350"/>
                  </a:lnTo>
                  <a:lnTo>
                    <a:pt x="520446" y="0"/>
                  </a:lnTo>
                  <a:cubicBezTo>
                    <a:pt x="807974" y="0"/>
                    <a:pt x="1041019" y="233045"/>
                    <a:pt x="1041019" y="520446"/>
                  </a:cubicBezTo>
                  <a:cubicBezTo>
                    <a:pt x="1041019" y="522859"/>
                    <a:pt x="1039622" y="525018"/>
                    <a:pt x="1037463" y="526161"/>
                  </a:cubicBezTo>
                  <a:lnTo>
                    <a:pt x="1034669" y="520446"/>
                  </a:lnTo>
                  <a:lnTo>
                    <a:pt x="1041019" y="520446"/>
                  </a:lnTo>
                  <a:cubicBezTo>
                    <a:pt x="1041019" y="807974"/>
                    <a:pt x="807974" y="1040892"/>
                    <a:pt x="520573" y="1040892"/>
                  </a:cubicBezTo>
                  <a:lnTo>
                    <a:pt x="520573" y="1034542"/>
                  </a:lnTo>
                  <a:lnTo>
                    <a:pt x="520573" y="1040892"/>
                  </a:lnTo>
                  <a:lnTo>
                    <a:pt x="520573" y="1034542"/>
                  </a:lnTo>
                  <a:lnTo>
                    <a:pt x="520573" y="1040892"/>
                  </a:lnTo>
                  <a:cubicBezTo>
                    <a:pt x="233045" y="1041019"/>
                    <a:pt x="0" y="807974"/>
                    <a:pt x="0" y="520446"/>
                  </a:cubicBezTo>
                  <a:cubicBezTo>
                    <a:pt x="0" y="519176"/>
                    <a:pt x="381" y="518033"/>
                    <a:pt x="1016" y="517017"/>
                  </a:cubicBezTo>
                  <a:lnTo>
                    <a:pt x="6350" y="520446"/>
                  </a:lnTo>
                  <a:lnTo>
                    <a:pt x="0" y="520446"/>
                  </a:lnTo>
                  <a:moveTo>
                    <a:pt x="12700" y="520446"/>
                  </a:moveTo>
                  <a:cubicBezTo>
                    <a:pt x="12700" y="521716"/>
                    <a:pt x="12319" y="522859"/>
                    <a:pt x="11684" y="523875"/>
                  </a:cubicBezTo>
                  <a:lnTo>
                    <a:pt x="6350" y="520446"/>
                  </a:lnTo>
                  <a:lnTo>
                    <a:pt x="12700" y="520446"/>
                  </a:lnTo>
                  <a:cubicBezTo>
                    <a:pt x="12700" y="800989"/>
                    <a:pt x="240030" y="1028319"/>
                    <a:pt x="520446" y="1028319"/>
                  </a:cubicBezTo>
                  <a:cubicBezTo>
                    <a:pt x="800862" y="1028319"/>
                    <a:pt x="1028192" y="800989"/>
                    <a:pt x="1028192" y="520573"/>
                  </a:cubicBezTo>
                  <a:cubicBezTo>
                    <a:pt x="1028192" y="518160"/>
                    <a:pt x="1029589" y="516001"/>
                    <a:pt x="1031748" y="514858"/>
                  </a:cubicBezTo>
                  <a:lnTo>
                    <a:pt x="1034542" y="520573"/>
                  </a:lnTo>
                  <a:lnTo>
                    <a:pt x="1028192" y="520573"/>
                  </a:lnTo>
                  <a:cubicBezTo>
                    <a:pt x="1028319" y="240030"/>
                    <a:pt x="800989" y="12700"/>
                    <a:pt x="520446" y="12700"/>
                  </a:cubicBezTo>
                  <a:cubicBezTo>
                    <a:pt x="519176" y="12700"/>
                    <a:pt x="518033" y="12319"/>
                    <a:pt x="517017" y="11684"/>
                  </a:cubicBezTo>
                  <a:lnTo>
                    <a:pt x="520446" y="6350"/>
                  </a:lnTo>
                  <a:lnTo>
                    <a:pt x="520446" y="12700"/>
                  </a:lnTo>
                  <a:cubicBezTo>
                    <a:pt x="240030" y="12700"/>
                    <a:pt x="12700" y="240030"/>
                    <a:pt x="12700" y="520446"/>
                  </a:cubicBezTo>
                  <a:close/>
                </a:path>
              </a:pathLst>
            </a:custGeom>
            <a:solidFill>
              <a:srgbClr val="B5C1E2"/>
            </a:solidFill>
          </p:spPr>
        </p:sp>
      </p:grpSp>
      <p:sp>
        <p:nvSpPr>
          <p:cNvPr name="Freeform 21" id="21" descr="preencoded.png"/>
          <p:cNvSpPr/>
          <p:nvPr/>
        </p:nvSpPr>
        <p:spPr>
          <a:xfrm flipH="false" flipV="false" rot="0">
            <a:off x="9659836" y="2694832"/>
            <a:ext cx="385610" cy="385610"/>
          </a:xfrm>
          <a:custGeom>
            <a:avLst/>
            <a:gdLst/>
            <a:ahLst/>
            <a:cxnLst/>
            <a:rect r="r" b="b" t="t" l="l"/>
            <a:pathLst>
              <a:path h="385610" w="385610">
                <a:moveTo>
                  <a:pt x="0" y="0"/>
                </a:moveTo>
                <a:lnTo>
                  <a:pt x="385610" y="0"/>
                </a:lnTo>
                <a:lnTo>
                  <a:pt x="385610" y="385610"/>
                </a:lnTo>
                <a:lnTo>
                  <a:pt x="0" y="385610"/>
                </a:lnTo>
                <a:lnTo>
                  <a:pt x="0" y="0"/>
                </a:lnTo>
                <a:close/>
              </a:path>
            </a:pathLst>
          </a:custGeom>
          <a:blipFill>
            <a:blip r:embed="rId4">
              <a:extLst>
                <a:ext uri="{96DAC541-7B7A-43D3-8B79-37D633B846F1}">
                  <asvg:svgBlip xmlns:asvg="http://schemas.microsoft.com/office/drawing/2016/SVG/main" r:embed="rId5"/>
                </a:ext>
              </a:extLst>
            </a:blip>
            <a:stretch>
              <a:fillRect l="-3658" t="0" r="-3660" b="0"/>
            </a:stretch>
          </a:blipFill>
        </p:spPr>
      </p:sp>
      <p:sp>
        <p:nvSpPr>
          <p:cNvPr name="TextBox 22" id="22"/>
          <p:cNvSpPr txBox="true"/>
          <p:nvPr/>
        </p:nvSpPr>
        <p:spPr>
          <a:xfrm rot="0">
            <a:off x="10471394" y="2513562"/>
            <a:ext cx="3213792" cy="430111"/>
          </a:xfrm>
          <a:prstGeom prst="rect">
            <a:avLst/>
          </a:prstGeom>
        </p:spPr>
        <p:txBody>
          <a:bodyPr anchor="t" rtlCol="false" tIns="0" lIns="0" bIns="0" rIns="0">
            <a:spAutoFit/>
          </a:bodyPr>
          <a:lstStyle/>
          <a:p>
            <a:pPr algn="l">
              <a:lnSpc>
                <a:spcPts val="3124"/>
              </a:lnSpc>
            </a:pPr>
            <a:r>
              <a:rPr lang="en-US" sz="2499">
                <a:solidFill>
                  <a:srgbClr val="666666"/>
                </a:solidFill>
                <a:latin typeface="Arimo"/>
                <a:ea typeface="Arimo"/>
                <a:cs typeface="Arimo"/>
                <a:sym typeface="Arimo"/>
              </a:rPr>
              <a:t>Select Route</a:t>
            </a:r>
          </a:p>
        </p:txBody>
      </p:sp>
      <p:sp>
        <p:nvSpPr>
          <p:cNvPr name="TextBox 23" id="23"/>
          <p:cNvSpPr txBox="true"/>
          <p:nvPr/>
        </p:nvSpPr>
        <p:spPr>
          <a:xfrm rot="0">
            <a:off x="10471394" y="3119590"/>
            <a:ext cx="6926313" cy="449313"/>
          </a:xfrm>
          <a:prstGeom prst="rect">
            <a:avLst/>
          </a:prstGeom>
        </p:spPr>
        <p:txBody>
          <a:bodyPr anchor="t" rtlCol="false" tIns="0" lIns="0" bIns="0" rIns="0">
            <a:spAutoFit/>
          </a:bodyPr>
          <a:lstStyle/>
          <a:p>
            <a:pPr algn="l">
              <a:lnSpc>
                <a:spcPts val="3062"/>
              </a:lnSpc>
            </a:pPr>
            <a:r>
              <a:rPr lang="en-US" sz="2000">
                <a:solidFill>
                  <a:srgbClr val="666666"/>
                </a:solidFill>
                <a:latin typeface="IBM Plex Sans"/>
                <a:ea typeface="IBM Plex Sans"/>
                <a:cs typeface="IBM Plex Sans"/>
                <a:sym typeface="IBM Plex Sans"/>
              </a:rPr>
              <a:t>Identify candidate path in network</a:t>
            </a:r>
          </a:p>
        </p:txBody>
      </p:sp>
      <p:grpSp>
        <p:nvGrpSpPr>
          <p:cNvPr name="Group 24" id="24"/>
          <p:cNvGrpSpPr/>
          <p:nvPr/>
        </p:nvGrpSpPr>
        <p:grpSpPr>
          <a:xfrm rot="0">
            <a:off x="10104987" y="4441622"/>
            <a:ext cx="266548" cy="1166365"/>
            <a:chOff x="0" y="0"/>
            <a:chExt cx="355397" cy="1555153"/>
          </a:xfrm>
        </p:grpSpPr>
        <p:sp>
          <p:nvSpPr>
            <p:cNvPr name="Freeform 25" id="25"/>
            <p:cNvSpPr/>
            <p:nvPr/>
          </p:nvSpPr>
          <p:spPr>
            <a:xfrm flipH="false" flipV="false" rot="0">
              <a:off x="6350" y="6350"/>
              <a:ext cx="342646" cy="1542542"/>
            </a:xfrm>
            <a:custGeom>
              <a:avLst/>
              <a:gdLst/>
              <a:ahLst/>
              <a:cxnLst/>
              <a:rect r="r" b="b" t="t" l="l"/>
              <a:pathLst>
                <a:path h="1542542" w="342646">
                  <a:moveTo>
                    <a:pt x="0" y="176276"/>
                  </a:moveTo>
                  <a:cubicBezTo>
                    <a:pt x="0" y="78867"/>
                    <a:pt x="76708" y="0"/>
                    <a:pt x="171323" y="0"/>
                  </a:cubicBezTo>
                  <a:cubicBezTo>
                    <a:pt x="265938" y="0"/>
                    <a:pt x="342646" y="78867"/>
                    <a:pt x="342646" y="176276"/>
                  </a:cubicBezTo>
                  <a:lnTo>
                    <a:pt x="342646" y="1366266"/>
                  </a:lnTo>
                  <a:cubicBezTo>
                    <a:pt x="342646" y="1463548"/>
                    <a:pt x="265938" y="1542542"/>
                    <a:pt x="171323" y="1542542"/>
                  </a:cubicBezTo>
                  <a:cubicBezTo>
                    <a:pt x="76708" y="1542542"/>
                    <a:pt x="0" y="1463548"/>
                    <a:pt x="0" y="1366266"/>
                  </a:cubicBezTo>
                  <a:close/>
                </a:path>
              </a:pathLst>
            </a:custGeom>
            <a:solidFill>
              <a:srgbClr val="CFDBFC"/>
            </a:solidFill>
          </p:spPr>
        </p:sp>
        <p:sp>
          <p:nvSpPr>
            <p:cNvPr name="Freeform 26" id="26"/>
            <p:cNvSpPr/>
            <p:nvPr/>
          </p:nvSpPr>
          <p:spPr>
            <a:xfrm flipH="false" flipV="false" rot="0">
              <a:off x="0" y="0"/>
              <a:ext cx="355346" cy="1555242"/>
            </a:xfrm>
            <a:custGeom>
              <a:avLst/>
              <a:gdLst/>
              <a:ahLst/>
              <a:cxnLst/>
              <a:rect r="r" b="b" t="t" l="l"/>
              <a:pathLst>
                <a:path h="1555242" w="355346">
                  <a:moveTo>
                    <a:pt x="0" y="182626"/>
                  </a:moveTo>
                  <a:cubicBezTo>
                    <a:pt x="0" y="81915"/>
                    <a:pt x="79375" y="0"/>
                    <a:pt x="177673" y="0"/>
                  </a:cubicBezTo>
                  <a:cubicBezTo>
                    <a:pt x="178943" y="0"/>
                    <a:pt x="180086" y="381"/>
                    <a:pt x="181102" y="1016"/>
                  </a:cubicBezTo>
                  <a:lnTo>
                    <a:pt x="177673" y="6350"/>
                  </a:lnTo>
                  <a:lnTo>
                    <a:pt x="177673" y="0"/>
                  </a:lnTo>
                  <a:lnTo>
                    <a:pt x="177673" y="6350"/>
                  </a:lnTo>
                  <a:lnTo>
                    <a:pt x="177673" y="0"/>
                  </a:lnTo>
                  <a:cubicBezTo>
                    <a:pt x="275971" y="0"/>
                    <a:pt x="355346" y="81915"/>
                    <a:pt x="355346" y="182626"/>
                  </a:cubicBezTo>
                  <a:lnTo>
                    <a:pt x="355346" y="1372616"/>
                  </a:lnTo>
                  <a:lnTo>
                    <a:pt x="348996" y="1372616"/>
                  </a:lnTo>
                  <a:lnTo>
                    <a:pt x="355346" y="1372616"/>
                  </a:lnTo>
                  <a:cubicBezTo>
                    <a:pt x="355346" y="1473327"/>
                    <a:pt x="275971" y="1555242"/>
                    <a:pt x="177673" y="1555242"/>
                  </a:cubicBezTo>
                  <a:lnTo>
                    <a:pt x="177673" y="1548892"/>
                  </a:lnTo>
                  <a:lnTo>
                    <a:pt x="177673" y="1555242"/>
                  </a:lnTo>
                  <a:cubicBezTo>
                    <a:pt x="79375" y="1555115"/>
                    <a:pt x="0" y="1473200"/>
                    <a:pt x="0" y="1372616"/>
                  </a:cubicBezTo>
                  <a:lnTo>
                    <a:pt x="0" y="182626"/>
                  </a:lnTo>
                  <a:lnTo>
                    <a:pt x="6350" y="182626"/>
                  </a:lnTo>
                  <a:lnTo>
                    <a:pt x="0" y="182626"/>
                  </a:lnTo>
                  <a:moveTo>
                    <a:pt x="12700" y="182626"/>
                  </a:moveTo>
                  <a:lnTo>
                    <a:pt x="12700" y="1372616"/>
                  </a:lnTo>
                  <a:lnTo>
                    <a:pt x="6350" y="1372616"/>
                  </a:lnTo>
                  <a:lnTo>
                    <a:pt x="12700" y="1372616"/>
                  </a:lnTo>
                  <a:cubicBezTo>
                    <a:pt x="12700" y="1466596"/>
                    <a:pt x="86741" y="1542542"/>
                    <a:pt x="177673" y="1542542"/>
                  </a:cubicBezTo>
                  <a:cubicBezTo>
                    <a:pt x="268605" y="1542542"/>
                    <a:pt x="342646" y="1466596"/>
                    <a:pt x="342646" y="1372616"/>
                  </a:cubicBezTo>
                  <a:lnTo>
                    <a:pt x="342646" y="182626"/>
                  </a:lnTo>
                  <a:lnTo>
                    <a:pt x="348996" y="182626"/>
                  </a:lnTo>
                  <a:lnTo>
                    <a:pt x="342646" y="182626"/>
                  </a:lnTo>
                  <a:cubicBezTo>
                    <a:pt x="342646" y="88646"/>
                    <a:pt x="268605" y="12700"/>
                    <a:pt x="177673" y="12700"/>
                  </a:cubicBezTo>
                  <a:cubicBezTo>
                    <a:pt x="176403" y="12700"/>
                    <a:pt x="175260" y="12319"/>
                    <a:pt x="174244" y="11684"/>
                  </a:cubicBezTo>
                  <a:lnTo>
                    <a:pt x="177673" y="6350"/>
                  </a:lnTo>
                  <a:lnTo>
                    <a:pt x="177673" y="12700"/>
                  </a:lnTo>
                  <a:cubicBezTo>
                    <a:pt x="86741" y="12700"/>
                    <a:pt x="12700" y="88646"/>
                    <a:pt x="12700" y="182626"/>
                  </a:cubicBezTo>
                  <a:close/>
                </a:path>
              </a:pathLst>
            </a:custGeom>
            <a:solidFill>
              <a:srgbClr val="B5C1E2"/>
            </a:solidFill>
          </p:spPr>
        </p:sp>
      </p:grpSp>
      <p:grpSp>
        <p:nvGrpSpPr>
          <p:cNvPr name="Group 27" id="27"/>
          <p:cNvGrpSpPr/>
          <p:nvPr/>
        </p:nvGrpSpPr>
        <p:grpSpPr>
          <a:xfrm rot="0">
            <a:off x="9847955" y="4272858"/>
            <a:ext cx="780755" cy="780755"/>
            <a:chOff x="0" y="0"/>
            <a:chExt cx="1041006" cy="1041006"/>
          </a:xfrm>
        </p:grpSpPr>
        <p:sp>
          <p:nvSpPr>
            <p:cNvPr name="Freeform 28" id="28"/>
            <p:cNvSpPr/>
            <p:nvPr/>
          </p:nvSpPr>
          <p:spPr>
            <a:xfrm flipH="false" flipV="false" rot="0">
              <a:off x="6350" y="6350"/>
              <a:ext cx="1028319" cy="1028319"/>
            </a:xfrm>
            <a:custGeom>
              <a:avLst/>
              <a:gdLst/>
              <a:ahLst/>
              <a:cxnLst/>
              <a:rect r="r" b="b" t="t" l="l"/>
              <a:pathLst>
                <a:path h="1028319" w="1028319">
                  <a:moveTo>
                    <a:pt x="0" y="514096"/>
                  </a:moveTo>
                  <a:cubicBezTo>
                    <a:pt x="0" y="230251"/>
                    <a:pt x="230251" y="0"/>
                    <a:pt x="514096" y="0"/>
                  </a:cubicBezTo>
                  <a:cubicBezTo>
                    <a:pt x="797941" y="0"/>
                    <a:pt x="1028319" y="230251"/>
                    <a:pt x="1028319" y="514096"/>
                  </a:cubicBezTo>
                  <a:cubicBezTo>
                    <a:pt x="1028319" y="797941"/>
                    <a:pt x="798068" y="1028319"/>
                    <a:pt x="514096" y="1028319"/>
                  </a:cubicBezTo>
                  <a:cubicBezTo>
                    <a:pt x="230124" y="1028319"/>
                    <a:pt x="0" y="798068"/>
                    <a:pt x="0" y="514096"/>
                  </a:cubicBezTo>
                  <a:close/>
                </a:path>
              </a:pathLst>
            </a:custGeom>
            <a:solidFill>
              <a:srgbClr val="CFDBFC"/>
            </a:solidFill>
          </p:spPr>
        </p:sp>
        <p:sp>
          <p:nvSpPr>
            <p:cNvPr name="Freeform 29" id="29"/>
            <p:cNvSpPr/>
            <p:nvPr/>
          </p:nvSpPr>
          <p:spPr>
            <a:xfrm flipH="false" flipV="false" rot="0">
              <a:off x="0" y="0"/>
              <a:ext cx="1041019" cy="1040892"/>
            </a:xfrm>
            <a:custGeom>
              <a:avLst/>
              <a:gdLst/>
              <a:ahLst/>
              <a:cxnLst/>
              <a:rect r="r" b="b" t="t" l="l"/>
              <a:pathLst>
                <a:path h="1040892" w="1041019">
                  <a:moveTo>
                    <a:pt x="0" y="520446"/>
                  </a:moveTo>
                  <a:cubicBezTo>
                    <a:pt x="0" y="233045"/>
                    <a:pt x="233045" y="0"/>
                    <a:pt x="520446" y="0"/>
                  </a:cubicBezTo>
                  <a:cubicBezTo>
                    <a:pt x="521716" y="0"/>
                    <a:pt x="522859" y="381"/>
                    <a:pt x="523875" y="1016"/>
                  </a:cubicBezTo>
                  <a:lnTo>
                    <a:pt x="520446" y="6350"/>
                  </a:lnTo>
                  <a:lnTo>
                    <a:pt x="520446" y="0"/>
                  </a:lnTo>
                  <a:lnTo>
                    <a:pt x="520446" y="6350"/>
                  </a:lnTo>
                  <a:lnTo>
                    <a:pt x="520446" y="0"/>
                  </a:lnTo>
                  <a:cubicBezTo>
                    <a:pt x="807974" y="0"/>
                    <a:pt x="1041019" y="233045"/>
                    <a:pt x="1041019" y="520446"/>
                  </a:cubicBezTo>
                  <a:cubicBezTo>
                    <a:pt x="1041019" y="522859"/>
                    <a:pt x="1039622" y="525018"/>
                    <a:pt x="1037463" y="526161"/>
                  </a:cubicBezTo>
                  <a:lnTo>
                    <a:pt x="1034669" y="520446"/>
                  </a:lnTo>
                  <a:lnTo>
                    <a:pt x="1041019" y="520446"/>
                  </a:lnTo>
                  <a:cubicBezTo>
                    <a:pt x="1041019" y="807974"/>
                    <a:pt x="807974" y="1040892"/>
                    <a:pt x="520573" y="1040892"/>
                  </a:cubicBezTo>
                  <a:lnTo>
                    <a:pt x="520573" y="1034542"/>
                  </a:lnTo>
                  <a:lnTo>
                    <a:pt x="520573" y="1040892"/>
                  </a:lnTo>
                  <a:lnTo>
                    <a:pt x="520573" y="1034542"/>
                  </a:lnTo>
                  <a:lnTo>
                    <a:pt x="520573" y="1040892"/>
                  </a:lnTo>
                  <a:cubicBezTo>
                    <a:pt x="233045" y="1041019"/>
                    <a:pt x="0" y="807974"/>
                    <a:pt x="0" y="520446"/>
                  </a:cubicBezTo>
                  <a:cubicBezTo>
                    <a:pt x="0" y="519176"/>
                    <a:pt x="381" y="518033"/>
                    <a:pt x="1016" y="517017"/>
                  </a:cubicBezTo>
                  <a:lnTo>
                    <a:pt x="6350" y="520446"/>
                  </a:lnTo>
                  <a:lnTo>
                    <a:pt x="0" y="520446"/>
                  </a:lnTo>
                  <a:moveTo>
                    <a:pt x="12700" y="520446"/>
                  </a:moveTo>
                  <a:cubicBezTo>
                    <a:pt x="12700" y="521716"/>
                    <a:pt x="12319" y="522859"/>
                    <a:pt x="11684" y="523875"/>
                  </a:cubicBezTo>
                  <a:lnTo>
                    <a:pt x="6350" y="520446"/>
                  </a:lnTo>
                  <a:lnTo>
                    <a:pt x="12700" y="520446"/>
                  </a:lnTo>
                  <a:cubicBezTo>
                    <a:pt x="12700" y="800989"/>
                    <a:pt x="240030" y="1028319"/>
                    <a:pt x="520446" y="1028319"/>
                  </a:cubicBezTo>
                  <a:cubicBezTo>
                    <a:pt x="800862" y="1028319"/>
                    <a:pt x="1028192" y="800989"/>
                    <a:pt x="1028192" y="520573"/>
                  </a:cubicBezTo>
                  <a:cubicBezTo>
                    <a:pt x="1028192" y="518160"/>
                    <a:pt x="1029589" y="516001"/>
                    <a:pt x="1031748" y="514858"/>
                  </a:cubicBezTo>
                  <a:lnTo>
                    <a:pt x="1034542" y="520573"/>
                  </a:lnTo>
                  <a:lnTo>
                    <a:pt x="1028192" y="520573"/>
                  </a:lnTo>
                  <a:cubicBezTo>
                    <a:pt x="1028319" y="240030"/>
                    <a:pt x="800989" y="12700"/>
                    <a:pt x="520446" y="12700"/>
                  </a:cubicBezTo>
                  <a:cubicBezTo>
                    <a:pt x="519176" y="12700"/>
                    <a:pt x="518033" y="12319"/>
                    <a:pt x="517017" y="11684"/>
                  </a:cubicBezTo>
                  <a:lnTo>
                    <a:pt x="520446" y="6350"/>
                  </a:lnTo>
                  <a:lnTo>
                    <a:pt x="520446" y="12700"/>
                  </a:lnTo>
                  <a:cubicBezTo>
                    <a:pt x="240030" y="12700"/>
                    <a:pt x="12700" y="240030"/>
                    <a:pt x="12700" y="520446"/>
                  </a:cubicBezTo>
                  <a:close/>
                </a:path>
              </a:pathLst>
            </a:custGeom>
            <a:solidFill>
              <a:srgbClr val="B5C1E2"/>
            </a:solidFill>
          </p:spPr>
        </p:sp>
      </p:grpSp>
      <p:sp>
        <p:nvSpPr>
          <p:cNvPr name="Freeform 30" id="30" descr="preencoded.png"/>
          <p:cNvSpPr/>
          <p:nvPr/>
        </p:nvSpPr>
        <p:spPr>
          <a:xfrm flipH="false" flipV="false" rot="0">
            <a:off x="10045456" y="4470502"/>
            <a:ext cx="385610" cy="385610"/>
          </a:xfrm>
          <a:custGeom>
            <a:avLst/>
            <a:gdLst/>
            <a:ahLst/>
            <a:cxnLst/>
            <a:rect r="r" b="b" t="t" l="l"/>
            <a:pathLst>
              <a:path h="385610" w="385610">
                <a:moveTo>
                  <a:pt x="0" y="0"/>
                </a:moveTo>
                <a:lnTo>
                  <a:pt x="385610" y="0"/>
                </a:lnTo>
                <a:lnTo>
                  <a:pt x="385610" y="385610"/>
                </a:lnTo>
                <a:lnTo>
                  <a:pt x="0" y="385610"/>
                </a:lnTo>
                <a:lnTo>
                  <a:pt x="0" y="0"/>
                </a:lnTo>
                <a:close/>
              </a:path>
            </a:pathLst>
          </a:custGeom>
          <a:blipFill>
            <a:blip r:embed="rId6">
              <a:extLst>
                <a:ext uri="{96DAC541-7B7A-43D3-8B79-37D633B846F1}">
                  <asvg:svgBlip xmlns:asvg="http://schemas.microsoft.com/office/drawing/2016/SVG/main" r:embed="rId7"/>
                </a:ext>
              </a:extLst>
            </a:blip>
            <a:stretch>
              <a:fillRect l="-12194" t="0" r="-12197" b="0"/>
            </a:stretch>
          </a:blipFill>
        </p:spPr>
      </p:sp>
      <p:sp>
        <p:nvSpPr>
          <p:cNvPr name="TextBox 31" id="31"/>
          <p:cNvSpPr txBox="true"/>
          <p:nvPr/>
        </p:nvSpPr>
        <p:spPr>
          <a:xfrm rot="0">
            <a:off x="10857014" y="4289222"/>
            <a:ext cx="3213792" cy="430111"/>
          </a:xfrm>
          <a:prstGeom prst="rect">
            <a:avLst/>
          </a:prstGeom>
        </p:spPr>
        <p:txBody>
          <a:bodyPr anchor="t" rtlCol="false" tIns="0" lIns="0" bIns="0" rIns="0">
            <a:spAutoFit/>
          </a:bodyPr>
          <a:lstStyle/>
          <a:p>
            <a:pPr algn="l">
              <a:lnSpc>
                <a:spcPts val="3124"/>
              </a:lnSpc>
            </a:pPr>
            <a:r>
              <a:rPr lang="en-US" sz="2499">
                <a:solidFill>
                  <a:srgbClr val="666666"/>
                </a:solidFill>
                <a:latin typeface="Arimo"/>
                <a:ea typeface="Arimo"/>
                <a:cs typeface="Arimo"/>
                <a:sym typeface="Arimo"/>
              </a:rPr>
              <a:t>Sample Travel Times</a:t>
            </a:r>
          </a:p>
        </p:txBody>
      </p:sp>
      <p:sp>
        <p:nvSpPr>
          <p:cNvPr name="TextBox 32" id="32"/>
          <p:cNvSpPr txBox="true"/>
          <p:nvPr/>
        </p:nvSpPr>
        <p:spPr>
          <a:xfrm rot="0">
            <a:off x="10857014" y="4895259"/>
            <a:ext cx="6540703" cy="449313"/>
          </a:xfrm>
          <a:prstGeom prst="rect">
            <a:avLst/>
          </a:prstGeom>
        </p:spPr>
        <p:txBody>
          <a:bodyPr anchor="t" rtlCol="false" tIns="0" lIns="0" bIns="0" rIns="0">
            <a:spAutoFit/>
          </a:bodyPr>
          <a:lstStyle/>
          <a:p>
            <a:pPr algn="l">
              <a:lnSpc>
                <a:spcPts val="3062"/>
              </a:lnSpc>
            </a:pPr>
            <a:r>
              <a:rPr lang="en-US" sz="2000">
                <a:solidFill>
                  <a:srgbClr val="666666"/>
                </a:solidFill>
                <a:latin typeface="IBM Plex Sans"/>
                <a:ea typeface="IBM Plex Sans"/>
                <a:cs typeface="IBM Plex Sans"/>
                <a:sym typeface="IBM Plex Sans"/>
              </a:rPr>
              <a:t>Draw from segment distributions</a:t>
            </a:r>
          </a:p>
        </p:txBody>
      </p:sp>
      <p:grpSp>
        <p:nvGrpSpPr>
          <p:cNvPr name="Group 33" id="33"/>
          <p:cNvGrpSpPr/>
          <p:nvPr/>
        </p:nvGrpSpPr>
        <p:grpSpPr>
          <a:xfrm rot="0">
            <a:off x="10490597" y="6217291"/>
            <a:ext cx="266548" cy="1166365"/>
            <a:chOff x="0" y="0"/>
            <a:chExt cx="355397" cy="1555153"/>
          </a:xfrm>
        </p:grpSpPr>
        <p:sp>
          <p:nvSpPr>
            <p:cNvPr name="Freeform 34" id="34"/>
            <p:cNvSpPr/>
            <p:nvPr/>
          </p:nvSpPr>
          <p:spPr>
            <a:xfrm flipH="false" flipV="false" rot="0">
              <a:off x="6350" y="6350"/>
              <a:ext cx="342646" cy="1542542"/>
            </a:xfrm>
            <a:custGeom>
              <a:avLst/>
              <a:gdLst/>
              <a:ahLst/>
              <a:cxnLst/>
              <a:rect r="r" b="b" t="t" l="l"/>
              <a:pathLst>
                <a:path h="1542542" w="342646">
                  <a:moveTo>
                    <a:pt x="0" y="176276"/>
                  </a:moveTo>
                  <a:cubicBezTo>
                    <a:pt x="0" y="78867"/>
                    <a:pt x="76708" y="0"/>
                    <a:pt x="171323" y="0"/>
                  </a:cubicBezTo>
                  <a:cubicBezTo>
                    <a:pt x="265938" y="0"/>
                    <a:pt x="342646" y="78867"/>
                    <a:pt x="342646" y="176276"/>
                  </a:cubicBezTo>
                  <a:lnTo>
                    <a:pt x="342646" y="1366266"/>
                  </a:lnTo>
                  <a:cubicBezTo>
                    <a:pt x="342646" y="1463548"/>
                    <a:pt x="265938" y="1542542"/>
                    <a:pt x="171323" y="1542542"/>
                  </a:cubicBezTo>
                  <a:cubicBezTo>
                    <a:pt x="76708" y="1542542"/>
                    <a:pt x="0" y="1463548"/>
                    <a:pt x="0" y="1366266"/>
                  </a:cubicBezTo>
                  <a:close/>
                </a:path>
              </a:pathLst>
            </a:custGeom>
            <a:solidFill>
              <a:srgbClr val="CFDBFC"/>
            </a:solidFill>
          </p:spPr>
        </p:sp>
        <p:sp>
          <p:nvSpPr>
            <p:cNvPr name="Freeform 35" id="35"/>
            <p:cNvSpPr/>
            <p:nvPr/>
          </p:nvSpPr>
          <p:spPr>
            <a:xfrm flipH="false" flipV="false" rot="0">
              <a:off x="0" y="0"/>
              <a:ext cx="355346" cy="1555242"/>
            </a:xfrm>
            <a:custGeom>
              <a:avLst/>
              <a:gdLst/>
              <a:ahLst/>
              <a:cxnLst/>
              <a:rect r="r" b="b" t="t" l="l"/>
              <a:pathLst>
                <a:path h="1555242" w="355346">
                  <a:moveTo>
                    <a:pt x="0" y="182626"/>
                  </a:moveTo>
                  <a:cubicBezTo>
                    <a:pt x="0" y="81915"/>
                    <a:pt x="79375" y="0"/>
                    <a:pt x="177673" y="0"/>
                  </a:cubicBezTo>
                  <a:cubicBezTo>
                    <a:pt x="178943" y="0"/>
                    <a:pt x="180086" y="381"/>
                    <a:pt x="181102" y="1016"/>
                  </a:cubicBezTo>
                  <a:lnTo>
                    <a:pt x="177673" y="6350"/>
                  </a:lnTo>
                  <a:lnTo>
                    <a:pt x="177673" y="0"/>
                  </a:lnTo>
                  <a:lnTo>
                    <a:pt x="177673" y="6350"/>
                  </a:lnTo>
                  <a:lnTo>
                    <a:pt x="177673" y="0"/>
                  </a:lnTo>
                  <a:cubicBezTo>
                    <a:pt x="275971" y="0"/>
                    <a:pt x="355346" y="81915"/>
                    <a:pt x="355346" y="182626"/>
                  </a:cubicBezTo>
                  <a:lnTo>
                    <a:pt x="355346" y="1372616"/>
                  </a:lnTo>
                  <a:lnTo>
                    <a:pt x="348996" y="1372616"/>
                  </a:lnTo>
                  <a:lnTo>
                    <a:pt x="355346" y="1372616"/>
                  </a:lnTo>
                  <a:cubicBezTo>
                    <a:pt x="355346" y="1473327"/>
                    <a:pt x="275971" y="1555242"/>
                    <a:pt x="177673" y="1555242"/>
                  </a:cubicBezTo>
                  <a:lnTo>
                    <a:pt x="177673" y="1548892"/>
                  </a:lnTo>
                  <a:lnTo>
                    <a:pt x="177673" y="1555242"/>
                  </a:lnTo>
                  <a:cubicBezTo>
                    <a:pt x="79375" y="1555115"/>
                    <a:pt x="0" y="1473200"/>
                    <a:pt x="0" y="1372616"/>
                  </a:cubicBezTo>
                  <a:lnTo>
                    <a:pt x="0" y="182626"/>
                  </a:lnTo>
                  <a:lnTo>
                    <a:pt x="6350" y="182626"/>
                  </a:lnTo>
                  <a:lnTo>
                    <a:pt x="0" y="182626"/>
                  </a:lnTo>
                  <a:moveTo>
                    <a:pt x="12700" y="182626"/>
                  </a:moveTo>
                  <a:lnTo>
                    <a:pt x="12700" y="1372616"/>
                  </a:lnTo>
                  <a:lnTo>
                    <a:pt x="6350" y="1372616"/>
                  </a:lnTo>
                  <a:lnTo>
                    <a:pt x="12700" y="1372616"/>
                  </a:lnTo>
                  <a:cubicBezTo>
                    <a:pt x="12700" y="1466596"/>
                    <a:pt x="86741" y="1542542"/>
                    <a:pt x="177673" y="1542542"/>
                  </a:cubicBezTo>
                  <a:cubicBezTo>
                    <a:pt x="268605" y="1542542"/>
                    <a:pt x="342646" y="1466596"/>
                    <a:pt x="342646" y="1372616"/>
                  </a:cubicBezTo>
                  <a:lnTo>
                    <a:pt x="342646" y="182626"/>
                  </a:lnTo>
                  <a:lnTo>
                    <a:pt x="348996" y="182626"/>
                  </a:lnTo>
                  <a:lnTo>
                    <a:pt x="342646" y="182626"/>
                  </a:lnTo>
                  <a:cubicBezTo>
                    <a:pt x="342646" y="88646"/>
                    <a:pt x="268605" y="12700"/>
                    <a:pt x="177673" y="12700"/>
                  </a:cubicBezTo>
                  <a:cubicBezTo>
                    <a:pt x="176403" y="12700"/>
                    <a:pt x="175260" y="12319"/>
                    <a:pt x="174244" y="11684"/>
                  </a:cubicBezTo>
                  <a:lnTo>
                    <a:pt x="177673" y="6350"/>
                  </a:lnTo>
                  <a:lnTo>
                    <a:pt x="177673" y="12700"/>
                  </a:lnTo>
                  <a:cubicBezTo>
                    <a:pt x="86741" y="12700"/>
                    <a:pt x="12700" y="88646"/>
                    <a:pt x="12700" y="182626"/>
                  </a:cubicBezTo>
                  <a:close/>
                </a:path>
              </a:pathLst>
            </a:custGeom>
            <a:solidFill>
              <a:srgbClr val="B5C1E2"/>
            </a:solidFill>
          </p:spPr>
        </p:sp>
      </p:grpSp>
      <p:grpSp>
        <p:nvGrpSpPr>
          <p:cNvPr name="Group 36" id="36"/>
          <p:cNvGrpSpPr/>
          <p:nvPr/>
        </p:nvGrpSpPr>
        <p:grpSpPr>
          <a:xfrm rot="0">
            <a:off x="10233574" y="6048527"/>
            <a:ext cx="780755" cy="780755"/>
            <a:chOff x="0" y="0"/>
            <a:chExt cx="1041006" cy="1041006"/>
          </a:xfrm>
        </p:grpSpPr>
        <p:sp>
          <p:nvSpPr>
            <p:cNvPr name="Freeform 37" id="37"/>
            <p:cNvSpPr/>
            <p:nvPr/>
          </p:nvSpPr>
          <p:spPr>
            <a:xfrm flipH="false" flipV="false" rot="0">
              <a:off x="6350" y="6350"/>
              <a:ext cx="1028319" cy="1028319"/>
            </a:xfrm>
            <a:custGeom>
              <a:avLst/>
              <a:gdLst/>
              <a:ahLst/>
              <a:cxnLst/>
              <a:rect r="r" b="b" t="t" l="l"/>
              <a:pathLst>
                <a:path h="1028319" w="1028319">
                  <a:moveTo>
                    <a:pt x="0" y="514096"/>
                  </a:moveTo>
                  <a:cubicBezTo>
                    <a:pt x="0" y="230251"/>
                    <a:pt x="230251" y="0"/>
                    <a:pt x="514096" y="0"/>
                  </a:cubicBezTo>
                  <a:cubicBezTo>
                    <a:pt x="797941" y="0"/>
                    <a:pt x="1028319" y="230251"/>
                    <a:pt x="1028319" y="514096"/>
                  </a:cubicBezTo>
                  <a:cubicBezTo>
                    <a:pt x="1028319" y="797941"/>
                    <a:pt x="798068" y="1028319"/>
                    <a:pt x="514096" y="1028319"/>
                  </a:cubicBezTo>
                  <a:cubicBezTo>
                    <a:pt x="230124" y="1028319"/>
                    <a:pt x="0" y="798068"/>
                    <a:pt x="0" y="514096"/>
                  </a:cubicBezTo>
                  <a:close/>
                </a:path>
              </a:pathLst>
            </a:custGeom>
            <a:solidFill>
              <a:srgbClr val="CFDBFC"/>
            </a:solidFill>
          </p:spPr>
        </p:sp>
        <p:sp>
          <p:nvSpPr>
            <p:cNvPr name="Freeform 38" id="38"/>
            <p:cNvSpPr/>
            <p:nvPr/>
          </p:nvSpPr>
          <p:spPr>
            <a:xfrm flipH="false" flipV="false" rot="0">
              <a:off x="0" y="0"/>
              <a:ext cx="1041019" cy="1040892"/>
            </a:xfrm>
            <a:custGeom>
              <a:avLst/>
              <a:gdLst/>
              <a:ahLst/>
              <a:cxnLst/>
              <a:rect r="r" b="b" t="t" l="l"/>
              <a:pathLst>
                <a:path h="1040892" w="1041019">
                  <a:moveTo>
                    <a:pt x="0" y="520446"/>
                  </a:moveTo>
                  <a:cubicBezTo>
                    <a:pt x="0" y="233045"/>
                    <a:pt x="233045" y="0"/>
                    <a:pt x="520446" y="0"/>
                  </a:cubicBezTo>
                  <a:cubicBezTo>
                    <a:pt x="521716" y="0"/>
                    <a:pt x="522859" y="381"/>
                    <a:pt x="523875" y="1016"/>
                  </a:cubicBezTo>
                  <a:lnTo>
                    <a:pt x="520446" y="6350"/>
                  </a:lnTo>
                  <a:lnTo>
                    <a:pt x="520446" y="0"/>
                  </a:lnTo>
                  <a:lnTo>
                    <a:pt x="520446" y="6350"/>
                  </a:lnTo>
                  <a:lnTo>
                    <a:pt x="520446" y="0"/>
                  </a:lnTo>
                  <a:cubicBezTo>
                    <a:pt x="807974" y="0"/>
                    <a:pt x="1041019" y="233045"/>
                    <a:pt x="1041019" y="520446"/>
                  </a:cubicBezTo>
                  <a:cubicBezTo>
                    <a:pt x="1041019" y="522859"/>
                    <a:pt x="1039622" y="525018"/>
                    <a:pt x="1037463" y="526161"/>
                  </a:cubicBezTo>
                  <a:lnTo>
                    <a:pt x="1034669" y="520446"/>
                  </a:lnTo>
                  <a:lnTo>
                    <a:pt x="1041019" y="520446"/>
                  </a:lnTo>
                  <a:cubicBezTo>
                    <a:pt x="1041019" y="807974"/>
                    <a:pt x="807974" y="1040892"/>
                    <a:pt x="520573" y="1040892"/>
                  </a:cubicBezTo>
                  <a:lnTo>
                    <a:pt x="520573" y="1034542"/>
                  </a:lnTo>
                  <a:lnTo>
                    <a:pt x="520573" y="1040892"/>
                  </a:lnTo>
                  <a:lnTo>
                    <a:pt x="520573" y="1034542"/>
                  </a:lnTo>
                  <a:lnTo>
                    <a:pt x="520573" y="1040892"/>
                  </a:lnTo>
                  <a:cubicBezTo>
                    <a:pt x="233045" y="1041019"/>
                    <a:pt x="0" y="807974"/>
                    <a:pt x="0" y="520446"/>
                  </a:cubicBezTo>
                  <a:cubicBezTo>
                    <a:pt x="0" y="519176"/>
                    <a:pt x="381" y="518033"/>
                    <a:pt x="1016" y="517017"/>
                  </a:cubicBezTo>
                  <a:lnTo>
                    <a:pt x="6350" y="520446"/>
                  </a:lnTo>
                  <a:lnTo>
                    <a:pt x="0" y="520446"/>
                  </a:lnTo>
                  <a:moveTo>
                    <a:pt x="12700" y="520446"/>
                  </a:moveTo>
                  <a:cubicBezTo>
                    <a:pt x="12700" y="521716"/>
                    <a:pt x="12319" y="522859"/>
                    <a:pt x="11684" y="523875"/>
                  </a:cubicBezTo>
                  <a:lnTo>
                    <a:pt x="6350" y="520446"/>
                  </a:lnTo>
                  <a:lnTo>
                    <a:pt x="12700" y="520446"/>
                  </a:lnTo>
                  <a:cubicBezTo>
                    <a:pt x="12700" y="800989"/>
                    <a:pt x="240030" y="1028319"/>
                    <a:pt x="520446" y="1028319"/>
                  </a:cubicBezTo>
                  <a:cubicBezTo>
                    <a:pt x="800862" y="1028319"/>
                    <a:pt x="1028192" y="800989"/>
                    <a:pt x="1028192" y="520573"/>
                  </a:cubicBezTo>
                  <a:cubicBezTo>
                    <a:pt x="1028192" y="518160"/>
                    <a:pt x="1029589" y="516001"/>
                    <a:pt x="1031748" y="514858"/>
                  </a:cubicBezTo>
                  <a:lnTo>
                    <a:pt x="1034542" y="520573"/>
                  </a:lnTo>
                  <a:lnTo>
                    <a:pt x="1028192" y="520573"/>
                  </a:lnTo>
                  <a:cubicBezTo>
                    <a:pt x="1028319" y="240030"/>
                    <a:pt x="800989" y="12700"/>
                    <a:pt x="520446" y="12700"/>
                  </a:cubicBezTo>
                  <a:cubicBezTo>
                    <a:pt x="519176" y="12700"/>
                    <a:pt x="518033" y="12319"/>
                    <a:pt x="517017" y="11684"/>
                  </a:cubicBezTo>
                  <a:lnTo>
                    <a:pt x="520446" y="6350"/>
                  </a:lnTo>
                  <a:lnTo>
                    <a:pt x="520446" y="12700"/>
                  </a:lnTo>
                  <a:cubicBezTo>
                    <a:pt x="240030" y="12700"/>
                    <a:pt x="12700" y="240030"/>
                    <a:pt x="12700" y="520446"/>
                  </a:cubicBezTo>
                  <a:close/>
                </a:path>
              </a:pathLst>
            </a:custGeom>
            <a:solidFill>
              <a:srgbClr val="B5C1E2"/>
            </a:solidFill>
          </p:spPr>
        </p:sp>
      </p:grpSp>
      <p:sp>
        <p:nvSpPr>
          <p:cNvPr name="Freeform 39" id="39" descr="preencoded.png"/>
          <p:cNvSpPr/>
          <p:nvPr/>
        </p:nvSpPr>
        <p:spPr>
          <a:xfrm flipH="false" flipV="false" rot="0">
            <a:off x="10431066" y="6246171"/>
            <a:ext cx="385610" cy="385610"/>
          </a:xfrm>
          <a:custGeom>
            <a:avLst/>
            <a:gdLst/>
            <a:ahLst/>
            <a:cxnLst/>
            <a:rect r="r" b="b" t="t" l="l"/>
            <a:pathLst>
              <a:path h="385610" w="385610">
                <a:moveTo>
                  <a:pt x="0" y="0"/>
                </a:moveTo>
                <a:lnTo>
                  <a:pt x="385610" y="0"/>
                </a:lnTo>
                <a:lnTo>
                  <a:pt x="385610" y="385610"/>
                </a:lnTo>
                <a:lnTo>
                  <a:pt x="0" y="385610"/>
                </a:lnTo>
                <a:lnTo>
                  <a:pt x="0" y="0"/>
                </a:lnTo>
                <a:close/>
              </a:path>
            </a:pathLst>
          </a:custGeom>
          <a:blipFill>
            <a:blip r:embed="rId8">
              <a:extLst>
                <a:ext uri="{96DAC541-7B7A-43D3-8B79-37D633B846F1}">
                  <asvg:svgBlip xmlns:asvg="http://schemas.microsoft.com/office/drawing/2016/SVG/main" r:embed="rId9"/>
                </a:ext>
              </a:extLst>
            </a:blip>
            <a:stretch>
              <a:fillRect l="0" t="-8536" r="0" b="-8536"/>
            </a:stretch>
          </a:blipFill>
        </p:spPr>
      </p:sp>
      <p:sp>
        <p:nvSpPr>
          <p:cNvPr name="TextBox 40" id="40"/>
          <p:cNvSpPr txBox="true"/>
          <p:nvPr/>
        </p:nvSpPr>
        <p:spPr>
          <a:xfrm rot="0">
            <a:off x="11242624" y="6064891"/>
            <a:ext cx="3213792" cy="430111"/>
          </a:xfrm>
          <a:prstGeom prst="rect">
            <a:avLst/>
          </a:prstGeom>
        </p:spPr>
        <p:txBody>
          <a:bodyPr anchor="t" rtlCol="false" tIns="0" lIns="0" bIns="0" rIns="0">
            <a:spAutoFit/>
          </a:bodyPr>
          <a:lstStyle/>
          <a:p>
            <a:pPr algn="l">
              <a:lnSpc>
                <a:spcPts val="3124"/>
              </a:lnSpc>
            </a:pPr>
            <a:r>
              <a:rPr lang="en-US" sz="2499">
                <a:solidFill>
                  <a:srgbClr val="666666"/>
                </a:solidFill>
                <a:latin typeface="Arimo"/>
                <a:ea typeface="Arimo"/>
                <a:cs typeface="Arimo"/>
                <a:sym typeface="Arimo"/>
              </a:rPr>
              <a:t>Compute Total Time</a:t>
            </a:r>
          </a:p>
        </p:txBody>
      </p:sp>
      <p:sp>
        <p:nvSpPr>
          <p:cNvPr name="TextBox 41" id="41"/>
          <p:cNvSpPr txBox="true"/>
          <p:nvPr/>
        </p:nvSpPr>
        <p:spPr>
          <a:xfrm rot="0">
            <a:off x="11242624" y="6670919"/>
            <a:ext cx="6155084" cy="449313"/>
          </a:xfrm>
          <a:prstGeom prst="rect">
            <a:avLst/>
          </a:prstGeom>
        </p:spPr>
        <p:txBody>
          <a:bodyPr anchor="t" rtlCol="false" tIns="0" lIns="0" bIns="0" rIns="0">
            <a:spAutoFit/>
          </a:bodyPr>
          <a:lstStyle/>
          <a:p>
            <a:pPr algn="l">
              <a:lnSpc>
                <a:spcPts val="3062"/>
              </a:lnSpc>
            </a:pPr>
            <a:r>
              <a:rPr lang="en-US" sz="2000">
                <a:solidFill>
                  <a:srgbClr val="666666"/>
                </a:solidFill>
                <a:latin typeface="IBM Plex Sans"/>
                <a:ea typeface="IBM Plex Sans"/>
                <a:cs typeface="IBM Plex Sans"/>
                <a:sym typeface="IBM Plex Sans"/>
              </a:rPr>
              <a:t>Sum segment times for route</a:t>
            </a:r>
          </a:p>
        </p:txBody>
      </p:sp>
      <p:grpSp>
        <p:nvGrpSpPr>
          <p:cNvPr name="Group 42" id="42"/>
          <p:cNvGrpSpPr/>
          <p:nvPr/>
        </p:nvGrpSpPr>
        <p:grpSpPr>
          <a:xfrm rot="0">
            <a:off x="10876359" y="7992961"/>
            <a:ext cx="266548" cy="1166365"/>
            <a:chOff x="0" y="0"/>
            <a:chExt cx="355397" cy="1555153"/>
          </a:xfrm>
        </p:grpSpPr>
        <p:sp>
          <p:nvSpPr>
            <p:cNvPr name="Freeform 43" id="43"/>
            <p:cNvSpPr/>
            <p:nvPr/>
          </p:nvSpPr>
          <p:spPr>
            <a:xfrm flipH="false" flipV="false" rot="0">
              <a:off x="6350" y="6350"/>
              <a:ext cx="342646" cy="1542542"/>
            </a:xfrm>
            <a:custGeom>
              <a:avLst/>
              <a:gdLst/>
              <a:ahLst/>
              <a:cxnLst/>
              <a:rect r="r" b="b" t="t" l="l"/>
              <a:pathLst>
                <a:path h="1542542" w="342646">
                  <a:moveTo>
                    <a:pt x="0" y="176276"/>
                  </a:moveTo>
                  <a:cubicBezTo>
                    <a:pt x="0" y="78867"/>
                    <a:pt x="76708" y="0"/>
                    <a:pt x="171323" y="0"/>
                  </a:cubicBezTo>
                  <a:cubicBezTo>
                    <a:pt x="265938" y="0"/>
                    <a:pt x="342646" y="78867"/>
                    <a:pt x="342646" y="176276"/>
                  </a:cubicBezTo>
                  <a:lnTo>
                    <a:pt x="342646" y="1366266"/>
                  </a:lnTo>
                  <a:cubicBezTo>
                    <a:pt x="342646" y="1463548"/>
                    <a:pt x="265938" y="1542542"/>
                    <a:pt x="171323" y="1542542"/>
                  </a:cubicBezTo>
                  <a:cubicBezTo>
                    <a:pt x="76708" y="1542542"/>
                    <a:pt x="0" y="1463548"/>
                    <a:pt x="0" y="1366266"/>
                  </a:cubicBezTo>
                  <a:close/>
                </a:path>
              </a:pathLst>
            </a:custGeom>
            <a:solidFill>
              <a:srgbClr val="CFDBFC"/>
            </a:solidFill>
          </p:spPr>
        </p:sp>
        <p:sp>
          <p:nvSpPr>
            <p:cNvPr name="Freeform 44" id="44"/>
            <p:cNvSpPr/>
            <p:nvPr/>
          </p:nvSpPr>
          <p:spPr>
            <a:xfrm flipH="false" flipV="false" rot="0">
              <a:off x="0" y="0"/>
              <a:ext cx="355346" cy="1555242"/>
            </a:xfrm>
            <a:custGeom>
              <a:avLst/>
              <a:gdLst/>
              <a:ahLst/>
              <a:cxnLst/>
              <a:rect r="r" b="b" t="t" l="l"/>
              <a:pathLst>
                <a:path h="1555242" w="355346">
                  <a:moveTo>
                    <a:pt x="0" y="182626"/>
                  </a:moveTo>
                  <a:cubicBezTo>
                    <a:pt x="0" y="81915"/>
                    <a:pt x="79375" y="0"/>
                    <a:pt x="177673" y="0"/>
                  </a:cubicBezTo>
                  <a:cubicBezTo>
                    <a:pt x="178943" y="0"/>
                    <a:pt x="180086" y="381"/>
                    <a:pt x="181102" y="1016"/>
                  </a:cubicBezTo>
                  <a:lnTo>
                    <a:pt x="177673" y="6350"/>
                  </a:lnTo>
                  <a:lnTo>
                    <a:pt x="177673" y="0"/>
                  </a:lnTo>
                  <a:lnTo>
                    <a:pt x="177673" y="6350"/>
                  </a:lnTo>
                  <a:lnTo>
                    <a:pt x="177673" y="0"/>
                  </a:lnTo>
                  <a:cubicBezTo>
                    <a:pt x="275971" y="0"/>
                    <a:pt x="355346" y="81915"/>
                    <a:pt x="355346" y="182626"/>
                  </a:cubicBezTo>
                  <a:lnTo>
                    <a:pt x="355346" y="1372616"/>
                  </a:lnTo>
                  <a:lnTo>
                    <a:pt x="348996" y="1372616"/>
                  </a:lnTo>
                  <a:lnTo>
                    <a:pt x="355346" y="1372616"/>
                  </a:lnTo>
                  <a:cubicBezTo>
                    <a:pt x="355346" y="1473327"/>
                    <a:pt x="275971" y="1555242"/>
                    <a:pt x="177673" y="1555242"/>
                  </a:cubicBezTo>
                  <a:lnTo>
                    <a:pt x="177673" y="1548892"/>
                  </a:lnTo>
                  <a:lnTo>
                    <a:pt x="177673" y="1555242"/>
                  </a:lnTo>
                  <a:cubicBezTo>
                    <a:pt x="79375" y="1555115"/>
                    <a:pt x="0" y="1473200"/>
                    <a:pt x="0" y="1372616"/>
                  </a:cubicBezTo>
                  <a:lnTo>
                    <a:pt x="0" y="182626"/>
                  </a:lnTo>
                  <a:lnTo>
                    <a:pt x="6350" y="182626"/>
                  </a:lnTo>
                  <a:lnTo>
                    <a:pt x="0" y="182626"/>
                  </a:lnTo>
                  <a:moveTo>
                    <a:pt x="12700" y="182626"/>
                  </a:moveTo>
                  <a:lnTo>
                    <a:pt x="12700" y="1372616"/>
                  </a:lnTo>
                  <a:lnTo>
                    <a:pt x="6350" y="1372616"/>
                  </a:lnTo>
                  <a:lnTo>
                    <a:pt x="12700" y="1372616"/>
                  </a:lnTo>
                  <a:cubicBezTo>
                    <a:pt x="12700" y="1466596"/>
                    <a:pt x="86741" y="1542542"/>
                    <a:pt x="177673" y="1542542"/>
                  </a:cubicBezTo>
                  <a:cubicBezTo>
                    <a:pt x="268605" y="1542542"/>
                    <a:pt x="342646" y="1466596"/>
                    <a:pt x="342646" y="1372616"/>
                  </a:cubicBezTo>
                  <a:lnTo>
                    <a:pt x="342646" y="182626"/>
                  </a:lnTo>
                  <a:lnTo>
                    <a:pt x="348996" y="182626"/>
                  </a:lnTo>
                  <a:lnTo>
                    <a:pt x="342646" y="182626"/>
                  </a:lnTo>
                  <a:cubicBezTo>
                    <a:pt x="342646" y="88646"/>
                    <a:pt x="268605" y="12700"/>
                    <a:pt x="177673" y="12700"/>
                  </a:cubicBezTo>
                  <a:cubicBezTo>
                    <a:pt x="176403" y="12700"/>
                    <a:pt x="175260" y="12319"/>
                    <a:pt x="174244" y="11684"/>
                  </a:cubicBezTo>
                  <a:lnTo>
                    <a:pt x="177673" y="6350"/>
                  </a:lnTo>
                  <a:lnTo>
                    <a:pt x="177673" y="12700"/>
                  </a:lnTo>
                  <a:cubicBezTo>
                    <a:pt x="86741" y="12700"/>
                    <a:pt x="12700" y="88646"/>
                    <a:pt x="12700" y="182626"/>
                  </a:cubicBezTo>
                  <a:close/>
                </a:path>
              </a:pathLst>
            </a:custGeom>
            <a:solidFill>
              <a:srgbClr val="B5C1E2"/>
            </a:solidFill>
          </p:spPr>
        </p:sp>
      </p:grpSp>
      <p:grpSp>
        <p:nvGrpSpPr>
          <p:cNvPr name="Group 45" id="45"/>
          <p:cNvGrpSpPr/>
          <p:nvPr/>
        </p:nvGrpSpPr>
        <p:grpSpPr>
          <a:xfrm rot="0">
            <a:off x="10619337" y="7824197"/>
            <a:ext cx="780755" cy="780755"/>
            <a:chOff x="0" y="0"/>
            <a:chExt cx="1041006" cy="1041006"/>
          </a:xfrm>
        </p:grpSpPr>
        <p:sp>
          <p:nvSpPr>
            <p:cNvPr name="Freeform 46" id="46"/>
            <p:cNvSpPr/>
            <p:nvPr/>
          </p:nvSpPr>
          <p:spPr>
            <a:xfrm flipH="false" flipV="false" rot="0">
              <a:off x="6350" y="6350"/>
              <a:ext cx="1028319" cy="1028319"/>
            </a:xfrm>
            <a:custGeom>
              <a:avLst/>
              <a:gdLst/>
              <a:ahLst/>
              <a:cxnLst/>
              <a:rect r="r" b="b" t="t" l="l"/>
              <a:pathLst>
                <a:path h="1028319" w="1028319">
                  <a:moveTo>
                    <a:pt x="0" y="514096"/>
                  </a:moveTo>
                  <a:cubicBezTo>
                    <a:pt x="0" y="230251"/>
                    <a:pt x="230251" y="0"/>
                    <a:pt x="514096" y="0"/>
                  </a:cubicBezTo>
                  <a:cubicBezTo>
                    <a:pt x="797941" y="0"/>
                    <a:pt x="1028319" y="230251"/>
                    <a:pt x="1028319" y="514096"/>
                  </a:cubicBezTo>
                  <a:cubicBezTo>
                    <a:pt x="1028319" y="797941"/>
                    <a:pt x="798068" y="1028319"/>
                    <a:pt x="514096" y="1028319"/>
                  </a:cubicBezTo>
                  <a:cubicBezTo>
                    <a:pt x="230124" y="1028319"/>
                    <a:pt x="0" y="798068"/>
                    <a:pt x="0" y="514096"/>
                  </a:cubicBezTo>
                  <a:close/>
                </a:path>
              </a:pathLst>
            </a:custGeom>
            <a:solidFill>
              <a:srgbClr val="CFDBFC"/>
            </a:solidFill>
          </p:spPr>
        </p:sp>
        <p:sp>
          <p:nvSpPr>
            <p:cNvPr name="Freeform 47" id="47"/>
            <p:cNvSpPr/>
            <p:nvPr/>
          </p:nvSpPr>
          <p:spPr>
            <a:xfrm flipH="false" flipV="false" rot="0">
              <a:off x="0" y="0"/>
              <a:ext cx="1041019" cy="1040892"/>
            </a:xfrm>
            <a:custGeom>
              <a:avLst/>
              <a:gdLst/>
              <a:ahLst/>
              <a:cxnLst/>
              <a:rect r="r" b="b" t="t" l="l"/>
              <a:pathLst>
                <a:path h="1040892" w="1041019">
                  <a:moveTo>
                    <a:pt x="0" y="520446"/>
                  </a:moveTo>
                  <a:cubicBezTo>
                    <a:pt x="0" y="233045"/>
                    <a:pt x="233045" y="0"/>
                    <a:pt x="520446" y="0"/>
                  </a:cubicBezTo>
                  <a:cubicBezTo>
                    <a:pt x="521716" y="0"/>
                    <a:pt x="522859" y="381"/>
                    <a:pt x="523875" y="1016"/>
                  </a:cubicBezTo>
                  <a:lnTo>
                    <a:pt x="520446" y="6350"/>
                  </a:lnTo>
                  <a:lnTo>
                    <a:pt x="520446" y="0"/>
                  </a:lnTo>
                  <a:lnTo>
                    <a:pt x="520446" y="6350"/>
                  </a:lnTo>
                  <a:lnTo>
                    <a:pt x="520446" y="0"/>
                  </a:lnTo>
                  <a:cubicBezTo>
                    <a:pt x="807974" y="0"/>
                    <a:pt x="1041019" y="233045"/>
                    <a:pt x="1041019" y="520446"/>
                  </a:cubicBezTo>
                  <a:cubicBezTo>
                    <a:pt x="1041019" y="522859"/>
                    <a:pt x="1039622" y="525018"/>
                    <a:pt x="1037463" y="526161"/>
                  </a:cubicBezTo>
                  <a:lnTo>
                    <a:pt x="1034669" y="520446"/>
                  </a:lnTo>
                  <a:lnTo>
                    <a:pt x="1041019" y="520446"/>
                  </a:lnTo>
                  <a:cubicBezTo>
                    <a:pt x="1041019" y="807974"/>
                    <a:pt x="807974" y="1040892"/>
                    <a:pt x="520573" y="1040892"/>
                  </a:cubicBezTo>
                  <a:lnTo>
                    <a:pt x="520573" y="1034542"/>
                  </a:lnTo>
                  <a:lnTo>
                    <a:pt x="520573" y="1040892"/>
                  </a:lnTo>
                  <a:lnTo>
                    <a:pt x="520573" y="1034542"/>
                  </a:lnTo>
                  <a:lnTo>
                    <a:pt x="520573" y="1040892"/>
                  </a:lnTo>
                  <a:cubicBezTo>
                    <a:pt x="233045" y="1041019"/>
                    <a:pt x="0" y="807974"/>
                    <a:pt x="0" y="520446"/>
                  </a:cubicBezTo>
                  <a:cubicBezTo>
                    <a:pt x="0" y="519176"/>
                    <a:pt x="381" y="518033"/>
                    <a:pt x="1016" y="517017"/>
                  </a:cubicBezTo>
                  <a:lnTo>
                    <a:pt x="6350" y="520446"/>
                  </a:lnTo>
                  <a:lnTo>
                    <a:pt x="0" y="520446"/>
                  </a:lnTo>
                  <a:moveTo>
                    <a:pt x="12700" y="520446"/>
                  </a:moveTo>
                  <a:cubicBezTo>
                    <a:pt x="12700" y="521716"/>
                    <a:pt x="12319" y="522859"/>
                    <a:pt x="11684" y="523875"/>
                  </a:cubicBezTo>
                  <a:lnTo>
                    <a:pt x="6350" y="520446"/>
                  </a:lnTo>
                  <a:lnTo>
                    <a:pt x="12700" y="520446"/>
                  </a:lnTo>
                  <a:cubicBezTo>
                    <a:pt x="12700" y="800989"/>
                    <a:pt x="240030" y="1028319"/>
                    <a:pt x="520446" y="1028319"/>
                  </a:cubicBezTo>
                  <a:cubicBezTo>
                    <a:pt x="800862" y="1028319"/>
                    <a:pt x="1028192" y="800989"/>
                    <a:pt x="1028192" y="520573"/>
                  </a:cubicBezTo>
                  <a:cubicBezTo>
                    <a:pt x="1028192" y="518160"/>
                    <a:pt x="1029589" y="516001"/>
                    <a:pt x="1031748" y="514858"/>
                  </a:cubicBezTo>
                  <a:lnTo>
                    <a:pt x="1034542" y="520573"/>
                  </a:lnTo>
                  <a:lnTo>
                    <a:pt x="1028192" y="520573"/>
                  </a:lnTo>
                  <a:cubicBezTo>
                    <a:pt x="1028319" y="240030"/>
                    <a:pt x="800989" y="12700"/>
                    <a:pt x="520446" y="12700"/>
                  </a:cubicBezTo>
                  <a:cubicBezTo>
                    <a:pt x="519176" y="12700"/>
                    <a:pt x="518033" y="12319"/>
                    <a:pt x="517017" y="11684"/>
                  </a:cubicBezTo>
                  <a:lnTo>
                    <a:pt x="520446" y="6350"/>
                  </a:lnTo>
                  <a:lnTo>
                    <a:pt x="520446" y="12700"/>
                  </a:lnTo>
                  <a:cubicBezTo>
                    <a:pt x="240030" y="12700"/>
                    <a:pt x="12700" y="240030"/>
                    <a:pt x="12700" y="520446"/>
                  </a:cubicBezTo>
                  <a:close/>
                </a:path>
              </a:pathLst>
            </a:custGeom>
            <a:solidFill>
              <a:srgbClr val="B5C1E2"/>
            </a:solidFill>
          </p:spPr>
        </p:sp>
      </p:grpSp>
      <p:sp>
        <p:nvSpPr>
          <p:cNvPr name="Freeform 48" id="48" descr="preencoded.png"/>
          <p:cNvSpPr/>
          <p:nvPr/>
        </p:nvSpPr>
        <p:spPr>
          <a:xfrm flipH="false" flipV="false" rot="0">
            <a:off x="10816828" y="8021841"/>
            <a:ext cx="385610" cy="385610"/>
          </a:xfrm>
          <a:custGeom>
            <a:avLst/>
            <a:gdLst/>
            <a:ahLst/>
            <a:cxnLst/>
            <a:rect r="r" b="b" t="t" l="l"/>
            <a:pathLst>
              <a:path h="385610" w="385610">
                <a:moveTo>
                  <a:pt x="0" y="0"/>
                </a:moveTo>
                <a:lnTo>
                  <a:pt x="385610" y="0"/>
                </a:lnTo>
                <a:lnTo>
                  <a:pt x="385610" y="385610"/>
                </a:lnTo>
                <a:lnTo>
                  <a:pt x="0" y="385610"/>
                </a:lnTo>
                <a:lnTo>
                  <a:pt x="0" y="0"/>
                </a:lnTo>
                <a:close/>
              </a:path>
            </a:pathLst>
          </a:custGeom>
          <a:blipFill>
            <a:blip r:embed="rId10">
              <a:extLst>
                <a:ext uri="{96DAC541-7B7A-43D3-8B79-37D633B846F1}">
                  <asvg:svgBlip xmlns:asvg="http://schemas.microsoft.com/office/drawing/2016/SVG/main" r:embed="rId11"/>
                </a:ext>
              </a:extLst>
            </a:blip>
            <a:stretch>
              <a:fillRect l="0" t="-9756" r="0" b="-9756"/>
            </a:stretch>
          </a:blipFill>
        </p:spPr>
      </p:sp>
      <p:sp>
        <p:nvSpPr>
          <p:cNvPr name="TextBox 49" id="49"/>
          <p:cNvSpPr txBox="true"/>
          <p:nvPr/>
        </p:nvSpPr>
        <p:spPr>
          <a:xfrm rot="0">
            <a:off x="11628387" y="7840561"/>
            <a:ext cx="3213792" cy="430111"/>
          </a:xfrm>
          <a:prstGeom prst="rect">
            <a:avLst/>
          </a:prstGeom>
        </p:spPr>
        <p:txBody>
          <a:bodyPr anchor="t" rtlCol="false" tIns="0" lIns="0" bIns="0" rIns="0">
            <a:spAutoFit/>
          </a:bodyPr>
          <a:lstStyle/>
          <a:p>
            <a:pPr algn="l">
              <a:lnSpc>
                <a:spcPts val="3124"/>
              </a:lnSpc>
            </a:pPr>
            <a:r>
              <a:rPr lang="en-US" sz="2499">
                <a:solidFill>
                  <a:srgbClr val="666666"/>
                </a:solidFill>
                <a:latin typeface="Arimo"/>
                <a:ea typeface="Arimo"/>
                <a:cs typeface="Arimo"/>
                <a:sym typeface="Arimo"/>
              </a:rPr>
              <a:t>Repeat Simulation</a:t>
            </a:r>
          </a:p>
        </p:txBody>
      </p:sp>
      <p:sp>
        <p:nvSpPr>
          <p:cNvPr name="TextBox 50" id="50"/>
          <p:cNvSpPr txBox="true"/>
          <p:nvPr/>
        </p:nvSpPr>
        <p:spPr>
          <a:xfrm rot="0">
            <a:off x="11628387" y="8446589"/>
            <a:ext cx="5769321" cy="449313"/>
          </a:xfrm>
          <a:prstGeom prst="rect">
            <a:avLst/>
          </a:prstGeom>
        </p:spPr>
        <p:txBody>
          <a:bodyPr anchor="t" rtlCol="false" tIns="0" lIns="0" bIns="0" rIns="0">
            <a:spAutoFit/>
          </a:bodyPr>
          <a:lstStyle/>
          <a:p>
            <a:pPr algn="l">
              <a:lnSpc>
                <a:spcPts val="3062"/>
              </a:lnSpc>
            </a:pPr>
            <a:r>
              <a:rPr lang="en-US" sz="2000">
                <a:solidFill>
                  <a:srgbClr val="666666"/>
                </a:solidFill>
                <a:latin typeface="IBM Plex Sans"/>
                <a:ea typeface="IBM Plex Sans"/>
                <a:cs typeface="IBM Plex Sans"/>
                <a:sym typeface="IBM Plex Sans"/>
              </a:rPr>
              <a:t>~1000 runs per route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992238" y="1573416"/>
            <a:ext cx="11125495" cy="943127"/>
          </a:xfrm>
          <a:prstGeom prst="rect">
            <a:avLst/>
          </a:prstGeom>
        </p:spPr>
        <p:txBody>
          <a:bodyPr anchor="t" rtlCol="false" tIns="0" lIns="0" bIns="0" rIns="0">
            <a:spAutoFit/>
          </a:bodyPr>
          <a:lstStyle/>
          <a:p>
            <a:pPr algn="l">
              <a:lnSpc>
                <a:spcPts val="6937"/>
              </a:lnSpc>
            </a:pPr>
            <a:r>
              <a:rPr lang="en-US" sz="5562">
                <a:solidFill>
                  <a:srgbClr val="3F6FF3"/>
                </a:solidFill>
                <a:latin typeface="Arimo"/>
                <a:ea typeface="Arimo"/>
                <a:cs typeface="Arimo"/>
                <a:sym typeface="Arimo"/>
              </a:rPr>
              <a:t>Probabilistic Reasoning Framework</a:t>
            </a:r>
          </a:p>
        </p:txBody>
      </p:sp>
      <p:sp>
        <p:nvSpPr>
          <p:cNvPr name="TextBox 11" id="11"/>
          <p:cNvSpPr txBox="true"/>
          <p:nvPr/>
        </p:nvSpPr>
        <p:spPr>
          <a:xfrm rot="0">
            <a:off x="992238" y="2591838"/>
            <a:ext cx="4252912" cy="569709"/>
          </a:xfrm>
          <a:prstGeom prst="rect">
            <a:avLst/>
          </a:prstGeom>
        </p:spPr>
        <p:txBody>
          <a:bodyPr anchor="t" rtlCol="false" tIns="0" lIns="0" bIns="0" rIns="0">
            <a:spAutoFit/>
          </a:bodyPr>
          <a:lstStyle/>
          <a:p>
            <a:pPr algn="l">
              <a:lnSpc>
                <a:spcPts val="4125"/>
              </a:lnSpc>
            </a:pPr>
            <a:r>
              <a:rPr lang="en-US" sz="3312">
                <a:solidFill>
                  <a:srgbClr val="3F6FF3"/>
                </a:solidFill>
                <a:latin typeface="Arimo"/>
                <a:ea typeface="Arimo"/>
                <a:cs typeface="Arimo"/>
                <a:sym typeface="Arimo"/>
              </a:rPr>
              <a:t>Optimization Target</a:t>
            </a:r>
          </a:p>
        </p:txBody>
      </p:sp>
      <p:sp>
        <p:nvSpPr>
          <p:cNvPr name="TextBox 12" id="12"/>
          <p:cNvSpPr txBox="true"/>
          <p:nvPr/>
        </p:nvSpPr>
        <p:spPr>
          <a:xfrm rot="0">
            <a:off x="992238" y="3501028"/>
            <a:ext cx="16303523" cy="539353"/>
          </a:xfrm>
          <a:prstGeom prst="rect">
            <a:avLst/>
          </a:prstGeom>
        </p:spPr>
        <p:txBody>
          <a:bodyPr anchor="t" rtlCol="false" tIns="0" lIns="0" bIns="0" rIns="0">
            <a:spAutoFit/>
          </a:bodyPr>
          <a:lstStyle/>
          <a:p>
            <a:pPr algn="l">
              <a:lnSpc>
                <a:spcPts val="3562"/>
              </a:lnSpc>
            </a:pPr>
            <a:r>
              <a:rPr lang="en-US" sz="2187">
                <a:solidFill>
                  <a:srgbClr val="666666"/>
                </a:solidFill>
                <a:latin typeface="IBM Plex Sans"/>
                <a:ea typeface="IBM Plex Sans"/>
                <a:cs typeface="IBM Plex Sans"/>
                <a:sym typeface="IBM Plex Sans"/>
              </a:rPr>
              <a:t>Maximize </a:t>
            </a:r>
            <a:r>
              <a:rPr lang="en-US" sz="2187" i="true">
                <a:solidFill>
                  <a:srgbClr val="666666"/>
                </a:solidFill>
                <a:latin typeface="IBM Plex Sans Italics"/>
                <a:ea typeface="IBM Plex Sans Italics"/>
                <a:cs typeface="IBM Plex Sans Italics"/>
                <a:sym typeface="IBM Plex Sans Italics"/>
              </a:rPr>
              <a:t>P(T &lt;=Deadline)</a:t>
            </a:r>
            <a:r>
              <a:rPr lang="en-US" sz="2187">
                <a:solidFill>
                  <a:srgbClr val="666666"/>
                </a:solidFill>
                <a:latin typeface="IBM Plex Sans"/>
                <a:ea typeface="IBM Plex Sans"/>
                <a:cs typeface="IBM Plex Sans"/>
                <a:sym typeface="IBM Plex Sans"/>
              </a:rPr>
              <a:t> for total travel time </a:t>
            </a:r>
            <a:r>
              <a:rPr lang="en-US" sz="2187" i="true">
                <a:solidFill>
                  <a:srgbClr val="666666"/>
                </a:solidFill>
                <a:latin typeface="IBM Plex Sans Italics"/>
                <a:ea typeface="IBM Plex Sans Italics"/>
                <a:cs typeface="IBM Plex Sans Italics"/>
                <a:sym typeface="IBM Plex Sans Italics"/>
              </a:rPr>
              <a:t>T</a:t>
            </a:r>
          </a:p>
        </p:txBody>
      </p:sp>
      <p:grpSp>
        <p:nvGrpSpPr>
          <p:cNvPr name="Group 13" id="13"/>
          <p:cNvGrpSpPr/>
          <p:nvPr/>
        </p:nvGrpSpPr>
        <p:grpSpPr>
          <a:xfrm rot="0">
            <a:off x="973188" y="4340276"/>
            <a:ext cx="5283546" cy="3108874"/>
            <a:chOff x="0" y="0"/>
            <a:chExt cx="7044728" cy="4145166"/>
          </a:xfrm>
        </p:grpSpPr>
        <p:sp>
          <p:nvSpPr>
            <p:cNvPr name="Freeform 14" id="14"/>
            <p:cNvSpPr/>
            <p:nvPr/>
          </p:nvSpPr>
          <p:spPr>
            <a:xfrm flipH="false" flipV="false" rot="0">
              <a:off x="25400" y="25400"/>
              <a:ext cx="6994017" cy="4094353"/>
            </a:xfrm>
            <a:custGeom>
              <a:avLst/>
              <a:gdLst/>
              <a:ahLst/>
              <a:cxnLst/>
              <a:rect r="r" b="b" t="t" l="l"/>
              <a:pathLst>
                <a:path h="4094353" w="6994017">
                  <a:moveTo>
                    <a:pt x="0" y="340233"/>
                  </a:moveTo>
                  <a:cubicBezTo>
                    <a:pt x="0" y="152273"/>
                    <a:pt x="153162" y="0"/>
                    <a:pt x="342011" y="0"/>
                  </a:cubicBezTo>
                  <a:lnTo>
                    <a:pt x="6652006" y="0"/>
                  </a:lnTo>
                  <a:cubicBezTo>
                    <a:pt x="6840855" y="0"/>
                    <a:pt x="6994017" y="152273"/>
                    <a:pt x="6994017" y="340233"/>
                  </a:cubicBezTo>
                  <a:lnTo>
                    <a:pt x="6994017" y="3754120"/>
                  </a:lnTo>
                  <a:cubicBezTo>
                    <a:pt x="6994017" y="3942080"/>
                    <a:pt x="6840855" y="4094353"/>
                    <a:pt x="6652006" y="4094353"/>
                  </a:cubicBezTo>
                  <a:lnTo>
                    <a:pt x="342011" y="4094353"/>
                  </a:lnTo>
                  <a:cubicBezTo>
                    <a:pt x="153162" y="4094353"/>
                    <a:pt x="0" y="3942080"/>
                    <a:pt x="0" y="3754120"/>
                  </a:cubicBezTo>
                  <a:close/>
                </a:path>
              </a:pathLst>
            </a:custGeom>
            <a:solidFill>
              <a:srgbClr val="FFFFFF">
                <a:alpha val="90196"/>
              </a:srgbClr>
            </a:solidFill>
          </p:spPr>
        </p:sp>
        <p:sp>
          <p:nvSpPr>
            <p:cNvPr name="Freeform 15" id="15"/>
            <p:cNvSpPr/>
            <p:nvPr/>
          </p:nvSpPr>
          <p:spPr>
            <a:xfrm flipH="false" flipV="false" rot="0">
              <a:off x="0" y="0"/>
              <a:ext cx="7044817" cy="4145153"/>
            </a:xfrm>
            <a:custGeom>
              <a:avLst/>
              <a:gdLst/>
              <a:ahLst/>
              <a:cxnLst/>
              <a:rect r="r" b="b" t="t" l="l"/>
              <a:pathLst>
                <a:path h="4145153" w="7044817">
                  <a:moveTo>
                    <a:pt x="0" y="365633"/>
                  </a:moveTo>
                  <a:cubicBezTo>
                    <a:pt x="0" y="163576"/>
                    <a:pt x="164592" y="0"/>
                    <a:pt x="367411" y="0"/>
                  </a:cubicBezTo>
                  <a:lnTo>
                    <a:pt x="6677406" y="0"/>
                  </a:lnTo>
                  <a:lnTo>
                    <a:pt x="6677406" y="25400"/>
                  </a:lnTo>
                  <a:lnTo>
                    <a:pt x="6677406" y="0"/>
                  </a:lnTo>
                  <a:cubicBezTo>
                    <a:pt x="6880225" y="0"/>
                    <a:pt x="7044817" y="163576"/>
                    <a:pt x="7044817" y="365633"/>
                  </a:cubicBezTo>
                  <a:lnTo>
                    <a:pt x="7019417" y="365633"/>
                  </a:lnTo>
                  <a:lnTo>
                    <a:pt x="7044817" y="365633"/>
                  </a:lnTo>
                  <a:lnTo>
                    <a:pt x="7044817" y="3779520"/>
                  </a:lnTo>
                  <a:lnTo>
                    <a:pt x="7019417" y="3779520"/>
                  </a:lnTo>
                  <a:lnTo>
                    <a:pt x="7044817" y="3779520"/>
                  </a:lnTo>
                  <a:cubicBezTo>
                    <a:pt x="7044817" y="3981577"/>
                    <a:pt x="6880225" y="4145153"/>
                    <a:pt x="6677406" y="4145153"/>
                  </a:cubicBezTo>
                  <a:lnTo>
                    <a:pt x="6677406" y="4119753"/>
                  </a:lnTo>
                  <a:lnTo>
                    <a:pt x="6677406" y="4145153"/>
                  </a:lnTo>
                  <a:lnTo>
                    <a:pt x="367411" y="4145153"/>
                  </a:lnTo>
                  <a:lnTo>
                    <a:pt x="367411" y="4119753"/>
                  </a:lnTo>
                  <a:lnTo>
                    <a:pt x="367411" y="4145153"/>
                  </a:lnTo>
                  <a:cubicBezTo>
                    <a:pt x="164592" y="4145153"/>
                    <a:pt x="0" y="3981577"/>
                    <a:pt x="0" y="3779520"/>
                  </a:cubicBezTo>
                  <a:lnTo>
                    <a:pt x="0" y="365633"/>
                  </a:lnTo>
                  <a:lnTo>
                    <a:pt x="25400" y="365633"/>
                  </a:lnTo>
                  <a:lnTo>
                    <a:pt x="0" y="365633"/>
                  </a:lnTo>
                  <a:moveTo>
                    <a:pt x="50800" y="365633"/>
                  </a:moveTo>
                  <a:lnTo>
                    <a:pt x="50800" y="3779520"/>
                  </a:lnTo>
                  <a:lnTo>
                    <a:pt x="25400" y="3779520"/>
                  </a:lnTo>
                  <a:lnTo>
                    <a:pt x="50800" y="3779520"/>
                  </a:lnTo>
                  <a:cubicBezTo>
                    <a:pt x="50800" y="3953256"/>
                    <a:pt x="192405" y="4094353"/>
                    <a:pt x="367411" y="4094353"/>
                  </a:cubicBezTo>
                  <a:lnTo>
                    <a:pt x="6677406" y="4094353"/>
                  </a:lnTo>
                  <a:cubicBezTo>
                    <a:pt x="6852413" y="4094353"/>
                    <a:pt x="6994017" y="3953256"/>
                    <a:pt x="6994017" y="3779520"/>
                  </a:cubicBezTo>
                  <a:lnTo>
                    <a:pt x="6994017" y="365633"/>
                  </a:lnTo>
                  <a:cubicBezTo>
                    <a:pt x="6993890" y="191897"/>
                    <a:pt x="6852285" y="50800"/>
                    <a:pt x="6677406" y="50800"/>
                  </a:cubicBezTo>
                  <a:lnTo>
                    <a:pt x="367411" y="50800"/>
                  </a:lnTo>
                  <a:lnTo>
                    <a:pt x="367411" y="25400"/>
                  </a:lnTo>
                  <a:lnTo>
                    <a:pt x="367411" y="50800"/>
                  </a:lnTo>
                  <a:cubicBezTo>
                    <a:pt x="192405" y="50800"/>
                    <a:pt x="50800" y="191897"/>
                    <a:pt x="50800" y="365633"/>
                  </a:cubicBezTo>
                  <a:close/>
                </a:path>
              </a:pathLst>
            </a:custGeom>
            <a:solidFill>
              <a:srgbClr val="B5C1E2"/>
            </a:solidFill>
          </p:spPr>
        </p:sp>
      </p:grpSp>
      <p:sp>
        <p:nvSpPr>
          <p:cNvPr name="TextBox 16" id="16"/>
          <p:cNvSpPr txBox="true"/>
          <p:nvPr/>
        </p:nvSpPr>
        <p:spPr>
          <a:xfrm rot="0">
            <a:off x="1313859" y="4642847"/>
            <a:ext cx="4602213" cy="923925"/>
          </a:xfrm>
          <a:prstGeom prst="rect">
            <a:avLst/>
          </a:prstGeom>
        </p:spPr>
        <p:txBody>
          <a:bodyPr anchor="t" rtlCol="false" tIns="0" lIns="0" bIns="0" rIns="0">
            <a:spAutoFit/>
          </a:bodyPr>
          <a:lstStyle/>
          <a:p>
            <a:pPr algn="l">
              <a:lnSpc>
                <a:spcPts val="3437"/>
              </a:lnSpc>
            </a:pPr>
            <a:r>
              <a:rPr lang="en-US" sz="2750">
                <a:solidFill>
                  <a:srgbClr val="666666"/>
                </a:solidFill>
                <a:latin typeface="Arimo"/>
                <a:ea typeface="Arimo"/>
                <a:cs typeface="Arimo"/>
                <a:sym typeface="Arimo"/>
              </a:rPr>
              <a:t>Probability Density Function (PDF)</a:t>
            </a:r>
          </a:p>
        </p:txBody>
      </p:sp>
      <p:sp>
        <p:nvSpPr>
          <p:cNvPr name="TextBox 17" id="17"/>
          <p:cNvSpPr txBox="true"/>
          <p:nvPr/>
        </p:nvSpPr>
        <p:spPr>
          <a:xfrm rot="0">
            <a:off x="1313859" y="5651154"/>
            <a:ext cx="4602213" cy="1446609"/>
          </a:xfrm>
          <a:prstGeom prst="rect">
            <a:avLst/>
          </a:prstGeom>
        </p:spPr>
        <p:txBody>
          <a:bodyPr anchor="t" rtlCol="false" tIns="0" lIns="0" bIns="0" rIns="0">
            <a:spAutoFit/>
          </a:bodyPr>
          <a:lstStyle/>
          <a:p>
            <a:pPr algn="l">
              <a:lnSpc>
                <a:spcPts val="3562"/>
              </a:lnSpc>
            </a:pPr>
            <a:r>
              <a:rPr lang="en-US" sz="2187">
                <a:solidFill>
                  <a:srgbClr val="666666"/>
                </a:solidFill>
                <a:latin typeface="IBM Plex Sans"/>
                <a:ea typeface="IBM Plex Sans"/>
                <a:cs typeface="IBM Plex Sans"/>
                <a:sym typeface="IBM Plex Sans"/>
              </a:rPr>
              <a:t>Characterizes likelihood of specific travel times, showing concentration of probability mass</a:t>
            </a:r>
          </a:p>
        </p:txBody>
      </p:sp>
      <p:grpSp>
        <p:nvGrpSpPr>
          <p:cNvPr name="Group 18" id="18"/>
          <p:cNvGrpSpPr/>
          <p:nvPr/>
        </p:nvGrpSpPr>
        <p:grpSpPr>
          <a:xfrm rot="0">
            <a:off x="6502156" y="4340276"/>
            <a:ext cx="5283546" cy="3108874"/>
            <a:chOff x="0" y="0"/>
            <a:chExt cx="7044728" cy="4145166"/>
          </a:xfrm>
        </p:grpSpPr>
        <p:sp>
          <p:nvSpPr>
            <p:cNvPr name="Freeform 19" id="19"/>
            <p:cNvSpPr/>
            <p:nvPr/>
          </p:nvSpPr>
          <p:spPr>
            <a:xfrm flipH="false" flipV="false" rot="0">
              <a:off x="25400" y="25400"/>
              <a:ext cx="6994017" cy="4094353"/>
            </a:xfrm>
            <a:custGeom>
              <a:avLst/>
              <a:gdLst/>
              <a:ahLst/>
              <a:cxnLst/>
              <a:rect r="r" b="b" t="t" l="l"/>
              <a:pathLst>
                <a:path h="4094353" w="6994017">
                  <a:moveTo>
                    <a:pt x="0" y="340233"/>
                  </a:moveTo>
                  <a:cubicBezTo>
                    <a:pt x="0" y="152273"/>
                    <a:pt x="153162" y="0"/>
                    <a:pt x="342011" y="0"/>
                  </a:cubicBezTo>
                  <a:lnTo>
                    <a:pt x="6652006" y="0"/>
                  </a:lnTo>
                  <a:cubicBezTo>
                    <a:pt x="6840855" y="0"/>
                    <a:pt x="6994017" y="152273"/>
                    <a:pt x="6994017" y="340233"/>
                  </a:cubicBezTo>
                  <a:lnTo>
                    <a:pt x="6994017" y="3754120"/>
                  </a:lnTo>
                  <a:cubicBezTo>
                    <a:pt x="6994017" y="3942080"/>
                    <a:pt x="6840855" y="4094353"/>
                    <a:pt x="6652006" y="4094353"/>
                  </a:cubicBezTo>
                  <a:lnTo>
                    <a:pt x="342011" y="4094353"/>
                  </a:lnTo>
                  <a:cubicBezTo>
                    <a:pt x="153162" y="4094353"/>
                    <a:pt x="0" y="3942080"/>
                    <a:pt x="0" y="3754120"/>
                  </a:cubicBezTo>
                  <a:close/>
                </a:path>
              </a:pathLst>
            </a:custGeom>
            <a:solidFill>
              <a:srgbClr val="FFFFFF">
                <a:alpha val="90196"/>
              </a:srgbClr>
            </a:solidFill>
          </p:spPr>
        </p:sp>
        <p:sp>
          <p:nvSpPr>
            <p:cNvPr name="Freeform 20" id="20"/>
            <p:cNvSpPr/>
            <p:nvPr/>
          </p:nvSpPr>
          <p:spPr>
            <a:xfrm flipH="false" flipV="false" rot="0">
              <a:off x="0" y="0"/>
              <a:ext cx="7044817" cy="4145153"/>
            </a:xfrm>
            <a:custGeom>
              <a:avLst/>
              <a:gdLst/>
              <a:ahLst/>
              <a:cxnLst/>
              <a:rect r="r" b="b" t="t" l="l"/>
              <a:pathLst>
                <a:path h="4145153" w="7044817">
                  <a:moveTo>
                    <a:pt x="0" y="365633"/>
                  </a:moveTo>
                  <a:cubicBezTo>
                    <a:pt x="0" y="163576"/>
                    <a:pt x="164592" y="0"/>
                    <a:pt x="367411" y="0"/>
                  </a:cubicBezTo>
                  <a:lnTo>
                    <a:pt x="6677406" y="0"/>
                  </a:lnTo>
                  <a:lnTo>
                    <a:pt x="6677406" y="25400"/>
                  </a:lnTo>
                  <a:lnTo>
                    <a:pt x="6677406" y="0"/>
                  </a:lnTo>
                  <a:cubicBezTo>
                    <a:pt x="6880225" y="0"/>
                    <a:pt x="7044817" y="163576"/>
                    <a:pt x="7044817" y="365633"/>
                  </a:cubicBezTo>
                  <a:lnTo>
                    <a:pt x="7019417" y="365633"/>
                  </a:lnTo>
                  <a:lnTo>
                    <a:pt x="7044817" y="365633"/>
                  </a:lnTo>
                  <a:lnTo>
                    <a:pt x="7044817" y="3779520"/>
                  </a:lnTo>
                  <a:lnTo>
                    <a:pt x="7019417" y="3779520"/>
                  </a:lnTo>
                  <a:lnTo>
                    <a:pt x="7044817" y="3779520"/>
                  </a:lnTo>
                  <a:cubicBezTo>
                    <a:pt x="7044817" y="3981577"/>
                    <a:pt x="6880225" y="4145153"/>
                    <a:pt x="6677406" y="4145153"/>
                  </a:cubicBezTo>
                  <a:lnTo>
                    <a:pt x="6677406" y="4119753"/>
                  </a:lnTo>
                  <a:lnTo>
                    <a:pt x="6677406" y="4145153"/>
                  </a:lnTo>
                  <a:lnTo>
                    <a:pt x="367411" y="4145153"/>
                  </a:lnTo>
                  <a:lnTo>
                    <a:pt x="367411" y="4119753"/>
                  </a:lnTo>
                  <a:lnTo>
                    <a:pt x="367411" y="4145153"/>
                  </a:lnTo>
                  <a:cubicBezTo>
                    <a:pt x="164592" y="4145153"/>
                    <a:pt x="0" y="3981577"/>
                    <a:pt x="0" y="3779520"/>
                  </a:cubicBezTo>
                  <a:lnTo>
                    <a:pt x="0" y="365633"/>
                  </a:lnTo>
                  <a:lnTo>
                    <a:pt x="25400" y="365633"/>
                  </a:lnTo>
                  <a:lnTo>
                    <a:pt x="0" y="365633"/>
                  </a:lnTo>
                  <a:moveTo>
                    <a:pt x="50800" y="365633"/>
                  </a:moveTo>
                  <a:lnTo>
                    <a:pt x="50800" y="3779520"/>
                  </a:lnTo>
                  <a:lnTo>
                    <a:pt x="25400" y="3779520"/>
                  </a:lnTo>
                  <a:lnTo>
                    <a:pt x="50800" y="3779520"/>
                  </a:lnTo>
                  <a:cubicBezTo>
                    <a:pt x="50800" y="3953256"/>
                    <a:pt x="192405" y="4094353"/>
                    <a:pt x="367411" y="4094353"/>
                  </a:cubicBezTo>
                  <a:lnTo>
                    <a:pt x="6677406" y="4094353"/>
                  </a:lnTo>
                  <a:cubicBezTo>
                    <a:pt x="6852413" y="4094353"/>
                    <a:pt x="6994017" y="3953256"/>
                    <a:pt x="6994017" y="3779520"/>
                  </a:cubicBezTo>
                  <a:lnTo>
                    <a:pt x="6994017" y="365633"/>
                  </a:lnTo>
                  <a:cubicBezTo>
                    <a:pt x="6993890" y="191897"/>
                    <a:pt x="6852285" y="50800"/>
                    <a:pt x="6677406" y="50800"/>
                  </a:cubicBezTo>
                  <a:lnTo>
                    <a:pt x="367411" y="50800"/>
                  </a:lnTo>
                  <a:lnTo>
                    <a:pt x="367411" y="25400"/>
                  </a:lnTo>
                  <a:lnTo>
                    <a:pt x="367411" y="50800"/>
                  </a:lnTo>
                  <a:cubicBezTo>
                    <a:pt x="192405" y="50800"/>
                    <a:pt x="50800" y="191897"/>
                    <a:pt x="50800" y="365633"/>
                  </a:cubicBezTo>
                  <a:close/>
                </a:path>
              </a:pathLst>
            </a:custGeom>
            <a:solidFill>
              <a:srgbClr val="B5C1E2"/>
            </a:solidFill>
          </p:spPr>
        </p:sp>
      </p:grpSp>
      <p:sp>
        <p:nvSpPr>
          <p:cNvPr name="TextBox 21" id="21"/>
          <p:cNvSpPr txBox="true"/>
          <p:nvPr/>
        </p:nvSpPr>
        <p:spPr>
          <a:xfrm rot="0">
            <a:off x="6842817" y="4642847"/>
            <a:ext cx="4602213" cy="923925"/>
          </a:xfrm>
          <a:prstGeom prst="rect">
            <a:avLst/>
          </a:prstGeom>
        </p:spPr>
        <p:txBody>
          <a:bodyPr anchor="t" rtlCol="false" tIns="0" lIns="0" bIns="0" rIns="0">
            <a:spAutoFit/>
          </a:bodyPr>
          <a:lstStyle/>
          <a:p>
            <a:pPr algn="l">
              <a:lnSpc>
                <a:spcPts val="3437"/>
              </a:lnSpc>
            </a:pPr>
            <a:r>
              <a:rPr lang="en-US" sz="2750">
                <a:solidFill>
                  <a:srgbClr val="666666"/>
                </a:solidFill>
                <a:latin typeface="Arimo"/>
                <a:ea typeface="Arimo"/>
                <a:cs typeface="Arimo"/>
                <a:sym typeface="Arimo"/>
              </a:rPr>
              <a:t>Cumulative Distribution Function (CDF)</a:t>
            </a:r>
          </a:p>
        </p:txBody>
      </p:sp>
      <p:sp>
        <p:nvSpPr>
          <p:cNvPr name="TextBox 22" id="22"/>
          <p:cNvSpPr txBox="true"/>
          <p:nvPr/>
        </p:nvSpPr>
        <p:spPr>
          <a:xfrm rot="0">
            <a:off x="6842817" y="5651154"/>
            <a:ext cx="4602213" cy="1446609"/>
          </a:xfrm>
          <a:prstGeom prst="rect">
            <a:avLst/>
          </a:prstGeom>
        </p:spPr>
        <p:txBody>
          <a:bodyPr anchor="t" rtlCol="false" tIns="0" lIns="0" bIns="0" rIns="0">
            <a:spAutoFit/>
          </a:bodyPr>
          <a:lstStyle/>
          <a:p>
            <a:pPr algn="l">
              <a:lnSpc>
                <a:spcPts val="3562"/>
              </a:lnSpc>
            </a:pPr>
            <a:r>
              <a:rPr lang="en-US" sz="2187">
                <a:solidFill>
                  <a:srgbClr val="666666"/>
                </a:solidFill>
                <a:latin typeface="IBM Plex Sans"/>
                <a:ea typeface="IBM Plex Sans"/>
                <a:cs typeface="IBM Plex Sans"/>
                <a:sym typeface="IBM Plex Sans"/>
              </a:rPr>
              <a:t>Gives on-time arrival probability directly—primary metric for route comparison and selection</a:t>
            </a:r>
          </a:p>
        </p:txBody>
      </p:sp>
      <p:grpSp>
        <p:nvGrpSpPr>
          <p:cNvPr name="Group 23" id="23"/>
          <p:cNvGrpSpPr/>
          <p:nvPr/>
        </p:nvGrpSpPr>
        <p:grpSpPr>
          <a:xfrm rot="0">
            <a:off x="12031113" y="4340276"/>
            <a:ext cx="5283546" cy="3108874"/>
            <a:chOff x="0" y="0"/>
            <a:chExt cx="7044728" cy="4145166"/>
          </a:xfrm>
        </p:grpSpPr>
        <p:sp>
          <p:nvSpPr>
            <p:cNvPr name="Freeform 24" id="24"/>
            <p:cNvSpPr/>
            <p:nvPr/>
          </p:nvSpPr>
          <p:spPr>
            <a:xfrm flipH="false" flipV="false" rot="0">
              <a:off x="25400" y="25400"/>
              <a:ext cx="6994017" cy="4094353"/>
            </a:xfrm>
            <a:custGeom>
              <a:avLst/>
              <a:gdLst/>
              <a:ahLst/>
              <a:cxnLst/>
              <a:rect r="r" b="b" t="t" l="l"/>
              <a:pathLst>
                <a:path h="4094353" w="6994017">
                  <a:moveTo>
                    <a:pt x="0" y="340233"/>
                  </a:moveTo>
                  <a:cubicBezTo>
                    <a:pt x="0" y="152273"/>
                    <a:pt x="153162" y="0"/>
                    <a:pt x="342011" y="0"/>
                  </a:cubicBezTo>
                  <a:lnTo>
                    <a:pt x="6652006" y="0"/>
                  </a:lnTo>
                  <a:cubicBezTo>
                    <a:pt x="6840855" y="0"/>
                    <a:pt x="6994017" y="152273"/>
                    <a:pt x="6994017" y="340233"/>
                  </a:cubicBezTo>
                  <a:lnTo>
                    <a:pt x="6994017" y="3754120"/>
                  </a:lnTo>
                  <a:cubicBezTo>
                    <a:pt x="6994017" y="3942080"/>
                    <a:pt x="6840855" y="4094353"/>
                    <a:pt x="6652006" y="4094353"/>
                  </a:cubicBezTo>
                  <a:lnTo>
                    <a:pt x="342011" y="4094353"/>
                  </a:lnTo>
                  <a:cubicBezTo>
                    <a:pt x="153162" y="4094353"/>
                    <a:pt x="0" y="3942080"/>
                    <a:pt x="0" y="3754120"/>
                  </a:cubicBezTo>
                  <a:close/>
                </a:path>
              </a:pathLst>
            </a:custGeom>
            <a:solidFill>
              <a:srgbClr val="FFFFFF">
                <a:alpha val="90196"/>
              </a:srgbClr>
            </a:solidFill>
          </p:spPr>
        </p:sp>
        <p:sp>
          <p:nvSpPr>
            <p:cNvPr name="Freeform 25" id="25"/>
            <p:cNvSpPr/>
            <p:nvPr/>
          </p:nvSpPr>
          <p:spPr>
            <a:xfrm flipH="false" flipV="false" rot="0">
              <a:off x="0" y="0"/>
              <a:ext cx="7044817" cy="4145153"/>
            </a:xfrm>
            <a:custGeom>
              <a:avLst/>
              <a:gdLst/>
              <a:ahLst/>
              <a:cxnLst/>
              <a:rect r="r" b="b" t="t" l="l"/>
              <a:pathLst>
                <a:path h="4145153" w="7044817">
                  <a:moveTo>
                    <a:pt x="0" y="365633"/>
                  </a:moveTo>
                  <a:cubicBezTo>
                    <a:pt x="0" y="163576"/>
                    <a:pt x="164592" y="0"/>
                    <a:pt x="367411" y="0"/>
                  </a:cubicBezTo>
                  <a:lnTo>
                    <a:pt x="6677406" y="0"/>
                  </a:lnTo>
                  <a:lnTo>
                    <a:pt x="6677406" y="25400"/>
                  </a:lnTo>
                  <a:lnTo>
                    <a:pt x="6677406" y="0"/>
                  </a:lnTo>
                  <a:cubicBezTo>
                    <a:pt x="6880225" y="0"/>
                    <a:pt x="7044817" y="163576"/>
                    <a:pt x="7044817" y="365633"/>
                  </a:cubicBezTo>
                  <a:lnTo>
                    <a:pt x="7019417" y="365633"/>
                  </a:lnTo>
                  <a:lnTo>
                    <a:pt x="7044817" y="365633"/>
                  </a:lnTo>
                  <a:lnTo>
                    <a:pt x="7044817" y="3779520"/>
                  </a:lnTo>
                  <a:lnTo>
                    <a:pt x="7019417" y="3779520"/>
                  </a:lnTo>
                  <a:lnTo>
                    <a:pt x="7044817" y="3779520"/>
                  </a:lnTo>
                  <a:cubicBezTo>
                    <a:pt x="7044817" y="3981577"/>
                    <a:pt x="6880225" y="4145153"/>
                    <a:pt x="6677406" y="4145153"/>
                  </a:cubicBezTo>
                  <a:lnTo>
                    <a:pt x="6677406" y="4119753"/>
                  </a:lnTo>
                  <a:lnTo>
                    <a:pt x="6677406" y="4145153"/>
                  </a:lnTo>
                  <a:lnTo>
                    <a:pt x="367411" y="4145153"/>
                  </a:lnTo>
                  <a:lnTo>
                    <a:pt x="367411" y="4119753"/>
                  </a:lnTo>
                  <a:lnTo>
                    <a:pt x="367411" y="4145153"/>
                  </a:lnTo>
                  <a:cubicBezTo>
                    <a:pt x="164592" y="4145153"/>
                    <a:pt x="0" y="3981577"/>
                    <a:pt x="0" y="3779520"/>
                  </a:cubicBezTo>
                  <a:lnTo>
                    <a:pt x="0" y="365633"/>
                  </a:lnTo>
                  <a:lnTo>
                    <a:pt x="25400" y="365633"/>
                  </a:lnTo>
                  <a:lnTo>
                    <a:pt x="0" y="365633"/>
                  </a:lnTo>
                  <a:moveTo>
                    <a:pt x="50800" y="365633"/>
                  </a:moveTo>
                  <a:lnTo>
                    <a:pt x="50800" y="3779520"/>
                  </a:lnTo>
                  <a:lnTo>
                    <a:pt x="25400" y="3779520"/>
                  </a:lnTo>
                  <a:lnTo>
                    <a:pt x="50800" y="3779520"/>
                  </a:lnTo>
                  <a:cubicBezTo>
                    <a:pt x="50800" y="3953256"/>
                    <a:pt x="192405" y="4094353"/>
                    <a:pt x="367411" y="4094353"/>
                  </a:cubicBezTo>
                  <a:lnTo>
                    <a:pt x="6677406" y="4094353"/>
                  </a:lnTo>
                  <a:cubicBezTo>
                    <a:pt x="6852413" y="4094353"/>
                    <a:pt x="6994017" y="3953256"/>
                    <a:pt x="6994017" y="3779520"/>
                  </a:cubicBezTo>
                  <a:lnTo>
                    <a:pt x="6994017" y="365633"/>
                  </a:lnTo>
                  <a:cubicBezTo>
                    <a:pt x="6993890" y="191897"/>
                    <a:pt x="6852285" y="50800"/>
                    <a:pt x="6677406" y="50800"/>
                  </a:cubicBezTo>
                  <a:lnTo>
                    <a:pt x="367411" y="50800"/>
                  </a:lnTo>
                  <a:lnTo>
                    <a:pt x="367411" y="25400"/>
                  </a:lnTo>
                  <a:lnTo>
                    <a:pt x="367411" y="50800"/>
                  </a:lnTo>
                  <a:cubicBezTo>
                    <a:pt x="192405" y="50800"/>
                    <a:pt x="50800" y="191897"/>
                    <a:pt x="50800" y="365633"/>
                  </a:cubicBezTo>
                  <a:close/>
                </a:path>
              </a:pathLst>
            </a:custGeom>
            <a:solidFill>
              <a:srgbClr val="B5C1E2"/>
            </a:solidFill>
          </p:spPr>
        </p:sp>
      </p:grpSp>
      <p:sp>
        <p:nvSpPr>
          <p:cNvPr name="TextBox 26" id="26"/>
          <p:cNvSpPr txBox="true"/>
          <p:nvPr/>
        </p:nvSpPr>
        <p:spPr>
          <a:xfrm rot="0">
            <a:off x="12371784" y="4642847"/>
            <a:ext cx="3544043" cy="481012"/>
          </a:xfrm>
          <a:prstGeom prst="rect">
            <a:avLst/>
          </a:prstGeom>
        </p:spPr>
        <p:txBody>
          <a:bodyPr anchor="t" rtlCol="false" tIns="0" lIns="0" bIns="0" rIns="0">
            <a:spAutoFit/>
          </a:bodyPr>
          <a:lstStyle/>
          <a:p>
            <a:pPr algn="l">
              <a:lnSpc>
                <a:spcPts val="3437"/>
              </a:lnSpc>
            </a:pPr>
            <a:r>
              <a:rPr lang="en-US" sz="2750">
                <a:solidFill>
                  <a:srgbClr val="666666"/>
                </a:solidFill>
                <a:latin typeface="Arimo"/>
                <a:ea typeface="Arimo"/>
                <a:cs typeface="Arimo"/>
                <a:sym typeface="Arimo"/>
              </a:rPr>
              <a:t>Theoretical Bounds</a:t>
            </a:r>
          </a:p>
        </p:txBody>
      </p:sp>
      <p:sp>
        <p:nvSpPr>
          <p:cNvPr name="TextBox 27" id="27"/>
          <p:cNvSpPr txBox="true"/>
          <p:nvPr/>
        </p:nvSpPr>
        <p:spPr>
          <a:xfrm rot="0">
            <a:off x="12371784" y="5208241"/>
            <a:ext cx="4602213" cy="1900237"/>
          </a:xfrm>
          <a:prstGeom prst="rect">
            <a:avLst/>
          </a:prstGeom>
        </p:spPr>
        <p:txBody>
          <a:bodyPr anchor="t" rtlCol="false" tIns="0" lIns="0" bIns="0" rIns="0">
            <a:spAutoFit/>
          </a:bodyPr>
          <a:lstStyle/>
          <a:p>
            <a:pPr algn="l">
              <a:lnSpc>
                <a:spcPts val="3562"/>
              </a:lnSpc>
            </a:pPr>
            <a:r>
              <a:rPr lang="en-US" sz="2187">
                <a:solidFill>
                  <a:srgbClr val="666666"/>
                </a:solidFill>
                <a:latin typeface="IBM Plex Sans"/>
                <a:ea typeface="IBM Plex Sans"/>
                <a:cs typeface="IBM Plex Sans"/>
                <a:sym typeface="IBM Plex Sans"/>
              </a:rPr>
              <a:t>Chebyshev's inequality and Markov bound provide conservative estimates without full distribution knowledge</a:t>
            </a:r>
          </a:p>
        </p:txBody>
      </p:sp>
      <p:sp>
        <p:nvSpPr>
          <p:cNvPr name="TextBox 28" id="28"/>
          <p:cNvSpPr txBox="true"/>
          <p:nvPr/>
        </p:nvSpPr>
        <p:spPr>
          <a:xfrm rot="0">
            <a:off x="992238" y="7663310"/>
            <a:ext cx="16303523" cy="992981"/>
          </a:xfrm>
          <a:prstGeom prst="rect">
            <a:avLst/>
          </a:prstGeom>
        </p:spPr>
        <p:txBody>
          <a:bodyPr anchor="t" rtlCol="false" tIns="0" lIns="0" bIns="0" rIns="0">
            <a:spAutoFit/>
          </a:bodyPr>
          <a:lstStyle/>
          <a:p>
            <a:pPr algn="l">
              <a:lnSpc>
                <a:spcPts val="3562"/>
              </a:lnSpc>
            </a:pPr>
            <a:r>
              <a:rPr lang="en-US" sz="2187">
                <a:solidFill>
                  <a:srgbClr val="666666"/>
                </a:solidFill>
                <a:latin typeface="IBM Plex Sans"/>
                <a:ea typeface="IBM Plex Sans"/>
                <a:cs typeface="IBM Plex Sans"/>
                <a:sym typeface="IBM Plex Sans"/>
              </a:rPr>
              <a:t>Probabilistic decisions outperform deterministic ones because they explicitly account for variability, choosing routes with higher reliability rather than shorter expected duration.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967235" y="768848"/>
            <a:ext cx="9610573" cy="911123"/>
          </a:xfrm>
          <a:prstGeom prst="rect">
            <a:avLst/>
          </a:prstGeom>
        </p:spPr>
        <p:txBody>
          <a:bodyPr anchor="t" rtlCol="false" tIns="0" lIns="0" bIns="0" rIns="0">
            <a:spAutoFit/>
          </a:bodyPr>
          <a:lstStyle/>
          <a:p>
            <a:pPr algn="l">
              <a:lnSpc>
                <a:spcPts val="6749"/>
              </a:lnSpc>
            </a:pPr>
            <a:r>
              <a:rPr lang="en-US" sz="5437">
                <a:solidFill>
                  <a:srgbClr val="3F6FF3"/>
                </a:solidFill>
                <a:latin typeface="Arimo"/>
                <a:ea typeface="Arimo"/>
                <a:cs typeface="Arimo"/>
                <a:sym typeface="Arimo"/>
              </a:rPr>
              <a:t>Implementation and Evaluation</a:t>
            </a:r>
          </a:p>
        </p:txBody>
      </p:sp>
      <p:sp>
        <p:nvSpPr>
          <p:cNvPr name="TextBox 11" id="11"/>
          <p:cNvSpPr txBox="true"/>
          <p:nvPr/>
        </p:nvSpPr>
        <p:spPr>
          <a:xfrm rot="0">
            <a:off x="967235" y="2315318"/>
            <a:ext cx="4145461" cy="556174"/>
          </a:xfrm>
          <a:prstGeom prst="rect">
            <a:avLst/>
          </a:prstGeom>
        </p:spPr>
        <p:txBody>
          <a:bodyPr anchor="t" rtlCol="false" tIns="0" lIns="0" bIns="0" rIns="0">
            <a:spAutoFit/>
          </a:bodyPr>
          <a:lstStyle/>
          <a:p>
            <a:pPr algn="l">
              <a:lnSpc>
                <a:spcPts val="4062"/>
              </a:lnSpc>
            </a:pPr>
            <a:r>
              <a:rPr lang="en-US" sz="3250">
                <a:solidFill>
                  <a:srgbClr val="3F6FF3"/>
                </a:solidFill>
                <a:latin typeface="Arimo"/>
                <a:ea typeface="Arimo"/>
                <a:cs typeface="Arimo"/>
                <a:sym typeface="Arimo"/>
              </a:rPr>
              <a:t>Integration Approach</a:t>
            </a:r>
          </a:p>
        </p:txBody>
      </p:sp>
      <p:sp>
        <p:nvSpPr>
          <p:cNvPr name="TextBox 12" id="12"/>
          <p:cNvSpPr txBox="true"/>
          <p:nvPr/>
        </p:nvSpPr>
        <p:spPr>
          <a:xfrm rot="0">
            <a:off x="1205360" y="3045619"/>
            <a:ext cx="5285480" cy="2714330"/>
          </a:xfrm>
          <a:prstGeom prst="rect">
            <a:avLst/>
          </a:prstGeom>
        </p:spPr>
        <p:txBody>
          <a:bodyPr anchor="t" rtlCol="false" tIns="0" lIns="0" bIns="0" rIns="0">
            <a:spAutoFit/>
          </a:bodyPr>
          <a:lstStyle/>
          <a:p>
            <a:pPr algn="l">
              <a:lnSpc>
                <a:spcPts val="3437"/>
              </a:lnSpc>
            </a:pPr>
            <a:r>
              <a:rPr lang="en-US" sz="2125">
                <a:solidFill>
                  <a:srgbClr val="666666"/>
                </a:solidFill>
                <a:latin typeface="IBM Plex Sans"/>
                <a:ea typeface="IBM Plex Sans"/>
                <a:cs typeface="IBM Plex Sans"/>
                <a:sym typeface="IBM Plex Sans"/>
              </a:rPr>
              <a:t>Embedded Monte Carlo simulation within existing traffic simulation pipeline, maintaining compatibility with SUMO. Approximately 1000 simulation runs per route provide stable probability estimates.</a:t>
            </a:r>
          </a:p>
        </p:txBody>
      </p:sp>
      <p:sp>
        <p:nvSpPr>
          <p:cNvPr name="TextBox 13" id="13"/>
          <p:cNvSpPr txBox="true"/>
          <p:nvPr/>
        </p:nvSpPr>
        <p:spPr>
          <a:xfrm rot="0">
            <a:off x="967235" y="5991225"/>
            <a:ext cx="4145461" cy="556174"/>
          </a:xfrm>
          <a:prstGeom prst="rect">
            <a:avLst/>
          </a:prstGeom>
        </p:spPr>
        <p:txBody>
          <a:bodyPr anchor="t" rtlCol="false" tIns="0" lIns="0" bIns="0" rIns="0">
            <a:spAutoFit/>
          </a:bodyPr>
          <a:lstStyle/>
          <a:p>
            <a:pPr algn="l">
              <a:lnSpc>
                <a:spcPts val="4062"/>
              </a:lnSpc>
            </a:pPr>
            <a:r>
              <a:rPr lang="en-US" sz="3250">
                <a:solidFill>
                  <a:srgbClr val="3F6FF3"/>
                </a:solidFill>
                <a:latin typeface="Arimo"/>
                <a:ea typeface="Arimo"/>
                <a:cs typeface="Arimo"/>
                <a:sym typeface="Arimo"/>
              </a:rPr>
              <a:t>Evaluation Metrics</a:t>
            </a:r>
          </a:p>
        </p:txBody>
      </p:sp>
      <p:sp>
        <p:nvSpPr>
          <p:cNvPr name="TextBox 14" id="14"/>
          <p:cNvSpPr txBox="true"/>
          <p:nvPr/>
        </p:nvSpPr>
        <p:spPr>
          <a:xfrm rot="0">
            <a:off x="967235" y="6721526"/>
            <a:ext cx="5285480" cy="2654646"/>
          </a:xfrm>
          <a:prstGeom prst="rect">
            <a:avLst/>
          </a:prstGeom>
        </p:spPr>
        <p:txBody>
          <a:bodyPr anchor="t" rtlCol="false" tIns="0" lIns="0" bIns="0" rIns="0">
            <a:spAutoFit/>
          </a:bodyPr>
          <a:lstStyle/>
          <a:p>
            <a:pPr algn="l" marL="320477" indent="-160238" lvl="1">
              <a:lnSpc>
                <a:spcPts val="3437"/>
              </a:lnSpc>
              <a:buFont typeface="Arial"/>
              <a:buChar char="•"/>
            </a:pPr>
            <a:r>
              <a:rPr lang="en-US" sz="2125">
                <a:solidFill>
                  <a:srgbClr val="666666"/>
                </a:solidFill>
                <a:latin typeface="IBM Plex Sans"/>
                <a:ea typeface="IBM Plex Sans"/>
                <a:cs typeface="IBM Plex Sans"/>
                <a:sym typeface="IBM Plex Sans"/>
              </a:rPr>
              <a:t>On-time arrival probability (primary)</a:t>
            </a:r>
          </a:p>
          <a:p>
            <a:pPr algn="l" marL="320477" indent="-160238" lvl="1">
              <a:lnSpc>
                <a:spcPts val="3437"/>
              </a:lnSpc>
              <a:buFont typeface="Arial"/>
              <a:buChar char="•"/>
            </a:pPr>
            <a:r>
              <a:rPr lang="en-US" sz="2125">
                <a:solidFill>
                  <a:srgbClr val="666666"/>
                </a:solidFill>
                <a:latin typeface="IBM Plex Sans"/>
                <a:ea typeface="IBM Plex Sans"/>
                <a:cs typeface="IBM Plex Sans"/>
                <a:sym typeface="IBM Plex Sans"/>
              </a:rPr>
              <a:t>Average travel time</a:t>
            </a:r>
          </a:p>
          <a:p>
            <a:pPr algn="l" marL="320477" indent="-160238" lvl="1">
              <a:lnSpc>
                <a:spcPts val="3437"/>
              </a:lnSpc>
              <a:buFont typeface="Arial"/>
              <a:buChar char="•"/>
            </a:pPr>
            <a:r>
              <a:rPr lang="en-US" sz="2125">
                <a:solidFill>
                  <a:srgbClr val="666666"/>
                </a:solidFill>
                <a:latin typeface="IBM Plex Sans"/>
                <a:ea typeface="IBM Plex Sans"/>
                <a:cs typeface="IBM Plex Sans"/>
                <a:sym typeface="IBM Plex Sans"/>
              </a:rPr>
              <a:t>Variance and standard deviation</a:t>
            </a:r>
          </a:p>
          <a:p>
            <a:pPr algn="l" marL="320477" indent="-160238" lvl="1">
              <a:lnSpc>
                <a:spcPts val="3437"/>
              </a:lnSpc>
              <a:buFont typeface="Arial"/>
              <a:buChar char="•"/>
            </a:pPr>
            <a:r>
              <a:rPr lang="en-US" sz="2125">
                <a:solidFill>
                  <a:srgbClr val="666666"/>
                </a:solidFill>
                <a:latin typeface="IBM Plex Sans"/>
                <a:ea typeface="IBM Plex Sans"/>
                <a:cs typeface="IBM Plex Sans"/>
                <a:sym typeface="IBM Plex Sans"/>
              </a:rPr>
              <a:t>Delay probability</a:t>
            </a:r>
          </a:p>
          <a:p>
            <a:pPr algn="l" marL="320477" indent="-160238" lvl="1">
              <a:lnSpc>
                <a:spcPts val="3437"/>
              </a:lnSpc>
              <a:buFont typeface="Arial"/>
              <a:buChar char="•"/>
            </a:pPr>
            <a:r>
              <a:rPr lang="en-US" sz="2125">
                <a:solidFill>
                  <a:srgbClr val="666666"/>
                </a:solidFill>
                <a:latin typeface="IBM Plex Sans"/>
                <a:ea typeface="IBM Plex Sans"/>
                <a:cs typeface="IBM Plex Sans"/>
                <a:sym typeface="IBM Plex Sans"/>
              </a:rPr>
              <a:t>Robustness under uncertainty</a:t>
            </a:r>
          </a:p>
        </p:txBody>
      </p:sp>
      <p:grpSp>
        <p:nvGrpSpPr>
          <p:cNvPr name="Group 15" id="15"/>
          <p:cNvGrpSpPr/>
          <p:nvPr/>
        </p:nvGrpSpPr>
        <p:grpSpPr>
          <a:xfrm rot="0">
            <a:off x="6945163" y="1679972"/>
            <a:ext cx="9610573" cy="7682160"/>
            <a:chOff x="0" y="0"/>
            <a:chExt cx="12814097" cy="10242880"/>
          </a:xfrm>
        </p:grpSpPr>
        <p:sp>
          <p:nvSpPr>
            <p:cNvPr name="Freeform 16" id="16"/>
            <p:cNvSpPr/>
            <p:nvPr/>
          </p:nvSpPr>
          <p:spPr>
            <a:xfrm flipH="false" flipV="false" rot="0">
              <a:off x="0" y="0"/>
              <a:ext cx="12814046" cy="10242931"/>
            </a:xfrm>
            <a:custGeom>
              <a:avLst/>
              <a:gdLst/>
              <a:ahLst/>
              <a:cxnLst/>
              <a:rect r="r" b="b" t="t" l="l"/>
              <a:pathLst>
                <a:path h="10242931" w="12814046">
                  <a:moveTo>
                    <a:pt x="0" y="0"/>
                  </a:moveTo>
                  <a:lnTo>
                    <a:pt x="12814046" y="0"/>
                  </a:lnTo>
                  <a:lnTo>
                    <a:pt x="12814046" y="10242931"/>
                  </a:lnTo>
                  <a:lnTo>
                    <a:pt x="0" y="10242931"/>
                  </a:lnTo>
                  <a:lnTo>
                    <a:pt x="0" y="0"/>
                  </a:lnTo>
                  <a:close/>
                </a:path>
              </a:pathLst>
            </a:custGeom>
            <a:blipFill>
              <a:blip r:embed="rId4"/>
              <a:stretch>
                <a:fillRect l="0" t="-1565" r="0" b="-1565"/>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C4C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238" cy="10284323"/>
            <a:chOff x="0" y="0"/>
            <a:chExt cx="24377650" cy="13712431"/>
          </a:xfrm>
        </p:grpSpPr>
        <p:sp>
          <p:nvSpPr>
            <p:cNvPr name="Freeform 3" id="3" descr="HD-PanelContent.png"/>
            <p:cNvSpPr/>
            <p:nvPr/>
          </p:nvSpPr>
          <p:spPr>
            <a:xfrm flipH="false" flipV="false" rot="0">
              <a:off x="0" y="0"/>
              <a:ext cx="24377650" cy="13712444"/>
            </a:xfrm>
            <a:custGeom>
              <a:avLst/>
              <a:gdLst/>
              <a:ahLst/>
              <a:cxnLst/>
              <a:rect r="r" b="b" t="t" l="l"/>
              <a:pathLst>
                <a:path h="13712444" w="24377650">
                  <a:moveTo>
                    <a:pt x="0" y="0"/>
                  </a:moveTo>
                  <a:lnTo>
                    <a:pt x="24377650" y="0"/>
                  </a:lnTo>
                  <a:lnTo>
                    <a:pt x="24377650" y="13712444"/>
                  </a:lnTo>
                  <a:lnTo>
                    <a:pt x="0" y="13712444"/>
                  </a:lnTo>
                  <a:lnTo>
                    <a:pt x="0" y="0"/>
                  </a:lnTo>
                  <a:close/>
                </a:path>
              </a:pathLst>
            </a:custGeom>
            <a:blipFill>
              <a:blip r:embed="rId2"/>
              <a:stretch>
                <a:fillRect l="0" t="0" r="0" b="0"/>
              </a:stretch>
            </a:blipFill>
          </p:spPr>
        </p:sp>
      </p:grpSp>
      <p:grpSp>
        <p:nvGrpSpPr>
          <p:cNvPr name="Group 4" id="4"/>
          <p:cNvGrpSpPr/>
          <p:nvPr/>
        </p:nvGrpSpPr>
        <p:grpSpPr>
          <a:xfrm rot="0">
            <a:off x="900112" y="902494"/>
            <a:ext cx="16483012" cy="8482012"/>
            <a:chOff x="0" y="0"/>
            <a:chExt cx="21977350" cy="11309350"/>
          </a:xfrm>
        </p:grpSpPr>
        <p:sp>
          <p:nvSpPr>
            <p:cNvPr name="Freeform 5" id="5"/>
            <p:cNvSpPr/>
            <p:nvPr/>
          </p:nvSpPr>
          <p:spPr>
            <a:xfrm flipH="false" flipV="false" rot="0">
              <a:off x="0" y="0"/>
              <a:ext cx="21972015" cy="11304016"/>
            </a:xfrm>
            <a:custGeom>
              <a:avLst/>
              <a:gdLst/>
              <a:ahLst/>
              <a:cxnLst/>
              <a:rect r="r" b="b" t="t" l="l"/>
              <a:pathLst>
                <a:path h="11304016" w="21972015">
                  <a:moveTo>
                    <a:pt x="13208" y="0"/>
                  </a:moveTo>
                  <a:lnTo>
                    <a:pt x="21958808" y="0"/>
                  </a:lnTo>
                  <a:cubicBezTo>
                    <a:pt x="21966174" y="0"/>
                    <a:pt x="21972015" y="5969"/>
                    <a:pt x="21972015" y="13208"/>
                  </a:cubicBezTo>
                  <a:lnTo>
                    <a:pt x="21972015" y="11290808"/>
                  </a:lnTo>
                  <a:cubicBezTo>
                    <a:pt x="21972015" y="11298174"/>
                    <a:pt x="21966047" y="11304016"/>
                    <a:pt x="21958808" y="11304016"/>
                  </a:cubicBezTo>
                  <a:lnTo>
                    <a:pt x="13208" y="11304016"/>
                  </a:lnTo>
                  <a:cubicBezTo>
                    <a:pt x="5842" y="11304016"/>
                    <a:pt x="0" y="11298047"/>
                    <a:pt x="0" y="11290808"/>
                  </a:cubicBezTo>
                  <a:lnTo>
                    <a:pt x="0" y="13208"/>
                  </a:lnTo>
                  <a:cubicBezTo>
                    <a:pt x="0" y="5969"/>
                    <a:pt x="5969" y="0"/>
                    <a:pt x="13208" y="0"/>
                  </a:cubicBezTo>
                  <a:moveTo>
                    <a:pt x="13208" y="26416"/>
                  </a:moveTo>
                  <a:lnTo>
                    <a:pt x="13208" y="13208"/>
                  </a:lnTo>
                  <a:lnTo>
                    <a:pt x="26416" y="13208"/>
                  </a:lnTo>
                  <a:lnTo>
                    <a:pt x="26416" y="11290808"/>
                  </a:lnTo>
                  <a:lnTo>
                    <a:pt x="13208" y="11290808"/>
                  </a:lnTo>
                  <a:lnTo>
                    <a:pt x="13208" y="11277600"/>
                  </a:lnTo>
                  <a:lnTo>
                    <a:pt x="21958808" y="11277600"/>
                  </a:lnTo>
                  <a:lnTo>
                    <a:pt x="21958808" y="11290808"/>
                  </a:lnTo>
                  <a:lnTo>
                    <a:pt x="21945600" y="11290808"/>
                  </a:lnTo>
                  <a:lnTo>
                    <a:pt x="21945600" y="13208"/>
                  </a:lnTo>
                  <a:lnTo>
                    <a:pt x="21958808" y="13208"/>
                  </a:lnTo>
                  <a:lnTo>
                    <a:pt x="21958808" y="26416"/>
                  </a:lnTo>
                  <a:lnTo>
                    <a:pt x="13208" y="26416"/>
                  </a:lnTo>
                  <a:close/>
                </a:path>
              </a:pathLst>
            </a:custGeom>
            <a:solidFill>
              <a:srgbClr val="83992A"/>
            </a:solidFill>
          </p:spPr>
        </p:sp>
      </p:grpSp>
      <p:grpSp>
        <p:nvGrpSpPr>
          <p:cNvPr name="Group 6" id="6"/>
          <p:cNvGrpSpPr/>
          <p:nvPr/>
        </p:nvGrpSpPr>
        <p:grpSpPr>
          <a:xfrm rot="0">
            <a:off x="-23603" y="4730744"/>
            <a:ext cx="1165860" cy="909638"/>
            <a:chOff x="0" y="0"/>
            <a:chExt cx="1554480" cy="1212850"/>
          </a:xfrm>
        </p:grpSpPr>
        <p:sp>
          <p:nvSpPr>
            <p:cNvPr name="Freeform 7" id="7"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grpSp>
        <p:nvGrpSpPr>
          <p:cNvPr name="Group 8" id="8"/>
          <p:cNvGrpSpPr/>
          <p:nvPr/>
        </p:nvGrpSpPr>
        <p:grpSpPr>
          <a:xfrm rot="0">
            <a:off x="17155477" y="4730744"/>
            <a:ext cx="1165860" cy="909638"/>
            <a:chOff x="0" y="0"/>
            <a:chExt cx="1554480" cy="1212850"/>
          </a:xfrm>
        </p:grpSpPr>
        <p:sp>
          <p:nvSpPr>
            <p:cNvPr name="Freeform 9" id="9" descr="HDRibbonContent-UniformTrim.png"/>
            <p:cNvSpPr/>
            <p:nvPr/>
          </p:nvSpPr>
          <p:spPr>
            <a:xfrm flipH="false" flipV="false" rot="0">
              <a:off x="0" y="0"/>
              <a:ext cx="1554480" cy="1212850"/>
            </a:xfrm>
            <a:custGeom>
              <a:avLst/>
              <a:gdLst/>
              <a:ahLst/>
              <a:cxnLst/>
              <a:rect r="r" b="b" t="t" l="l"/>
              <a:pathLst>
                <a:path h="1212850" w="1554480">
                  <a:moveTo>
                    <a:pt x="0" y="0"/>
                  </a:moveTo>
                  <a:lnTo>
                    <a:pt x="1554480" y="0"/>
                  </a:lnTo>
                  <a:lnTo>
                    <a:pt x="1554480" y="1212850"/>
                  </a:lnTo>
                  <a:lnTo>
                    <a:pt x="0" y="1212850"/>
                  </a:lnTo>
                  <a:lnTo>
                    <a:pt x="0" y="0"/>
                  </a:lnTo>
                  <a:close/>
                </a:path>
              </a:pathLst>
            </a:custGeom>
            <a:blipFill>
              <a:blip r:embed="rId3"/>
              <a:stretch>
                <a:fillRect l="0" t="0" r="-315" b="0"/>
              </a:stretch>
            </a:blipFill>
          </p:spPr>
        </p:sp>
      </p:grpSp>
      <p:sp>
        <p:nvSpPr>
          <p:cNvPr name="TextBox 10" id="10"/>
          <p:cNvSpPr txBox="true"/>
          <p:nvPr/>
        </p:nvSpPr>
        <p:spPr>
          <a:xfrm rot="0">
            <a:off x="992238" y="1260872"/>
            <a:ext cx="7434558" cy="943127"/>
          </a:xfrm>
          <a:prstGeom prst="rect">
            <a:avLst/>
          </a:prstGeom>
        </p:spPr>
        <p:txBody>
          <a:bodyPr anchor="t" rtlCol="false" tIns="0" lIns="0" bIns="0" rIns="0">
            <a:spAutoFit/>
          </a:bodyPr>
          <a:lstStyle/>
          <a:p>
            <a:pPr algn="l">
              <a:lnSpc>
                <a:spcPts val="6937"/>
              </a:lnSpc>
            </a:pPr>
            <a:r>
              <a:rPr lang="en-US" sz="5562">
                <a:solidFill>
                  <a:srgbClr val="3F6FF3"/>
                </a:solidFill>
                <a:latin typeface="Arimo"/>
                <a:ea typeface="Arimo"/>
                <a:cs typeface="Arimo"/>
                <a:sym typeface="Arimo"/>
              </a:rPr>
              <a:t>Results and Key Insights</a:t>
            </a:r>
          </a:p>
        </p:txBody>
      </p:sp>
      <p:sp>
        <p:nvSpPr>
          <p:cNvPr name="TextBox 11" id="11"/>
          <p:cNvSpPr txBox="true"/>
          <p:nvPr/>
        </p:nvSpPr>
        <p:spPr>
          <a:xfrm rot="0">
            <a:off x="992238" y="2279304"/>
            <a:ext cx="5077416" cy="569709"/>
          </a:xfrm>
          <a:prstGeom prst="rect">
            <a:avLst/>
          </a:prstGeom>
        </p:spPr>
        <p:txBody>
          <a:bodyPr anchor="t" rtlCol="false" tIns="0" lIns="0" bIns="0" rIns="0">
            <a:spAutoFit/>
          </a:bodyPr>
          <a:lstStyle/>
          <a:p>
            <a:pPr algn="l">
              <a:lnSpc>
                <a:spcPts val="4125"/>
              </a:lnSpc>
            </a:pPr>
            <a:r>
              <a:rPr lang="en-US" sz="3312">
                <a:solidFill>
                  <a:srgbClr val="3F6FF3"/>
                </a:solidFill>
                <a:latin typeface="Arimo"/>
                <a:ea typeface="Arimo"/>
                <a:cs typeface="Arimo"/>
                <a:sym typeface="Arimo"/>
              </a:rPr>
              <a:t>Comparative Performance</a:t>
            </a:r>
          </a:p>
        </p:txBody>
      </p:sp>
      <p:sp>
        <p:nvSpPr>
          <p:cNvPr name="TextBox 12" id="12"/>
          <p:cNvSpPr txBox="true"/>
          <p:nvPr/>
        </p:nvSpPr>
        <p:spPr>
          <a:xfrm rot="0">
            <a:off x="992238" y="3520678"/>
            <a:ext cx="3810000" cy="830761"/>
          </a:xfrm>
          <a:prstGeom prst="rect">
            <a:avLst/>
          </a:prstGeom>
        </p:spPr>
        <p:txBody>
          <a:bodyPr anchor="t" rtlCol="false" tIns="0" lIns="0" bIns="0" rIns="0">
            <a:spAutoFit/>
          </a:bodyPr>
          <a:lstStyle/>
          <a:p>
            <a:pPr algn="ctr">
              <a:lnSpc>
                <a:spcPts val="7312"/>
              </a:lnSpc>
            </a:pPr>
            <a:r>
              <a:rPr lang="en-US" sz="7312">
                <a:solidFill>
                  <a:srgbClr val="666666"/>
                </a:solidFill>
                <a:latin typeface="Arimo"/>
                <a:ea typeface="Arimo"/>
                <a:cs typeface="Arimo"/>
                <a:sym typeface="Arimo"/>
              </a:rPr>
              <a:t>↑</a:t>
            </a:r>
          </a:p>
        </p:txBody>
      </p:sp>
      <p:sp>
        <p:nvSpPr>
          <p:cNvPr name="TextBox 13" id="13"/>
          <p:cNvSpPr txBox="true"/>
          <p:nvPr/>
        </p:nvSpPr>
        <p:spPr>
          <a:xfrm rot="0">
            <a:off x="1125141" y="4667545"/>
            <a:ext cx="3544043" cy="481012"/>
          </a:xfrm>
          <a:prstGeom prst="rect">
            <a:avLst/>
          </a:prstGeom>
        </p:spPr>
        <p:txBody>
          <a:bodyPr anchor="t" rtlCol="false" tIns="0" lIns="0" bIns="0" rIns="0">
            <a:spAutoFit/>
          </a:bodyPr>
          <a:lstStyle/>
          <a:p>
            <a:pPr algn="ctr">
              <a:lnSpc>
                <a:spcPts val="3437"/>
              </a:lnSpc>
            </a:pPr>
            <a:r>
              <a:rPr lang="en-US" sz="2750">
                <a:solidFill>
                  <a:srgbClr val="666666"/>
                </a:solidFill>
                <a:latin typeface="Arimo"/>
                <a:ea typeface="Arimo"/>
                <a:cs typeface="Arimo"/>
                <a:sym typeface="Arimo"/>
              </a:rPr>
              <a:t>Reliability</a:t>
            </a:r>
          </a:p>
        </p:txBody>
      </p:sp>
      <p:sp>
        <p:nvSpPr>
          <p:cNvPr name="TextBox 14" id="14"/>
          <p:cNvSpPr txBox="true"/>
          <p:nvPr/>
        </p:nvSpPr>
        <p:spPr>
          <a:xfrm rot="0">
            <a:off x="992238" y="5232949"/>
            <a:ext cx="3810000" cy="1446609"/>
          </a:xfrm>
          <a:prstGeom prst="rect">
            <a:avLst/>
          </a:prstGeom>
        </p:spPr>
        <p:txBody>
          <a:bodyPr anchor="t" rtlCol="false" tIns="0" lIns="0" bIns="0" rIns="0">
            <a:spAutoFit/>
          </a:bodyPr>
          <a:lstStyle/>
          <a:p>
            <a:pPr algn="ctr">
              <a:lnSpc>
                <a:spcPts val="3562"/>
              </a:lnSpc>
            </a:pPr>
            <a:r>
              <a:rPr lang="en-US" sz="2187">
                <a:solidFill>
                  <a:srgbClr val="666666"/>
                </a:solidFill>
                <a:latin typeface="IBM Plex Sans"/>
                <a:ea typeface="IBM Plex Sans"/>
                <a:cs typeface="IBM Plex Sans"/>
                <a:sym typeface="IBM Plex Sans"/>
              </a:rPr>
              <a:t>Higher on-time arrival probability across varied conditions</a:t>
            </a:r>
          </a:p>
        </p:txBody>
      </p:sp>
      <p:sp>
        <p:nvSpPr>
          <p:cNvPr name="TextBox 15" id="15"/>
          <p:cNvSpPr txBox="true"/>
          <p:nvPr/>
        </p:nvSpPr>
        <p:spPr>
          <a:xfrm rot="0">
            <a:off x="5156597" y="3520678"/>
            <a:ext cx="3810152" cy="830761"/>
          </a:xfrm>
          <a:prstGeom prst="rect">
            <a:avLst/>
          </a:prstGeom>
        </p:spPr>
        <p:txBody>
          <a:bodyPr anchor="t" rtlCol="false" tIns="0" lIns="0" bIns="0" rIns="0">
            <a:spAutoFit/>
          </a:bodyPr>
          <a:lstStyle/>
          <a:p>
            <a:pPr algn="ctr">
              <a:lnSpc>
                <a:spcPts val="7312"/>
              </a:lnSpc>
            </a:pPr>
            <a:r>
              <a:rPr lang="en-US" sz="7312">
                <a:solidFill>
                  <a:srgbClr val="666666"/>
                </a:solidFill>
                <a:latin typeface="Arimo"/>
                <a:ea typeface="Arimo"/>
                <a:cs typeface="Arimo"/>
                <a:sym typeface="Arimo"/>
              </a:rPr>
              <a:t>↑</a:t>
            </a:r>
          </a:p>
        </p:txBody>
      </p:sp>
      <p:sp>
        <p:nvSpPr>
          <p:cNvPr name="TextBox 16" id="16"/>
          <p:cNvSpPr txBox="true"/>
          <p:nvPr/>
        </p:nvSpPr>
        <p:spPr>
          <a:xfrm rot="0">
            <a:off x="5289652" y="4667545"/>
            <a:ext cx="3544043" cy="481012"/>
          </a:xfrm>
          <a:prstGeom prst="rect">
            <a:avLst/>
          </a:prstGeom>
        </p:spPr>
        <p:txBody>
          <a:bodyPr anchor="t" rtlCol="false" tIns="0" lIns="0" bIns="0" rIns="0">
            <a:spAutoFit/>
          </a:bodyPr>
          <a:lstStyle/>
          <a:p>
            <a:pPr algn="ctr">
              <a:lnSpc>
                <a:spcPts val="3437"/>
              </a:lnSpc>
            </a:pPr>
            <a:r>
              <a:rPr lang="en-US" sz="2750">
                <a:solidFill>
                  <a:srgbClr val="666666"/>
                </a:solidFill>
                <a:latin typeface="Arimo"/>
                <a:ea typeface="Arimo"/>
                <a:cs typeface="Arimo"/>
                <a:sym typeface="Arimo"/>
              </a:rPr>
              <a:t>Robustness</a:t>
            </a:r>
          </a:p>
        </p:txBody>
      </p:sp>
      <p:sp>
        <p:nvSpPr>
          <p:cNvPr name="TextBox 17" id="17"/>
          <p:cNvSpPr txBox="true"/>
          <p:nvPr/>
        </p:nvSpPr>
        <p:spPr>
          <a:xfrm rot="0">
            <a:off x="5156597" y="5232949"/>
            <a:ext cx="3810152" cy="992981"/>
          </a:xfrm>
          <a:prstGeom prst="rect">
            <a:avLst/>
          </a:prstGeom>
        </p:spPr>
        <p:txBody>
          <a:bodyPr anchor="t" rtlCol="false" tIns="0" lIns="0" bIns="0" rIns="0">
            <a:spAutoFit/>
          </a:bodyPr>
          <a:lstStyle/>
          <a:p>
            <a:pPr algn="ctr">
              <a:lnSpc>
                <a:spcPts val="3562"/>
              </a:lnSpc>
            </a:pPr>
            <a:r>
              <a:rPr lang="en-US" sz="2187">
                <a:solidFill>
                  <a:srgbClr val="666666"/>
                </a:solidFill>
                <a:latin typeface="IBM Plex Sans"/>
                <a:ea typeface="IBM Plex Sans"/>
                <a:cs typeface="IBM Plex Sans"/>
                <a:sym typeface="IBM Plex Sans"/>
              </a:rPr>
              <a:t>Better handling of uncertainty and variability</a:t>
            </a:r>
          </a:p>
        </p:txBody>
      </p:sp>
      <p:sp>
        <p:nvSpPr>
          <p:cNvPr name="TextBox 18" id="18"/>
          <p:cNvSpPr txBox="true"/>
          <p:nvPr/>
        </p:nvSpPr>
        <p:spPr>
          <a:xfrm rot="0">
            <a:off x="9321108" y="3520678"/>
            <a:ext cx="3810152" cy="830761"/>
          </a:xfrm>
          <a:prstGeom prst="rect">
            <a:avLst/>
          </a:prstGeom>
        </p:spPr>
        <p:txBody>
          <a:bodyPr anchor="t" rtlCol="false" tIns="0" lIns="0" bIns="0" rIns="0">
            <a:spAutoFit/>
          </a:bodyPr>
          <a:lstStyle/>
          <a:p>
            <a:pPr algn="ctr">
              <a:lnSpc>
                <a:spcPts val="7312"/>
              </a:lnSpc>
            </a:pPr>
            <a:r>
              <a:rPr lang="en-US" sz="7312">
                <a:solidFill>
                  <a:srgbClr val="666666"/>
                </a:solidFill>
                <a:latin typeface="Arimo"/>
                <a:ea typeface="Arimo"/>
                <a:cs typeface="Arimo"/>
                <a:sym typeface="Arimo"/>
              </a:rPr>
              <a:t>↑</a:t>
            </a:r>
          </a:p>
        </p:txBody>
      </p:sp>
      <p:sp>
        <p:nvSpPr>
          <p:cNvPr name="TextBox 19" id="19"/>
          <p:cNvSpPr txBox="true"/>
          <p:nvPr/>
        </p:nvSpPr>
        <p:spPr>
          <a:xfrm rot="0">
            <a:off x="9454153" y="4667545"/>
            <a:ext cx="3544043" cy="481012"/>
          </a:xfrm>
          <a:prstGeom prst="rect">
            <a:avLst/>
          </a:prstGeom>
        </p:spPr>
        <p:txBody>
          <a:bodyPr anchor="t" rtlCol="false" tIns="0" lIns="0" bIns="0" rIns="0">
            <a:spAutoFit/>
          </a:bodyPr>
          <a:lstStyle/>
          <a:p>
            <a:pPr algn="ctr">
              <a:lnSpc>
                <a:spcPts val="3437"/>
              </a:lnSpc>
            </a:pPr>
            <a:r>
              <a:rPr lang="en-US" sz="2750">
                <a:solidFill>
                  <a:srgbClr val="666666"/>
                </a:solidFill>
                <a:latin typeface="Arimo"/>
                <a:ea typeface="Arimo"/>
                <a:cs typeface="Arimo"/>
                <a:sym typeface="Arimo"/>
              </a:rPr>
              <a:t>Flexibility</a:t>
            </a:r>
          </a:p>
        </p:txBody>
      </p:sp>
      <p:sp>
        <p:nvSpPr>
          <p:cNvPr name="TextBox 20" id="20"/>
          <p:cNvSpPr txBox="true"/>
          <p:nvPr/>
        </p:nvSpPr>
        <p:spPr>
          <a:xfrm rot="0">
            <a:off x="9321108" y="5232949"/>
            <a:ext cx="3810152" cy="992981"/>
          </a:xfrm>
          <a:prstGeom prst="rect">
            <a:avLst/>
          </a:prstGeom>
        </p:spPr>
        <p:txBody>
          <a:bodyPr anchor="t" rtlCol="false" tIns="0" lIns="0" bIns="0" rIns="0">
            <a:spAutoFit/>
          </a:bodyPr>
          <a:lstStyle/>
          <a:p>
            <a:pPr algn="ctr">
              <a:lnSpc>
                <a:spcPts val="3562"/>
              </a:lnSpc>
            </a:pPr>
            <a:r>
              <a:rPr lang="en-US" sz="2187">
                <a:solidFill>
                  <a:srgbClr val="666666"/>
                </a:solidFill>
                <a:latin typeface="IBM Plex Sans"/>
                <a:ea typeface="IBM Plex Sans"/>
                <a:cs typeface="IBM Plex Sans"/>
                <a:sym typeface="IBM Plex Sans"/>
              </a:rPr>
              <a:t>Adapts to changing conditions through sampling</a:t>
            </a:r>
          </a:p>
        </p:txBody>
      </p:sp>
      <p:sp>
        <p:nvSpPr>
          <p:cNvPr name="TextBox 21" id="21"/>
          <p:cNvSpPr txBox="true"/>
          <p:nvPr/>
        </p:nvSpPr>
        <p:spPr>
          <a:xfrm rot="0">
            <a:off x="13485609" y="3520678"/>
            <a:ext cx="3810152" cy="830761"/>
          </a:xfrm>
          <a:prstGeom prst="rect">
            <a:avLst/>
          </a:prstGeom>
        </p:spPr>
        <p:txBody>
          <a:bodyPr anchor="t" rtlCol="false" tIns="0" lIns="0" bIns="0" rIns="0">
            <a:spAutoFit/>
          </a:bodyPr>
          <a:lstStyle/>
          <a:p>
            <a:pPr algn="ctr">
              <a:lnSpc>
                <a:spcPts val="7312"/>
              </a:lnSpc>
            </a:pPr>
            <a:r>
              <a:rPr lang="en-US" sz="7312">
                <a:solidFill>
                  <a:srgbClr val="666666"/>
                </a:solidFill>
                <a:latin typeface="Arimo"/>
                <a:ea typeface="Arimo"/>
                <a:cs typeface="Arimo"/>
                <a:sym typeface="Arimo"/>
              </a:rPr>
              <a:t>~</a:t>
            </a:r>
          </a:p>
        </p:txBody>
      </p:sp>
      <p:sp>
        <p:nvSpPr>
          <p:cNvPr name="TextBox 22" id="22"/>
          <p:cNvSpPr txBox="true"/>
          <p:nvPr/>
        </p:nvSpPr>
        <p:spPr>
          <a:xfrm rot="0">
            <a:off x="13618664" y="4667545"/>
            <a:ext cx="3544043" cy="481012"/>
          </a:xfrm>
          <a:prstGeom prst="rect">
            <a:avLst/>
          </a:prstGeom>
        </p:spPr>
        <p:txBody>
          <a:bodyPr anchor="t" rtlCol="false" tIns="0" lIns="0" bIns="0" rIns="0">
            <a:spAutoFit/>
          </a:bodyPr>
          <a:lstStyle/>
          <a:p>
            <a:pPr algn="ctr">
              <a:lnSpc>
                <a:spcPts val="3437"/>
              </a:lnSpc>
            </a:pPr>
            <a:r>
              <a:rPr lang="en-US" sz="2750">
                <a:solidFill>
                  <a:srgbClr val="666666"/>
                </a:solidFill>
                <a:latin typeface="Arimo"/>
                <a:ea typeface="Arimo"/>
                <a:cs typeface="Arimo"/>
                <a:sym typeface="Arimo"/>
              </a:rPr>
              <a:t>Computation</a:t>
            </a:r>
          </a:p>
        </p:txBody>
      </p:sp>
      <p:sp>
        <p:nvSpPr>
          <p:cNvPr name="TextBox 23" id="23"/>
          <p:cNvSpPr txBox="true"/>
          <p:nvPr/>
        </p:nvSpPr>
        <p:spPr>
          <a:xfrm rot="0">
            <a:off x="13485609" y="5232949"/>
            <a:ext cx="3810152" cy="992981"/>
          </a:xfrm>
          <a:prstGeom prst="rect">
            <a:avLst/>
          </a:prstGeom>
        </p:spPr>
        <p:txBody>
          <a:bodyPr anchor="t" rtlCol="false" tIns="0" lIns="0" bIns="0" rIns="0">
            <a:spAutoFit/>
          </a:bodyPr>
          <a:lstStyle/>
          <a:p>
            <a:pPr algn="ctr">
              <a:lnSpc>
                <a:spcPts val="3562"/>
              </a:lnSpc>
            </a:pPr>
            <a:r>
              <a:rPr lang="en-US" sz="2187">
                <a:solidFill>
                  <a:srgbClr val="666666"/>
                </a:solidFill>
                <a:latin typeface="IBM Plex Sans"/>
                <a:ea typeface="IBM Plex Sans"/>
                <a:cs typeface="IBM Plex Sans"/>
                <a:sym typeface="IBM Plex Sans"/>
              </a:rPr>
              <a:t>Trade-off: higher cost vs. accuracy</a:t>
            </a:r>
          </a:p>
        </p:txBody>
      </p:sp>
      <p:sp>
        <p:nvSpPr>
          <p:cNvPr name="TextBox 24" id="24"/>
          <p:cNvSpPr txBox="true"/>
          <p:nvPr/>
        </p:nvSpPr>
        <p:spPr>
          <a:xfrm rot="0">
            <a:off x="992238" y="7066655"/>
            <a:ext cx="4252912" cy="569709"/>
          </a:xfrm>
          <a:prstGeom prst="rect">
            <a:avLst/>
          </a:prstGeom>
        </p:spPr>
        <p:txBody>
          <a:bodyPr anchor="t" rtlCol="false" tIns="0" lIns="0" bIns="0" rIns="0">
            <a:spAutoFit/>
          </a:bodyPr>
          <a:lstStyle/>
          <a:p>
            <a:pPr algn="l">
              <a:lnSpc>
                <a:spcPts val="4125"/>
              </a:lnSpc>
            </a:pPr>
            <a:r>
              <a:rPr lang="en-US" sz="3312">
                <a:solidFill>
                  <a:srgbClr val="3F6FF3"/>
                </a:solidFill>
                <a:latin typeface="Arimo"/>
                <a:ea typeface="Arimo"/>
                <a:cs typeface="Arimo"/>
                <a:sym typeface="Arimo"/>
              </a:rPr>
              <a:t>Conclusion</a:t>
            </a:r>
          </a:p>
        </p:txBody>
      </p:sp>
      <p:sp>
        <p:nvSpPr>
          <p:cNvPr name="TextBox 25" id="25"/>
          <p:cNvSpPr txBox="true"/>
          <p:nvPr/>
        </p:nvSpPr>
        <p:spPr>
          <a:xfrm rot="0">
            <a:off x="992238" y="7975844"/>
            <a:ext cx="16303523" cy="992981"/>
          </a:xfrm>
          <a:prstGeom prst="rect">
            <a:avLst/>
          </a:prstGeom>
        </p:spPr>
        <p:txBody>
          <a:bodyPr anchor="t" rtlCol="false" tIns="0" lIns="0" bIns="0" rIns="0">
            <a:spAutoFit/>
          </a:bodyPr>
          <a:lstStyle/>
          <a:p>
            <a:pPr algn="l">
              <a:lnSpc>
                <a:spcPts val="3562"/>
              </a:lnSpc>
            </a:pPr>
            <a:r>
              <a:rPr lang="en-US" sz="2187">
                <a:solidFill>
                  <a:srgbClr val="666666"/>
                </a:solidFill>
                <a:latin typeface="IBM Plex Sans"/>
                <a:ea typeface="IBM Plex Sans"/>
                <a:cs typeface="IBM Plex Sans"/>
                <a:sym typeface="IBM Plex Sans"/>
              </a:rPr>
              <a:t>Randomized strategies consistently outperform deterministic baseline in uncertain environments. Monte Carlo simulation proves effective for probabilistic route optimization, with improvements in reliability justifying increased computational expense.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DAHFK42Qxr4</dc:identifier>
  <dcterms:modified xsi:type="dcterms:W3CDTF">2011-08-01T06:04:30Z</dcterms:modified>
  <cp:revision>1</cp:revision>
  <dc:title>Uses A* shortest-path algorithms that minimize expected travel time without uncertainty modeling</dc:title>
</cp:coreProperties>
</file>